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svg" ContentType="image/svg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5ba847f23543da" /><Relationship Type="http://schemas.openxmlformats.org/officeDocument/2006/relationships/extended-properties" Target="/docProps/app.xml" Id="R9f9f04140f604ea5" /><Relationship Type="http://schemas.openxmlformats.org/officeDocument/2006/relationships/officeDocument" Target="/ppt/presentation.xml" Id="R191c7a0f3c1a4f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b6b91c2f164b8d"/>
  </p:sldMasterIdLst>
  <p:notesMasterIdLst>
    <p:notesMasterId xmlns:r="http://schemas.openxmlformats.org/officeDocument/2006/relationships" r:id="R5ec2736bbb734e2a"/>
  </p:notesMasterIdLst>
  <p:sldIdLst>
    <p:sldId xmlns:r="http://schemas.openxmlformats.org/officeDocument/2006/relationships" id="256" r:id="Racce66f4d358475c"/>
    <p:sldId xmlns:r="http://schemas.openxmlformats.org/officeDocument/2006/relationships" id="257" r:id="Rac5c277c4f564250"/>
    <p:sldId xmlns:r="http://schemas.openxmlformats.org/officeDocument/2006/relationships" id="258" r:id="Rc508154d58354794"/>
    <p:sldId xmlns:r="http://schemas.openxmlformats.org/officeDocument/2006/relationships" id="259" r:id="Rf940281c37ca4900"/>
    <p:sldId xmlns:r="http://schemas.openxmlformats.org/officeDocument/2006/relationships" id="260" r:id="R97b27c08e9c44b50"/>
    <p:sldId xmlns:r="http://schemas.openxmlformats.org/officeDocument/2006/relationships" id="261" r:id="Rae8982fff6f24fe6"/>
    <p:sldId xmlns:r="http://schemas.openxmlformats.org/officeDocument/2006/relationships" id="262" r:id="R996ff82f0eb74648"/>
    <p:sldId xmlns:r="http://schemas.openxmlformats.org/officeDocument/2006/relationships" id="263" r:id="R80bea33283f04806"/>
    <p:sldId xmlns:r="http://schemas.openxmlformats.org/officeDocument/2006/relationships" id="264" r:id="R073e2de3cce84928"/>
    <p:sldId xmlns:r="http://schemas.openxmlformats.org/officeDocument/2006/relationships" id="265" r:id="Rbcd61aae38af4866"/>
    <p:sldId xmlns:r="http://schemas.openxmlformats.org/officeDocument/2006/relationships" id="266" r:id="R9b23191d374e43ee"/>
    <p:sldId xmlns:r="http://schemas.openxmlformats.org/officeDocument/2006/relationships" id="267" r:id="Rc043497a4fd845dd"/>
    <p:sldId xmlns:r="http://schemas.openxmlformats.org/officeDocument/2006/relationships" id="268" r:id="R86c796ded7fa47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ba1a9c8dd4ecb" /><Relationship Type="http://schemas.openxmlformats.org/officeDocument/2006/relationships/slideMaster" Target="/ppt/slideMasters/slideMaster1.xml" Id="R19b6b91c2f164b8d" /><Relationship Type="http://schemas.openxmlformats.org/officeDocument/2006/relationships/notesMaster" Target="/ppt/notesMasters/notesMaster1.xml" Id="R5ec2736bbb734e2a" /><Relationship Type="http://schemas.openxmlformats.org/officeDocument/2006/relationships/presProps" Target="/ppt/presProps.xml" Id="Rdf7b5066c6a94de2" /><Relationship Type="http://schemas.openxmlformats.org/officeDocument/2006/relationships/tableStyles" Target="/ppt/tableStyles.xml" Id="R40073935278a4876" /><Relationship Type="http://schemas.openxmlformats.org/officeDocument/2006/relationships/slide" Target="/ppt/slides/slide1.xml" Id="Racce66f4d358475c" /><Relationship Type="http://schemas.openxmlformats.org/officeDocument/2006/relationships/slide" Target="/ppt/slides/slide2.xml" Id="Rac5c277c4f564250" /><Relationship Type="http://schemas.openxmlformats.org/officeDocument/2006/relationships/slide" Target="/ppt/slides/slide3.xml" Id="Rc508154d58354794" /><Relationship Type="http://schemas.openxmlformats.org/officeDocument/2006/relationships/slide" Target="/ppt/slides/slide4.xml" Id="Rf940281c37ca4900" /><Relationship Type="http://schemas.openxmlformats.org/officeDocument/2006/relationships/slide" Target="/ppt/slides/slide5.xml" Id="R97b27c08e9c44b50" /><Relationship Type="http://schemas.openxmlformats.org/officeDocument/2006/relationships/slide" Target="/ppt/slides/slide6.xml" Id="Rae8982fff6f24fe6" /><Relationship Type="http://schemas.openxmlformats.org/officeDocument/2006/relationships/slide" Target="/ppt/slides/slide7.xml" Id="R996ff82f0eb74648" /><Relationship Type="http://schemas.openxmlformats.org/officeDocument/2006/relationships/slide" Target="/ppt/slides/slide8.xml" Id="R80bea33283f04806" /><Relationship Type="http://schemas.openxmlformats.org/officeDocument/2006/relationships/slide" Target="/ppt/slides/slide9.xml" Id="R073e2de3cce84928" /><Relationship Type="http://schemas.openxmlformats.org/officeDocument/2006/relationships/slide" Target="/ppt/slides/slide10.xml" Id="Rbcd61aae38af4866" /><Relationship Type="http://schemas.openxmlformats.org/officeDocument/2006/relationships/slide" Target="/ppt/slides/slide11.xml" Id="R9b23191d374e43ee" /><Relationship Type="http://schemas.openxmlformats.org/officeDocument/2006/relationships/slide" Target="/ppt/slides/slide12.xml" Id="Rc043497a4fd845dd" /><Relationship Type="http://schemas.openxmlformats.org/officeDocument/2006/relationships/slide" Target="/ppt/slides/slide13.xml" Id="R86c796ded7fa47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30814b096d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8fc67b28484d59" /><Relationship Type="http://schemas.openxmlformats.org/officeDocument/2006/relationships/notesMaster" Target="/ppt/notesMasters/notesMaster1.xml" Id="R8331c67155fe4f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44d3bb24c945de" /><Relationship Type="http://schemas.openxmlformats.org/officeDocument/2006/relationships/notesMaster" Target="/ppt/notesMasters/notesMaster1.xml" Id="Rad37863d6c6648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3480d710324c0a" /><Relationship Type="http://schemas.openxmlformats.org/officeDocument/2006/relationships/notesMaster" Target="/ppt/notesMasters/notesMaster1.xml" Id="Rb7fab5d040a749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3e015aad874d4f" /><Relationship Type="http://schemas.openxmlformats.org/officeDocument/2006/relationships/notesMaster" Target="/ppt/notesMasters/notesMaster1.xml" Id="R1d77fc2151544e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5b02b5212346a0" /><Relationship Type="http://schemas.openxmlformats.org/officeDocument/2006/relationships/notesMaster" Target="/ppt/notesMasters/notesMaster1.xml" Id="R556865a1db9942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9c95e5476e4386" /><Relationship Type="http://schemas.openxmlformats.org/officeDocument/2006/relationships/notesMaster" Target="/ppt/notesMasters/notesMaster1.xml" Id="R5eed0e9ce3ae4d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128671f4e14c81" /><Relationship Type="http://schemas.openxmlformats.org/officeDocument/2006/relationships/notesMaster" Target="/ppt/notesMasters/notesMaster1.xml" Id="Rc5a156313da24e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4dfbebeb32497f" /><Relationship Type="http://schemas.openxmlformats.org/officeDocument/2006/relationships/notesMaster" Target="/ppt/notesMasters/notesMaster1.xml" Id="Ra09179e57e554b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b16390850242e9" /><Relationship Type="http://schemas.openxmlformats.org/officeDocument/2006/relationships/notesMaster" Target="/ppt/notesMasters/notesMaster1.xml" Id="R10a3fa9b6c044e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c2151fda574433" /><Relationship Type="http://schemas.openxmlformats.org/officeDocument/2006/relationships/notesMaster" Target="/ppt/notesMasters/notesMaster1.xml" Id="R984b6a6b4e5544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a410d8964c4582" /><Relationship Type="http://schemas.openxmlformats.org/officeDocument/2006/relationships/notesMaster" Target="/ppt/notesMasters/notesMaster1.xml" Id="Rc8870aaaa88141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da0e5790f64260" /><Relationship Type="http://schemas.openxmlformats.org/officeDocument/2006/relationships/notesMaster" Target="/ppt/notesMasters/notesMaster1.xml" Id="Rb9e52b48fbc849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7f738845b54369" /><Relationship Type="http://schemas.openxmlformats.org/officeDocument/2006/relationships/notesMaster" Target="/ppt/notesMasters/notesMaster1.xml" Id="R60bb0b742be14b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核心主張：不只是回答家長的問題，而是主動發現下一件值得處理的事。這是一份產品方向及分階段設計簡報，實現現況集中於『當前進度』頁。沒有成效、用戶數量或市場領先聲稱。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SPEC.md#section-1-1</a:t>
            </a:r>
          </a:p>
          <a:p xmlns:a="http://schemas.openxmlformats.org/drawingml/2006/main">
            <a:r>
              <a:t>SPEC.md#section-1-2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待驗證的使用者問題：忙碌時不方便逐項填寫、不知道甚麼值得記或問、聊天和照片分散、多位照顧者交接遺漏、AI 失去歷史。這些是需求描述，不是已完成用戶研究或量化成效。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SPEC.md#section-1-1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產品以四個年齡段組織資料及入口。四段的短句只是日常情境例子，不是醫療里程碑或適用所有孩子的發展標準。不可直接把嬰兒規則套用至其他年齡。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SPEC.md#section-1-2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由事件或到期工作觸發，不持續空轉呼叫模型。理解情境、發現缺項、必要時補問，先确认資料和預先授權範圍。授權內可自動執行，每次仍核對當前權限、任務終態及既有投遞。超出範圍才要求新確認；撤權、取消、完成後停止後續動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docs/ARCHITECTURE.md#section-3-5</a:t>
            </a:r>
          </a:p>
          <a:p xmlns:a="http://schemas.openxmlformats.org/drawingml/2006/main">
            <a:r>
              <a:t>docs/ARCHITECTURE.md#section-5-5</a:t>
            </a:r>
          </a:p>
          <a:p xmlns:a="http://schemas.openxmlformats.org/drawingml/2006/main">
            <a:r>
              <a:t>SPEC.md#section-1-6</a:t>
            </a:r>
          </a:p>
          <a:p xmlns:a="http://schemas.openxmlformats.org/drawingml/2006/main">
            <a:r>
              <a:t>階段：P2；已確認設計／規劃，不代表已實現。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展示未來完整旅程，並以階段標籤區分：P1 登入、孩子、文字記錄、Server 保存及原始聊天；P2 歷史記憶、主動發現及授權協作；P3 完整跨端家庭交接；P4 一頁摘要、趨勢及 PDF。沒有真產品截圖或真實家庭資料。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PLAN.md#phases</a:t>
            </a:r>
          </a:p>
          <a:p xmlns:a="http://schemas.openxmlformats.org/drawingml/2006/main">
            <a:r>
              <a:t>SPEC.md#staged-delivery</a:t>
            </a:r>
          </a:p>
          <a:p xmlns:a="http://schemas.openxmlformats.org/drawingml/2006/main">
            <a:r>
              <a:t>階段：P1–P4；已確認設計／規劃，不代表已實現。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不讓模型繞過 Server 的工具校驗和權限檢查。保存、計數、重複檢查、排程及任務狀態由程式處理。外部內容是不可信输入，不能直接變成家庭事實或執行授權。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docs/ARCHITECTURE.md#section-3-1</a:t>
            </a:r>
          </a:p>
          <a:p xmlns:a="http://schemas.openxmlformats.org/drawingml/2006/main">
            <a:r>
              <a:t>docs/ARCHITECTURE.md#section-3-5</a:t>
            </a:r>
          </a:p>
          <a:p xmlns:a="http://schemas.openxmlformats.org/drawingml/2006/main">
            <a:r>
              <a:t>階段：P2；已確認設計／規劃，不代表已實現。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這是已確認架構設計，非運行系統畫面。Web／Android 為在線客戶端，Server 是唯一業務資料權威，PostgreSQL 保存資料。Better Auth、Gemini 接入、Server worker、Knowledge 及通知 adapter 位於 Server 側。沒有手機 SQLite／瀏覽器 IndexedDB 業務主庫、離線 outbox 或 Client Agent。P4 的 Server 搬遷保持單主。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docs/ARCHITECTURE.md#section-3-1</a:t>
            </a:r>
          </a:p>
          <a:p xmlns:a="http://schemas.openxmlformats.org/drawingml/2006/main">
            <a:r>
              <a:t>docs/DECISIONS.md#adr-008</a:t>
            </a:r>
          </a:p>
          <a:p xmlns:a="http://schemas.openxmlformats.org/drawingml/2006/main">
            <a:r>
              <a:t>PLAN.md#phases</a:t>
            </a:r>
          </a:p>
          <a:p xmlns:a="http://schemas.openxmlformats.org/drawingml/2006/main">
            <a:r>
              <a:t>階段：P1–P4；已確認設計／規劃，不代表已實現。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資料確認與持久保存確認不同。AI 草稿須經校驗及必要確認，再由 Server 確認寫入。一般育兒指引與近期資訊分開，引用應支持說法。外部資料不等於政府個人病歷接口，亦不代表政府認可。網絡或 AI 失敗時保留當前輸入，結果未知先查核原操作，不盲目重發。可追溯流程另見 assets/diagrams/traceability.svg。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SPEC.md#section-1-5</a:t>
            </a:r>
          </a:p>
          <a:p xmlns:a="http://schemas.openxmlformats.org/drawingml/2006/main">
            <a:r>
              <a:t>SPEC.md#section-4-7</a:t>
            </a:r>
          </a:p>
          <a:p xmlns:a="http://schemas.openxmlformats.org/drawingml/2006/main">
            <a:r>
              <a:t>SPEC.md#knowledge-freshness</a:t>
            </a:r>
          </a:p>
          <a:p xmlns:a="http://schemas.openxmlformats.org/drawingml/2006/main">
            <a:r>
              <a:t>SPEC.md#ac-server-agent</a:t>
            </a:r>
          </a:p>
          <a:p xmlns:a="http://schemas.openxmlformats.org/drawingml/2006/main">
            <a:r>
              <a:t>階段：P1–P4；已確認設計／規劃，不代表已實現。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 的門檻包括登入隔離、Server 保存、文字記錄與聊天、真 Gemini、加密及最小備份還原、組員可獨立試玩的 URL。P2 是比賽主要目標：家庭權限、長期記憶、照片、官方知識與近期資訊、主動任務、Web Push、Telegram 及授權 fallback。P3 交付 Android／FCM／語音相機及完整交接。P4 包含自選相容 Server、Windows Docker Compose、配對、完整 Knowledge、分享／趨勢／PDF、搬遷、災備及 rollback。P5 不承接任何未完成必要能力。沒有承諾六週完成。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PLAN.md#phases</a:t>
            </a:r>
          </a:p>
          <a:p xmlns:a="http://schemas.openxmlformats.org/drawingml/2006/main">
            <a:r>
              <a:t>SPEC.md#staged-delivery</a:t>
            </a:r>
          </a:p>
          <a:p xmlns:a="http://schemas.openxmlformats.org/drawingml/2006/main">
            <a:r>
              <a:t>階段：P1–P5；已確認設計／規劃，不代表已實現。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本頁所有進度陳述來自 project-status.json。只反映已合併基線，不自動納入其他 worktree 或尚未合併分支。已確認設計、已實現、已驗證及已完成必須分開。視覺資產完成不代表 P1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STATUS.md</a:t>
            </a:r>
          </a:p>
          <a:p xmlns:a="http://schemas.openxmlformats.org/drawingml/2006/main">
            <a:r>
              <a:t>PLAN.md#verification</a:t>
            </a:r>
          </a:p>
          <a:p xmlns:a="http://schemas.openxmlformats.org/drawingml/2006/main">
            <a:r>
              <a:t>artifacts/verification/S03_W01_CHECKS.json</a:t>
            </a:r>
          </a:p>
          <a:p xmlns:a="http://schemas.openxmlformats.org/drawingml/2006/main">
            <a:r>
              <a:t>驗證陳述引用已合併 S06-W03／S03-W01 證據，本素材整合沒有重跑產品測試。</a:t>
            </a:r>
          </a:p>
          <a:p xmlns:a="http://schemas.openxmlformats.org/drawingml/2006/main">
            <a:r>
              <a:t>查核基線：39eb5aabe80f09e8c0d44bf58649fa221ad71fc0</a:t>
            </a:r>
          </a:p>
          <a:p xmlns:a="http://schemas.openxmlformats.org/drawingml/2006/main">
            <a:r>
              <a:t>artifacts/verification/S06_W03_CHECKS.json</a:t>
            </a:r>
          </a:p>
          <a:p xmlns:a="http://schemas.openxmlformats.org/drawingml/2006/main">
            <a:r>
              <a:t>artifacts/verification/S03_W01_CHECKS.json</a:t>
            </a:r>
          </a:p>
          <a:p xmlns:a="http://schemas.openxmlformats.org/drawingml/2006/main">
            <a:r>
              <a:t>Git merge PR #10 / #12 / #13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所有空白槽均是明示的 screenshot 預留，不是假冒產品介面。替換截圖須記錄來源基線和真實流程狀態，只使用合成資料。即使有 screenshot，也不能單憑畫面宣稱持久保存或 Agent 實際運行。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PLAN.md#phases</a:t>
            </a:r>
          </a:p>
          <a:p xmlns:a="http://schemas.openxmlformats.org/drawingml/2006/main">
            <a:r>
              <a:t>SPEC.md#section-10-1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這裏說明已確認的設計邊界及未來演進方向，不宣稱共享能力已全部實現。記憶、任务、工具、來源與通知按需要建立，Web／Android 共用業務規則，平台 adapter 保持薄身。未來可調整育兒知識、prompt及規則，但當前只做育伴港，沒有第二主題或動態插件平台。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docs/ARCHITECTURE.md#section-3-1</a:t>
            </a:r>
          </a:p>
          <a:p xmlns:a="http://schemas.openxmlformats.org/drawingml/2006/main">
            <a:r>
              <a:t>PLAN.md#phases</a:t>
            </a:r>
          </a:p>
          <a:p xmlns:a="http://schemas.openxmlformats.org/drawingml/2006/main">
            <a:r>
              <a:t>階段：P2–P4；已確認設計／規劃，不代表已實現。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結語重申產品願景，不宣稱 AI 自動照顧孩子或保證健康。所有能力依五階段驗收落地，實現現況以獨立 status snapshot 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SPEC.md#section-1-1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1ac26a552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ce6799ef034b5e" /><Relationship Type="http://schemas.openxmlformats.org/officeDocument/2006/relationships/slideLayout" Target="/ppt/slideLayouts/slideLayout1.xml" Id="R63d285fa03dd4d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d285fa03dd4d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a5efbf514234909" /><rel:Relationship Type="http://schemas.openxmlformats.org/officeDocument/2006/relationships/image" Target="/ppt/media/image.png" Id="Re0a391dadd364890" /><rel:Relationship Type="http://schemas.openxmlformats.org/officeDocument/2006/relationships/notesSlide" Target="/ppt/notesSlides/notesSlide1.xml" Id="Ra2d1c490088f4680" /><rel:Relationship Id="rIdVector1" Type="http://schemas.openxmlformats.org/officeDocument/2006/relationships/image" Target="../media/visual-56966f3cdeb3f0446d4b.svg" /></rel:Relationships>
</file>

<file path=ppt/slides/_rels/slide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ec8e546585fc45c6" /><rel:Relationship Type="http://schemas.openxmlformats.org/officeDocument/2006/relationships/image" Target="/ppt/media/image2.png" Id="Rd8338bf1503a48d9" /><rel:Relationship Type="http://schemas.openxmlformats.org/officeDocument/2006/relationships/notesSlide" Target="/ppt/notesSlides/notesSlide2.xml" Id="R0287975a8d1847be" /><rel:Relationship Id="rIdVector1" Type="http://schemas.openxmlformats.org/officeDocument/2006/relationships/image" Target="../media/visual-7d9b4ae73a5a554003eb.svg" /></rel:Relationships>
</file>

<file path=ppt/slides/_rels/slide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e408954fd47b4887" /><rel:Relationship Type="http://schemas.openxmlformats.org/officeDocument/2006/relationships/image" Target="/ppt/media/image3.png" Id="R0b7dc96b011540ac" /><rel:Relationship Type="http://schemas.openxmlformats.org/officeDocument/2006/relationships/notesSlide" Target="/ppt/notesSlides/notesSlide3.xml" Id="R4be507203a254100" /><rel:Relationship Id="rIdVector1" Type="http://schemas.openxmlformats.org/officeDocument/2006/relationships/image" Target="../media/visual-49e6c2e21a77df0690c4.svg" /></rel:Relationships>
</file>

<file path=ppt/slides/_rels/slide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46ba0636b25d4dea" /><rel:Relationship Type="http://schemas.openxmlformats.org/officeDocument/2006/relationships/image" Target="/ppt/media/image4.png" Id="R241df50651b8471a" /><rel:Relationship Type="http://schemas.openxmlformats.org/officeDocument/2006/relationships/notesSlide" Target="/ppt/notesSlides/notesSlide4.xml" Id="Rb0404ec5554449bf" /><rel:Relationship Id="rIdVector1" Type="http://schemas.openxmlformats.org/officeDocument/2006/relationships/image" Target="../media/visual-1923d3b1d757a9de413a.svg" /></rel:Relationships>
</file>

<file path=ppt/slides/_rels/slide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7f6e1c013554a5c" /><rel:Relationship Type="http://schemas.openxmlformats.org/officeDocument/2006/relationships/image" Target="/ppt/media/image5.png" Id="Reea92db763c140d5" /><rel:Relationship Type="http://schemas.openxmlformats.org/officeDocument/2006/relationships/notesSlide" Target="/ppt/notesSlides/notesSlide5.xml" Id="Ra8f1ed61739d461e" /><rel:Relationship Id="rIdVector1" Type="http://schemas.openxmlformats.org/officeDocument/2006/relationships/image" Target="../media/visual-135f0c8dbbe4c5e2eba3.svg" /></rel:Relationships>
</file>

<file path=ppt/slides/_rels/slide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b9cdd2455460485c" /><rel:Relationship Type="http://schemas.openxmlformats.org/officeDocument/2006/relationships/image" Target="/ppt/media/image6.png" Id="Rdab21e54e5584a22" /><rel:Relationship Type="http://schemas.openxmlformats.org/officeDocument/2006/relationships/notesSlide" Target="/ppt/notesSlides/notesSlide6.xml" Id="R1007fd58547246ef" /><rel:Relationship Id="rIdVector1" Type="http://schemas.openxmlformats.org/officeDocument/2006/relationships/image" Target="../media/visual-0e28f31a6a512d4ffaee.svg" /></rel:Relationships>
</file>

<file path=ppt/slides/_rels/slide7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0a74b1d01ef4c27" /><rel:Relationship Type="http://schemas.openxmlformats.org/officeDocument/2006/relationships/image" Target="/ppt/media/image7.png" Id="R4376a0d31ffd44b9" /><rel:Relationship Type="http://schemas.openxmlformats.org/officeDocument/2006/relationships/notesSlide" Target="/ppt/notesSlides/notesSlide7.xml" Id="Rdbb860e8c4a44b1a" /><rel:Relationship Id="rIdVector1" Type="http://schemas.openxmlformats.org/officeDocument/2006/relationships/image" Target="../media/visual-83c4862530f7dbe5ff46.svg" /></rel:Relationships>
</file>

<file path=ppt/slides/_rels/slide8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71d94f93e7f24365" /><rel:Relationship Type="http://schemas.openxmlformats.org/officeDocument/2006/relationships/image" Target="/ppt/media/image8.png" Id="R353fac31e5b04094" /><rel:Relationship Type="http://schemas.openxmlformats.org/officeDocument/2006/relationships/notesSlide" Target="/ppt/notesSlides/notesSlide8.xml" Id="Rc232fa3afeeb4271" /><rel:Relationship Id="rIdVector1" Type="http://schemas.openxmlformats.org/officeDocument/2006/relationships/image" Target="../media/visual-9896a5c23b75626bb9ea.svg" /></rel:Relationships>
</file>

<file path=ppt/slides/_rels/slide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5c30ce87c984c3f" /><rel:Relationship Type="http://schemas.openxmlformats.org/officeDocument/2006/relationships/image" Target="/ppt/media/image9.png" Id="R55da409310ed4520" /><rel:Relationship Type="http://schemas.openxmlformats.org/officeDocument/2006/relationships/notesSlide" Target="/ppt/notesSlides/notesSlide9.xml" Id="R5f8926f421a64c4c" /><rel:Relationship Id="rIdVector1" Type="http://schemas.openxmlformats.org/officeDocument/2006/relationships/image" Target="../media/visual-f7055caa7292ec5394ee.svg" /></rel: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d796895454ef3" /><Relationship Type="http://schemas.openxmlformats.org/officeDocument/2006/relationships/notesSlide" Target="/ppt/notesSlides/notesSlide10.xml" Id="Rc49ed5e24beb42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bee85e1304976" /><Relationship Type="http://schemas.openxmlformats.org/officeDocument/2006/relationships/notesSlide" Target="/ppt/notesSlides/notesSlide11.xml" Id="R4db3ab9d25c249ed" /></Relationships>
</file>

<file path=ppt/slides/_rels/slide1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eb85b606c93847e9" /><rel:Relationship Type="http://schemas.openxmlformats.org/officeDocument/2006/relationships/image" Target="/ppt/media/image10.png" Id="Raf8d05f973fa4d81" /><rel:Relationship Type="http://schemas.openxmlformats.org/officeDocument/2006/relationships/notesSlide" Target="/ppt/notesSlides/notesSlide12.xml" Id="R82e818f9c32b42e7" /><rel:Relationship Id="rIdVector1" Type="http://schemas.openxmlformats.org/officeDocument/2006/relationships/image" Target="../media/visual-c0324e502b0d1757db61.svg" /></rel:Relationships>
</file>

<file path=ppt/slides/_rels/slide1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a67567ba18f14542" /><rel:Relationship Type="http://schemas.openxmlformats.org/officeDocument/2006/relationships/image" Target="/ppt/media/image11.png" Id="Rdae6cf7b4ebf466d" /><rel:Relationship Type="http://schemas.openxmlformats.org/officeDocument/2006/relationships/image" Target="/ppt/media/image12.png" Id="R53986193d2ce4dbb" /><rel:Relationship Type="http://schemas.openxmlformats.org/officeDocument/2006/relationships/notesSlide" Target="/ppt/notesSlides/notesSlide13.xml" Id="R87d002d862f84ad2" /><rel:Relationship Id="rIdVector1" Type="http://schemas.openxmlformats.org/officeDocument/2006/relationships/image" Target="../media/visual-441d16f8f2ace93082e0.svg" /><rel:Relationship Id="rIdVector2" Type="http://schemas.openxmlformats.org/officeDocument/2006/relationships/image" Target="../media/visual-56966f3cdeb3f0446d4b.svg" /></rel:Relationships>
</file>

<file path=ppt/slides/slide1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cover-text-0">
            <a:extLst>
              <a:ext uri="{FF2B5EF4-FFF2-40B4-BE49-F238E27FC236}">
                <ns2:creationId id="{50B04642-9459-42CD-9E6A-02CE1170664F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主動式 AI 照護協作助手</a:t>
            </a:r>
          </a:p>
        </p:txBody>
      </p:sp>
      <p:sp>
        <p:nvSpPr>
          <p:cNvPr id="2" name="cover-text-1">
            <a:extLst>
              <a:ext uri="{FF2B5EF4-FFF2-40B4-BE49-F238E27FC236}">
                <ns2:creationId id="{01B95A3A-6EE4-4937-9794-F5926192642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育伴港</a:t>
            </a:r>
          </a:p>
        </p:txBody>
      </p:sp>
      <p:sp>
        <p:nvSpPr>
          <p:cNvPr id="3" name="cover-text-2">
            <a:extLst>
              <a:ext uri="{FF2B5EF4-FFF2-40B4-BE49-F238E27FC236}">
                <ns2:creationId id="{392387DF-8B89-4598-900B-49965377AD8E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561975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陪家長發現</a:t>
            </a:r>
          </a:p>
          <a:p>
            <a:pPr algn="l">
              <a:lnSpc>
                <a:spcPct val="118000"/>
              </a:lnSpc>
              <a:buNone/>
              <a:def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下一件值得處理的事</a:t>
            </a:r>
          </a:p>
        </p:txBody>
      </p:sp>
      <p:sp>
        <p:nvSpPr>
          <p:cNvPr id="4" name="cover-text-3">
            <a:extLst>
              <a:ext uri="{FF2B5EF4-FFF2-40B4-BE49-F238E27FC236}">
                <ns2:creationId id="{6D663E9F-FB30-4474-91D4-337DF31BA0F5}"/>
              </a:ext>
            </a:extLst>
          </p:cNvPr>
          <p:cNvSpPr>
            <a:spLocks noGrp="1"/>
          </p:cNvSpPr>
          <p:nvPr/>
        </p:nvSpPr>
        <p:spPr>
          <a:xfrm>
            <a:off x="704850" y="5391150"/>
            <a:ext cx="5715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香港家庭成年照顧者 · 0–10 歲</a:t>
            </a:r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e0a391dadd364890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6000750" y="1604962"/>
            <a:ext cx="5905500" cy="3543300"/>
          </a:xfrm>
          <a:prstGeom prst="rect">
            <a:avLst/>
          </a:prstGeom>
        </p:spPr>
      </p:pic>
    </p:spTree>
    <p:extLst>
      <p:ext uri="{BB962C8B-B14F-4D97-AF65-F5344CB8AC3E}">
        <ns5:creationId val="195283415"/>
      </p:ext>
    </p:extLst>
  </p:cSld>
</p:sld>
</file>

<file path=ppt/slides/slide2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problem-text-4">
            <a:extLst>
              <a:ext uri="{FF2B5EF4-FFF2-40B4-BE49-F238E27FC236}">
                <ns2:creationId id="{D6498CA0-2EFB-4F22-94F5-1DBE5EE174F5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家長未必知道甚麼值得問</a:t>
            </a:r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d8338bf1503a48d9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1778000" y="1304925"/>
            <a:ext cx="8636000" cy="5181600"/>
          </a:xfrm>
          <a:prstGeom prst="rect">
            <a:avLst/>
          </a:prstGeom>
        </p:spPr>
      </p:pic>
    </p:spTree>
    <p:extLst>
      <p:ext uri="{BB962C8B-B14F-4D97-AF65-F5344CB8AC3E}">
        <ns5:creationId val="337848877"/>
      </p:ext>
    </p:extLst>
  </p:cSld>
</p:sld>
</file>

<file path=ppt/slides/slide3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audience-text-5">
            <a:extLst>
              <a:ext uri="{FF2B5EF4-FFF2-40B4-BE49-F238E27FC236}">
                <ns2:creationId id="{C5BEBE18-0B22-4EC2-A4EB-DD87F3B5DBD3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陪伴 0–10 歲的不同成長階段</a:t>
            </a:r>
          </a:p>
        </p:txBody>
      </p:sp>
      <p:sp>
        <p:nvSpPr>
          <p:cNvPr id="2" name="">
            <a:extLst>
              <a:ext uri="{FF2B5EF4-FFF2-40B4-BE49-F238E27FC236}">
                <ns2:creationId id="{6A1D1ABB-DB31-4579-856C-E87D840BE358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343150" cy="38100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3" name="audience-text-6">
            <a:extLst>
              <a:ext uri="{FF2B5EF4-FFF2-40B4-BE49-F238E27FC236}">
                <ns2:creationId id="{983FB5B0-4AA8-44C1-9977-6046846AC490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714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0–1</a:t>
            </a:r>
          </a:p>
        </p:txBody>
      </p:sp>
      <p:sp>
        <p:nvSpPr>
          <p:cNvPr id="4" name="audience-text-7">
            <a:extLst>
              <a:ext uri="{FF2B5EF4-FFF2-40B4-BE49-F238E27FC236}">
                <ns2:creationId id="{DE567A44-420F-4EC1-9424-807E98BD470B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533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歲</a:t>
            </a:r>
          </a:p>
        </p:txBody>
      </p:sp>
      <p:sp>
        <p:nvSpPr>
          <p:cNvPr id="5" name="audience-text-8">
            <a:extLst>
              <a:ext uri="{FF2B5EF4-FFF2-40B4-BE49-F238E27FC236}">
                <ns2:creationId id="{70068866-BC9C-46C6-8A95-BE6DD24370EE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日常照顧記錄</a:t>
            </a:r>
          </a:p>
        </p:txBody>
      </p:sp>
      <p:sp>
        <p:nvSpPr>
          <p:cNvPr id="6" name="">
            <a:extLst>
              <a:ext uri="{FF2B5EF4-FFF2-40B4-BE49-F238E27FC236}">
                <ns2:creationId id="{44365B38-C383-4E0C-B973-26C56046A8C7}"/>
              </a:ext>
            </a:extLst>
          </p:cNvPr>
          <p:cNvSpPr>
            <a:spLocks noGrp="1"/>
          </p:cNvSpPr>
          <p:nvPr/>
        </p:nvSpPr>
        <p:spPr>
          <a:xfrm>
            <a:off x="3505200" y="1952625"/>
            <a:ext cx="2343150" cy="38100"/>
          </a:xfrm>
          <a:prstGeom prst="rect">
            <a:avLst/>
          </a:prstGeom>
          <a:solidFill>
            <a:srgbClr val="D99A3D"/>
          </a:solidFill>
          <a:ln w="0">
            <a:noFill/>
          </a:ln>
        </p:spPr>
      </p:sp>
      <p:sp>
        <p:nvSpPr>
          <p:cNvPr id="7" name="audience-text-9">
            <a:extLst>
              <a:ext uri="{FF2B5EF4-FFF2-40B4-BE49-F238E27FC236}">
                <ns2:creationId id="{BCD53323-0C8F-4917-A083-BC3E7BD4CBEA}"/>
              </a:ext>
            </a:extLst>
          </p:cNvPr>
          <p:cNvSpPr>
            <a:spLocks noGrp="1"/>
          </p:cNvSpPr>
          <p:nvPr/>
        </p:nvSpPr>
        <p:spPr>
          <a:xfrm>
            <a:off x="3505200" y="2247900"/>
            <a:ext cx="1714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1–3</a:t>
            </a:r>
          </a:p>
        </p:txBody>
      </p:sp>
      <p:sp>
        <p:nvSpPr>
          <p:cNvPr id="8" name="audience-text-10">
            <a:extLst>
              <a:ext uri="{FF2B5EF4-FFF2-40B4-BE49-F238E27FC236}">
                <ns2:creationId id="{004EA8FE-A8EB-4418-9F80-7621BBCA2BB6}"/>
              </a:ext>
            </a:extLst>
          </p:cNvPr>
          <p:cNvSpPr>
            <a:spLocks noGrp="1"/>
          </p:cNvSpPr>
          <p:nvPr/>
        </p:nvSpPr>
        <p:spPr>
          <a:xfrm>
            <a:off x="5257800" y="2457450"/>
            <a:ext cx="533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歲</a:t>
            </a:r>
          </a:p>
        </p:txBody>
      </p:sp>
      <p:sp>
        <p:nvSpPr>
          <p:cNvPr id="9" name="audience-text-11">
            <a:extLst>
              <a:ext uri="{FF2B5EF4-FFF2-40B4-BE49-F238E27FC236}">
                <ns2:creationId id="{0AD911DB-E7F2-4B07-A595-49B55444D3B3}"/>
              </a:ext>
            </a:extLst>
          </p:cNvPr>
          <p:cNvSpPr>
            <a:spLocks noGrp="1"/>
          </p:cNvSpPr>
          <p:nvPr/>
        </p:nvSpPr>
        <p:spPr>
          <a:xfrm>
            <a:off x="3505200" y="3105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生活節奏與探索</a:t>
            </a:r>
          </a:p>
        </p:txBody>
      </p:sp>
      <p:sp>
        <p:nvSpPr>
          <p:cNvPr id="10" name="">
            <a:extLst>
              <a:ext uri="{FF2B5EF4-FFF2-40B4-BE49-F238E27FC236}">
                <ns2:creationId id="{071A42AD-32C8-40A6-9138-6A45ED6764E7}"/>
              </a:ext>
            </a:extLst>
          </p:cNvPr>
          <p:cNvSpPr>
            <a:spLocks noGrp="1"/>
          </p:cNvSpPr>
          <p:nvPr/>
        </p:nvSpPr>
        <p:spPr>
          <a:xfrm>
            <a:off x="6324600" y="1952625"/>
            <a:ext cx="2343150" cy="38100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11" name="audience-text-12">
            <a:extLst>
              <a:ext uri="{FF2B5EF4-FFF2-40B4-BE49-F238E27FC236}">
                <ns2:creationId id="{C2117A6A-6C34-47D5-AD02-A92107FF2074}"/>
              </a:ext>
            </a:extLst>
          </p:cNvPr>
          <p:cNvSpPr>
            <a:spLocks noGrp="1"/>
          </p:cNvSpPr>
          <p:nvPr/>
        </p:nvSpPr>
        <p:spPr>
          <a:xfrm>
            <a:off x="6324600" y="2247900"/>
            <a:ext cx="1714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3–6</a:t>
            </a:r>
          </a:p>
        </p:txBody>
      </p:sp>
      <p:sp>
        <p:nvSpPr>
          <p:cNvPr id="12" name="audience-text-13">
            <a:extLst>
              <a:ext uri="{FF2B5EF4-FFF2-40B4-BE49-F238E27FC236}">
                <ns2:creationId id="{BEBB06DA-6914-44DD-85A2-8B261268245B}"/>
              </a:ext>
            </a:extLst>
          </p:cNvPr>
          <p:cNvSpPr>
            <a:spLocks noGrp="1"/>
          </p:cNvSpPr>
          <p:nvPr/>
        </p:nvSpPr>
        <p:spPr>
          <a:xfrm>
            <a:off x="8077200" y="2457450"/>
            <a:ext cx="533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歲</a:t>
            </a:r>
          </a:p>
        </p:txBody>
      </p:sp>
      <p:sp>
        <p:nvSpPr>
          <p:cNvPr id="13" name="audience-text-14">
            <a:extLst>
              <a:ext uri="{FF2B5EF4-FFF2-40B4-BE49-F238E27FC236}">
                <ns2:creationId id="{C369B393-5F78-4592-907E-7468924871D3}"/>
              </a:ext>
            </a:extLst>
          </p:cNvPr>
          <p:cNvSpPr>
            <a:spLocks noGrp="1"/>
          </p:cNvSpPr>
          <p:nvPr/>
        </p:nvSpPr>
        <p:spPr>
          <a:xfrm>
            <a:off x="6324600" y="3105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成長與家庭協作</a:t>
            </a:r>
          </a:p>
        </p:txBody>
      </p:sp>
      <p:sp>
        <p:nvSpPr>
          <p:cNvPr id="14" name="">
            <a:extLst>
              <a:ext uri="{FF2B5EF4-FFF2-40B4-BE49-F238E27FC236}">
                <ns2:creationId id="{BC78A0E8-B698-4D59-8B01-E09D33021781}"/>
              </a:ext>
            </a:extLst>
          </p:cNvPr>
          <p:cNvSpPr>
            <a:spLocks noGrp="1"/>
          </p:cNvSpPr>
          <p:nvPr/>
        </p:nvSpPr>
        <p:spPr>
          <a:xfrm>
            <a:off x="9144000" y="1952625"/>
            <a:ext cx="2343150" cy="38100"/>
          </a:xfrm>
          <a:prstGeom prst="rect">
            <a:avLst/>
          </a:prstGeom>
          <a:solidFill>
            <a:srgbClr val="D99A3D"/>
          </a:solidFill>
          <a:ln w="0">
            <a:noFill/>
          </a:ln>
        </p:spPr>
      </p:sp>
      <p:sp>
        <p:nvSpPr>
          <p:cNvPr id="15" name="audience-text-15">
            <a:extLst>
              <a:ext uri="{FF2B5EF4-FFF2-40B4-BE49-F238E27FC236}">
                <ns2:creationId id="{B3D7D140-46FE-49AC-9B46-F15C1E708109}"/>
              </a:ext>
            </a:extLst>
          </p:cNvPr>
          <p:cNvSpPr>
            <a:spLocks noGrp="1"/>
          </p:cNvSpPr>
          <p:nvPr/>
        </p:nvSpPr>
        <p:spPr>
          <a:xfrm>
            <a:off x="9144000" y="2247900"/>
            <a:ext cx="1714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6–10</a:t>
            </a:r>
          </a:p>
        </p:txBody>
      </p:sp>
      <p:sp>
        <p:nvSpPr>
          <p:cNvPr id="16" name="audience-text-16">
            <a:extLst>
              <a:ext uri="{FF2B5EF4-FFF2-40B4-BE49-F238E27FC236}">
                <ns2:creationId id="{5E561427-489C-4586-B13E-EE9530D9C3AE}"/>
              </a:ext>
            </a:extLst>
          </p:cNvPr>
          <p:cNvSpPr>
            <a:spLocks noGrp="1"/>
          </p:cNvSpPr>
          <p:nvPr/>
        </p:nvSpPr>
        <p:spPr>
          <a:xfrm>
            <a:off x="10896600" y="2457450"/>
            <a:ext cx="533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歲</a:t>
            </a:r>
          </a:p>
        </p:txBody>
      </p:sp>
      <p:sp>
        <p:nvSpPr>
          <p:cNvPr id="17" name="audience-text-17">
            <a:extLst>
              <a:ext uri="{FF2B5EF4-FFF2-40B4-BE49-F238E27FC236}">
                <ns2:creationId id="{BB3B7FC0-71CD-48BB-94BE-4471B70772B9}"/>
              </a:ext>
            </a:extLst>
          </p:cNvPr>
          <p:cNvSpPr>
            <a:spLocks noGrp="1"/>
          </p:cNvSpPr>
          <p:nvPr/>
        </p:nvSpPr>
        <p:spPr>
          <a:xfrm>
            <a:off x="9144000" y="3105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學校生活與交接</a:t>
            </a:r>
          </a:p>
        </p:txBody>
      </p:sp>
      <p:sp>
        <p:nvSpPr>
          <p:cNvPr id="18" name="audience-text-18">
            <a:extLst>
              <a:ext uri="{FF2B5EF4-FFF2-40B4-BE49-F238E27FC236}">
                <ns2:creationId id="{6B958817-4B63-4040-BE61-33F853269774}"/>
              </a:ext>
            </a:extLst>
          </p:cNvPr>
          <p:cNvSpPr>
            <a:spLocks noGrp="1"/>
          </p:cNvSpPr>
          <p:nvPr/>
        </p:nvSpPr>
        <p:spPr>
          <a:xfrm>
            <a:off x="704850" y="4191000"/>
            <a:ext cx="6286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25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孩子在成長，</a:t>
            </a:r>
          </a:p>
          <a:p>
            <a:pPr algn="l">
              <a:lnSpc>
                <a:spcPct val="118000"/>
              </a:lnSpc>
              <a:buNone/>
              <a:defRPr sz="2625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照顧方式也在改變。</a:t>
            </a:r>
          </a:p>
        </p:txBody>
      </p:sp>
      <p:sp>
        <p:nvSpPr>
          <p:cNvPr id="19" name="audience-text-19">
            <a:extLst>
              <a:ext uri="{FF2B5EF4-FFF2-40B4-BE49-F238E27FC236}">
                <ns2:creationId id="{99B5818C-CA84-4E66-AED1-18AAC9FEDE68}"/>
              </a:ext>
            </a:extLst>
          </p:cNvPr>
          <p:cNvSpPr>
            <a:spLocks noGrp="1"/>
          </p:cNvSpPr>
          <p:nvPr/>
        </p:nvSpPr>
        <p:spPr>
          <a:xfrm>
            <a:off x="714375" y="5638800"/>
            <a:ext cx="695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家長、家人及獲授權的成年照顧者</a:t>
            </a:r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 r:embed="R0b7dc96b011540ac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7696200" y="3648075"/>
            <a:ext cx="3733800" cy="2800350"/>
          </a:xfrm>
          <a:prstGeom prst="rect">
            <a:avLst/>
          </a:prstGeom>
        </p:spPr>
      </p:pic>
    </p:spTree>
    <p:extLst>
      <p:ext uri="{BB962C8B-B14F-4D97-AF65-F5344CB8AC3E}">
        <ns5:creationId val="2021780685"/>
      </p:ext>
    </p:extLst>
  </p:cSld>
</p:sld>
</file>

<file path=ppt/slides/slide4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agent-text-20">
            <a:extLst>
              <a:ext uri="{FF2B5EF4-FFF2-40B4-BE49-F238E27FC236}">
                <ns2:creationId id="{62D13AA6-06FA-438D-823B-29431D85FA3D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主動協助的每一步都有邊界</a:t>
            </a:r>
          </a:p>
        </p:txBody>
      </p:sp>
      <p:sp>
        <p:nvSpPr>
          <p:cNvPr id="2" name="agent-text-21">
            <a:extLst>
              <a:ext uri="{FF2B5EF4-FFF2-40B4-BE49-F238E27FC236}">
                <ns2:creationId id="{D0C1F612-6228-4F36-A3F3-C3C8888835BE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P2 規劃中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241df50651b8471a">
            <a:extLst>
              <a:ext uri="{96DAC541-7B7A-43D3-8B79-37D633B846F1}">
                <asvg:svgBlip r:embed="rIdVector1"/>
              </a:ext>
            </a:extLst>
          </a:blip>
          <a:srcRect l="0" t="22222" r="0" b="0"/>
          <a:stretch/>
        </p:blipFill>
        <p:spPr>
          <a:xfrm>
            <a:off x="609600" y="1809750"/>
            <a:ext cx="10972800" cy="4267200"/>
          </a:xfrm>
          <a:prstGeom prst="rect">
            <a:avLst/>
          </a:prstGeom>
        </p:spPr>
      </p:pic>
    </p:spTree>
    <p:extLst>
      <p:ext uri="{BB962C8B-B14F-4D97-AF65-F5344CB8AC3E}">
        <ns5:creationId val="581541787"/>
      </p:ext>
    </p:extLst>
  </p:cSld>
</p:sld>
</file>

<file path=ppt/slides/slide5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journey-text-22">
            <a:extLst>
              <a:ext uri="{FF2B5EF4-FFF2-40B4-BE49-F238E27FC236}">
                <ns2:creationId id="{6A5ADEFE-ACFE-4288-B149-D4D42F2EA301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由一句記錄，逐步連起日常照顧</a:t>
            </a:r>
          </a:p>
        </p:txBody>
      </p:sp>
      <p:sp>
        <p:nvSpPr>
          <p:cNvPr id="2" name="journey-text-23">
            <a:extLst>
              <a:ext uri="{FF2B5EF4-FFF2-40B4-BE49-F238E27FC236}">
                <ns2:creationId id="{5FC7169D-5021-47AF-8007-C12C7D3CFBFD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P1–P4 分階段規劃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eea92db763c140d5">
            <a:extLst>
              <a:ext uri="{96DAC541-7B7A-43D3-8B79-37D633B846F1}">
                <asvg:svgBlip r:embed="rIdVector1"/>
              </a:ext>
            </a:extLst>
          </a:blip>
          <a:srcRect l="0" t="22222" r="0" b="0"/>
          <a:stretch/>
        </p:blipFill>
        <p:spPr>
          <a:xfrm>
            <a:off x="609600" y="1809750"/>
            <a:ext cx="10972800" cy="4267200"/>
          </a:xfrm>
          <a:prstGeom prst="rect">
            <a:avLst/>
          </a:prstGeom>
        </p:spPr>
      </p:pic>
    </p:spTree>
    <p:extLst>
      <p:ext uri="{BB962C8B-B14F-4D97-AF65-F5344CB8AC3E}">
        <ns5:creationId val="913076696"/>
      </p:ext>
    </p:extLst>
  </p:cSld>
</p:sld>
</file>

<file path=ppt/slides/slide6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responsibilities-text-24">
            <a:extLst>
              <a:ext uri="{FF2B5EF4-FFF2-40B4-BE49-F238E27FC236}">
                <ns2:creationId id="{2A2A3742-3D66-4524-89D3-F310B2E59B30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AI 理解情境，程式負責執行控制</a:t>
            </a:r>
          </a:p>
        </p:txBody>
      </p:sp>
      <p:sp>
        <p:nvSpPr>
          <p:cNvPr id="2" name="responsibilities-text-25">
            <a:extLst>
              <a:ext uri="{FF2B5EF4-FFF2-40B4-BE49-F238E27FC236}">
                <ns2:creationId id="{1E1C9815-15BD-4FC8-809C-87BAAF17E719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P2 規劃中</a:t>
            </a:r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 r:embed="Rdab21e54e5584a22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346075" y="2400300"/>
            <a:ext cx="3022600" cy="2266950"/>
          </a:xfrm>
          <a:prstGeom prst="rect">
            <a:avLst/>
          </a:prstGeom>
        </p:spPr>
      </p:pic>
      <p:sp>
        <p:nvSpPr>
          <p:cNvPr id="4" name="responsibilities-text-26">
            <a:extLst>
              <a:ext uri="{FF2B5EF4-FFF2-40B4-BE49-F238E27FC236}">
                <ns2:creationId id="{FB9258C8-9575-4874-91C9-E05E209D2DBB}"/>
              </a:ext>
            </a:extLst>
          </p:cNvPr>
          <p:cNvSpPr>
            <a:spLocks noGrp="1"/>
          </p:cNvSpPr>
          <p:nvPr/>
        </p:nvSpPr>
        <p:spPr>
          <a:xfrm>
            <a:off x="3638550" y="207645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4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AI 擅長</a:t>
            </a:r>
          </a:p>
        </p:txBody>
      </p:sp>
      <p:sp>
        <p:nvSpPr>
          <p:cNvPr id="5" name="responsibilities-text-27">
            <a:extLst>
              <a:ext uri="{FF2B5EF4-FFF2-40B4-BE49-F238E27FC236}">
                <ns2:creationId id="{0526A4A8-C971-4648-9B3E-7034DD03D308}"/>
              </a:ext>
            </a:extLst>
          </p:cNvPr>
          <p:cNvSpPr>
            <a:spLocks noGrp="1"/>
          </p:cNvSpPr>
          <p:nvPr/>
        </p:nvSpPr>
        <p:spPr>
          <a:xfrm>
            <a:off x="7667625" y="2076450"/>
            <a:ext cx="3857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4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確定性程式負責</a:t>
            </a:r>
          </a:p>
        </p:txBody>
      </p:sp>
      <p:sp>
        <p:nvSpPr>
          <p:cNvPr id="6" name="">
            <a:extLst>
              <a:ext uri="{FF2B5EF4-FFF2-40B4-BE49-F238E27FC236}">
                <ns2:creationId id="{AE3516C2-2207-4198-96CF-102F66FD85F4}"/>
              </a:ext>
            </a:extLst>
          </p:cNvPr>
          <p:cNvSpPr>
            <a:spLocks noGrp="1"/>
          </p:cNvSpPr>
          <p:nvPr/>
        </p:nvSpPr>
        <p:spPr>
          <a:xfrm>
            <a:off x="7305675" y="2076450"/>
            <a:ext cx="19050" cy="2667000"/>
          </a:xfrm>
          <a:prstGeom prst="rect">
            <a:avLst/>
          </a:prstGeom>
          <a:solidFill>
            <a:srgbClr val="DDE8DB"/>
          </a:solidFill>
          <a:ln w="0">
            <a:noFill/>
          </a:ln>
        </p:spPr>
      </p:sp>
      <p:sp>
        <p:nvSpPr>
          <p:cNvPr id="7" name="responsibilities-text-28">
            <a:extLst>
              <a:ext uri="{FF2B5EF4-FFF2-40B4-BE49-F238E27FC236}">
                <ns2:creationId id="{D27AAD72-EE57-45C7-97F8-A9EB4DA77C41}"/>
              </a:ext>
            </a:extLst>
          </p:cNvPr>
          <p:cNvSpPr>
            <a:spLocks noGrp="1"/>
          </p:cNvSpPr>
          <p:nvPr/>
        </p:nvSpPr>
        <p:spPr>
          <a:xfrm>
            <a:off x="3638550" y="2819400"/>
            <a:ext cx="344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理解自然語言</a:t>
            </a:r>
          </a:p>
        </p:txBody>
      </p:sp>
      <p:sp>
        <p:nvSpPr>
          <p:cNvPr id="8" name="responsibilities-text-29">
            <a:extLst>
              <a:ext uri="{FF2B5EF4-FFF2-40B4-BE49-F238E27FC236}">
                <ns2:creationId id="{6267663B-D37C-495A-9464-ADA1C6F93DE5}"/>
              </a:ext>
            </a:extLst>
          </p:cNvPr>
          <p:cNvSpPr>
            <a:spLocks noGrp="1"/>
          </p:cNvSpPr>
          <p:nvPr/>
        </p:nvSpPr>
        <p:spPr>
          <a:xfrm>
            <a:off x="3638550" y="3562350"/>
            <a:ext cx="344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連結相關上下文</a:t>
            </a:r>
          </a:p>
        </p:txBody>
      </p:sp>
      <p:sp>
        <p:nvSpPr>
          <p:cNvPr id="9" name="responsibilities-text-30">
            <a:extLst>
              <a:ext uri="{FF2B5EF4-FFF2-40B4-BE49-F238E27FC236}">
                <ns2:creationId id="{EA5A1233-4EDB-4950-90C3-9E2785E7FCF2}"/>
              </a:ext>
            </a:extLst>
          </p:cNvPr>
          <p:cNvSpPr>
            <a:spLocks noGrp="1"/>
          </p:cNvSpPr>
          <p:nvPr/>
        </p:nvSpPr>
        <p:spPr>
          <a:xfrm>
            <a:off x="3638550" y="4305300"/>
            <a:ext cx="344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發現缺項與草擬下一步</a:t>
            </a:r>
          </a:p>
        </p:txBody>
      </p:sp>
      <p:sp>
        <p:nvSpPr>
          <p:cNvPr id="10" name="responsibilities-text-31">
            <a:extLst>
              <a:ext uri="{FF2B5EF4-FFF2-40B4-BE49-F238E27FC236}">
                <ns2:creationId id="{C91DF7F8-DB11-45BC-BA6A-5602D0964B1E}"/>
              </a:ext>
            </a:extLst>
          </p:cNvPr>
          <p:cNvSpPr>
            <a:spLocks noGrp="1"/>
          </p:cNvSpPr>
          <p:nvPr/>
        </p:nvSpPr>
        <p:spPr>
          <a:xfrm>
            <a:off x="7667625" y="2819400"/>
            <a:ext cx="37909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權限與授權</a:t>
            </a:r>
          </a:p>
        </p:txBody>
      </p:sp>
      <p:sp>
        <p:nvSpPr>
          <p:cNvPr id="11" name="responsibilities-text-32">
            <a:extLst>
              <a:ext uri="{FF2B5EF4-FFF2-40B4-BE49-F238E27FC236}">
                <ns2:creationId id="{D87FC334-6990-41D8-941F-D05F56F153FA}"/>
              </a:ext>
            </a:extLst>
          </p:cNvPr>
          <p:cNvSpPr>
            <a:spLocks noGrp="1"/>
          </p:cNvSpPr>
          <p:nvPr/>
        </p:nvSpPr>
        <p:spPr>
          <a:xfrm>
            <a:off x="7667625" y="3562350"/>
            <a:ext cx="37909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數值、狀態及任務終態</a:t>
            </a:r>
          </a:p>
        </p:txBody>
      </p:sp>
      <p:sp>
        <p:nvSpPr>
          <p:cNvPr id="12" name="responsibilities-text-33">
            <a:extLst>
              <a:ext uri="{FF2B5EF4-FFF2-40B4-BE49-F238E27FC236}">
                <ns2:creationId id="{DF6B6972-1F3D-4E05-9610-2C49A541A633}"/>
              </a:ext>
            </a:extLst>
          </p:cNvPr>
          <p:cNvSpPr>
            <a:spLocks noGrp="1"/>
          </p:cNvSpPr>
          <p:nvPr/>
        </p:nvSpPr>
        <p:spPr>
          <a:xfrm>
            <a:off x="7667625" y="4305300"/>
            <a:ext cx="37909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工具執行與持久保存</a:t>
            </a:r>
          </a:p>
        </p:txBody>
      </p:sp>
      <p:sp>
        <p:nvSpPr>
          <p:cNvPr id="13" name="responsibilities-text-34">
            <a:extLst>
              <a:ext uri="{FF2B5EF4-FFF2-40B4-BE49-F238E27FC236}">
                <ns2:creationId id="{9E47E0CB-6AEA-4FF8-B39B-82505BEFD968}"/>
              </a:ext>
            </a:extLst>
          </p:cNvPr>
          <p:cNvSpPr>
            <a:spLocks noGrp="1"/>
          </p:cNvSpPr>
          <p:nvPr/>
        </p:nvSpPr>
        <p:spPr>
          <a:xfrm>
            <a:off x="723900" y="5724525"/>
            <a:ext cx="107442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模型的建議須經工具及權限校驗，不能直接修改權威資料。</a:t>
            </a:r>
          </a:p>
        </p:txBody>
      </p:sp>
    </p:spTree>
    <p:extLst>
      <p:ext uri="{BB962C8B-B14F-4D97-AF65-F5344CB8AC3E}">
        <ns5:creationId val="823820363"/>
      </p:ext>
    </p:extLst>
  </p:cSld>
</p:sld>
</file>

<file path=ppt/slides/slide7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architecture-text-35">
            <a:extLst>
              <a:ext uri="{FF2B5EF4-FFF2-40B4-BE49-F238E27FC236}">
                <ns2:creationId id="{32AD33E0-76E6-4A8D-81EB-4EDD9D652832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資料與 Agent 都以 Server 為中心</a:t>
            </a:r>
          </a:p>
        </p:txBody>
      </p:sp>
      <p:sp>
        <p:nvSpPr>
          <p:cNvPr id="2" name="architecture-text-36">
            <a:extLst>
              <a:ext uri="{FF2B5EF4-FFF2-40B4-BE49-F238E27FC236}">
                <ns2:creationId id="{5585530B-5EE5-4B45-B4F8-764539102D19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P1–P4 分階段規劃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4376a0d31ffd44b9">
            <a:extLst>
              <a:ext uri="{96DAC541-7B7A-43D3-8B79-37D633B846F1}">
                <asvg:svgBlip r:embed="rIdVector1"/>
              </a:ext>
            </a:extLst>
          </a:blip>
          <a:srcRect l="0" t="22222" r="0" b="0"/>
          <a:stretch/>
        </p:blipFill>
        <p:spPr>
          <a:xfrm>
            <a:off x="609600" y="1809750"/>
            <a:ext cx="10972800" cy="4267200"/>
          </a:xfrm>
          <a:prstGeom prst="rect">
            <a:avLst/>
          </a:prstGeom>
        </p:spPr>
      </p:pic>
    </p:spTree>
    <p:extLst>
      <p:ext uri="{BB962C8B-B14F-4D97-AF65-F5344CB8AC3E}">
        <ns5:creationId val="1808097496"/>
      </p:ext>
    </p:extLst>
  </p:cSld>
</p:sld>
</file>

<file path=ppt/slides/slide8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safety-text-37">
            <a:extLst>
              <a:ext uri="{FF2B5EF4-FFF2-40B4-BE49-F238E27FC236}">
                <ns2:creationId id="{21535F5A-68ED-4B33-BC7D-6B457F1A08E7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每個重要結果，都可以回查</a:t>
            </a:r>
          </a:p>
        </p:txBody>
      </p:sp>
      <p:sp>
        <p:nvSpPr>
          <p:cNvPr id="2" name="safety-text-38">
            <a:extLst>
              <a:ext uri="{FF2B5EF4-FFF2-40B4-BE49-F238E27FC236}">
                <ns2:creationId id="{45065F1C-5615-4608-86F4-F1C99801AF0F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P1–P4 分階段規劃</a:t>
            </a:r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353fac31e5b04094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381000" y="1955006"/>
            <a:ext cx="4095750" cy="3071812"/>
          </a:xfrm>
          <a:prstGeom prst="rect">
            <a:avLst/>
          </a:prstGeom>
        </p:spPr>
      </p:pic>
      <p:sp>
        <p:nvSpPr>
          <p:cNvPr id="4" name="safety-text-39">
            <a:extLst>
              <a:ext uri="{FF2B5EF4-FFF2-40B4-BE49-F238E27FC236}">
                <ns2:creationId id="{6E4F9AE4-A5DA-4A3D-B6E5-393B7C153F1F}"/>
              </a:ext>
            </a:extLst>
          </p:cNvPr>
          <p:cNvSpPr>
            <a:spLocks noGrp="1"/>
          </p:cNvSpPr>
          <p:nvPr/>
        </p:nvSpPr>
        <p:spPr>
          <a:xfrm>
            <a:off x="4752975" y="184785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safety-text-40">
            <a:extLst>
              <a:ext uri="{FF2B5EF4-FFF2-40B4-BE49-F238E27FC236}">
                <ns2:creationId id="{D505E194-58A2-4175-B140-25FC764DB9FA}"/>
              </a:ext>
            </a:extLst>
          </p:cNvPr>
          <p:cNvSpPr>
            <a:spLocks noGrp="1"/>
          </p:cNvSpPr>
          <p:nvPr/>
        </p:nvSpPr>
        <p:spPr>
          <a:xfrm>
            <a:off x="5467350" y="1847850"/>
            <a:ext cx="60293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重要資料先補問或確認</a:t>
            </a:r>
          </a:p>
        </p:txBody>
      </p:sp>
      <p:sp>
        <p:nvSpPr>
          <p:cNvPr id="6" name="safety-text-41">
            <a:extLst>
              <a:ext uri="{FF2B5EF4-FFF2-40B4-BE49-F238E27FC236}">
                <ns2:creationId id="{C399FC2E-A165-4632-835B-D93851CA55E5}"/>
              </a:ext>
            </a:extLst>
          </p:cNvPr>
          <p:cNvSpPr>
            <a:spLocks noGrp="1"/>
          </p:cNvSpPr>
          <p:nvPr/>
        </p:nvSpPr>
        <p:spPr>
          <a:xfrm>
            <a:off x="4752975" y="259080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safety-text-42">
            <a:extLst>
              <a:ext uri="{FF2B5EF4-FFF2-40B4-BE49-F238E27FC236}">
                <ns2:creationId id="{A093098C-6626-41D3-BAE5-1A21FB7D97FB}"/>
              </a:ext>
            </a:extLst>
          </p:cNvPr>
          <p:cNvSpPr>
            <a:spLocks noGrp="1"/>
          </p:cNvSpPr>
          <p:nvPr/>
        </p:nvSpPr>
        <p:spPr>
          <a:xfrm>
            <a:off x="5467350" y="2590800"/>
            <a:ext cx="60293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原始記錄及官方資料保留來源</a:t>
            </a:r>
          </a:p>
        </p:txBody>
      </p:sp>
      <p:sp>
        <p:nvSpPr>
          <p:cNvPr id="8" name="safety-text-43">
            <a:extLst>
              <a:ext uri="{FF2B5EF4-FFF2-40B4-BE49-F238E27FC236}">
                <ns2:creationId id="{FCC9125A-FA8F-43A2-870E-C7C8043786E4}"/>
              </a:ext>
            </a:extLst>
          </p:cNvPr>
          <p:cNvSpPr>
            <a:spLocks noGrp="1"/>
          </p:cNvSpPr>
          <p:nvPr/>
        </p:nvSpPr>
        <p:spPr>
          <a:xfrm>
            <a:off x="4752975" y="333375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safety-text-44">
            <a:extLst>
              <a:ext uri="{FF2B5EF4-FFF2-40B4-BE49-F238E27FC236}">
                <ns2:creationId id="{8D9870A6-DEE3-4EFA-9CE6-C2E427A6822D}"/>
              </a:ext>
            </a:extLst>
          </p:cNvPr>
          <p:cNvSpPr>
            <a:spLocks noGrp="1"/>
          </p:cNvSpPr>
          <p:nvPr/>
        </p:nvSpPr>
        <p:spPr>
          <a:xfrm>
            <a:off x="5467350" y="3333750"/>
            <a:ext cx="60293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執行前重查當前授權</a:t>
            </a:r>
          </a:p>
        </p:txBody>
      </p:sp>
      <p:sp>
        <p:nvSpPr>
          <p:cNvPr id="10" name="safety-text-45">
            <a:extLst>
              <a:ext uri="{FF2B5EF4-FFF2-40B4-BE49-F238E27FC236}">
                <ns2:creationId id="{E458BA7B-374E-4AAF-99BE-BAB6D5D0081E}"/>
              </a:ext>
            </a:extLst>
          </p:cNvPr>
          <p:cNvSpPr>
            <a:spLocks noGrp="1"/>
          </p:cNvSpPr>
          <p:nvPr/>
        </p:nvSpPr>
        <p:spPr>
          <a:xfrm>
            <a:off x="4752975" y="407670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1" name="safety-text-46">
            <a:extLst>
              <a:ext uri="{FF2B5EF4-FFF2-40B4-BE49-F238E27FC236}">
                <ns2:creationId id="{AF76E951-5341-4BFF-A97D-C918DBDB4603}"/>
              </a:ext>
            </a:extLst>
          </p:cNvPr>
          <p:cNvSpPr>
            <a:spLocks noGrp="1"/>
          </p:cNvSpPr>
          <p:nvPr/>
        </p:nvSpPr>
        <p:spPr>
          <a:xfrm>
            <a:off x="5467350" y="4076700"/>
            <a:ext cx="60293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Server 未確認，就不顯示成功</a:t>
            </a:r>
          </a:p>
        </p:txBody>
      </p:sp>
      <p:sp>
        <p:nvSpPr>
          <p:cNvPr id="12" name="safety-text-47">
            <a:extLst>
              <a:ext uri="{FF2B5EF4-FFF2-40B4-BE49-F238E27FC236}">
                <ns2:creationId id="{DFDDF42B-80E4-4F65-A511-F1B072CB6B8D}"/>
              </a:ext>
            </a:extLst>
          </p:cNvPr>
          <p:cNvSpPr>
            <a:spLocks noGrp="1"/>
          </p:cNvSpPr>
          <p:nvPr/>
        </p:nvSpPr>
        <p:spPr>
          <a:xfrm>
            <a:off x="4752975" y="481965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3" name="safety-text-48">
            <a:extLst>
              <a:ext uri="{FF2B5EF4-FFF2-40B4-BE49-F238E27FC236}">
                <ns2:creationId id="{4002BC45-88A7-4C9D-8058-9AE06215E08B}"/>
              </a:ext>
            </a:extLst>
          </p:cNvPr>
          <p:cNvSpPr>
            <a:spLocks noGrp="1"/>
          </p:cNvSpPr>
          <p:nvPr/>
        </p:nvSpPr>
        <p:spPr>
          <a:xfrm>
            <a:off x="5467350" y="4819650"/>
            <a:ext cx="60293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照片不作疾病診斷；不做藥物管理</a:t>
            </a:r>
          </a:p>
        </p:txBody>
      </p:sp>
      <p:sp>
        <p:nvSpPr>
          <p:cNvPr id="14" name="safety-text-49">
            <a:extLst>
              <a:ext uri="{FF2B5EF4-FFF2-40B4-BE49-F238E27FC236}">
                <ns2:creationId id="{B5D9622A-9639-401C-A2F9-2170838E66AE}"/>
              </a:ext>
            </a:extLst>
          </p:cNvPr>
          <p:cNvSpPr>
            <a:spLocks noGrp="1"/>
          </p:cNvSpPr>
          <p:nvPr/>
        </p:nvSpPr>
        <p:spPr>
          <a:xfrm>
            <a:off x="733425" y="5953125"/>
            <a:ext cx="107061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通知已接受、已送達、已讀及事項完成，是不同狀態。</a:t>
            </a:r>
          </a:p>
        </p:txBody>
      </p:sp>
    </p:spTree>
    <p:extLst>
      <p:ext uri="{BB962C8B-B14F-4D97-AF65-F5344CB8AC3E}">
        <ns5:creationId val="334884498"/>
      </p:ext>
    </p:extLst>
  </p:cSld>
</p:sld>
</file>

<file path=ppt/slides/slide9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roadmap-text-50">
            <a:extLst>
              <a:ext uri="{FF2B5EF4-FFF2-40B4-BE49-F238E27FC236}">
                <ns2:creationId id="{D2853DBA-6273-4B9C-A628-C4D00000035A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先形成閉環，再逐階段完善</a:t>
            </a:r>
          </a:p>
        </p:txBody>
      </p:sp>
      <p:sp>
        <p:nvSpPr>
          <p:cNvPr id="2" name="roadmap-text-51">
            <a:extLst>
              <a:ext uri="{FF2B5EF4-FFF2-40B4-BE49-F238E27FC236}">
                <ns2:creationId id="{9C2D490D-4AD6-4673-A220-BD74FCF2ED51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P1–P5 分階段規劃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55da409310ed4520">
            <a:extLst>
              <a:ext uri="{96DAC541-7B7A-43D3-8B79-37D633B846F1}">
                <asvg:svgBlip r:embed="rIdVector1"/>
              </a:ext>
            </a:extLst>
          </a:blip>
          <a:srcRect l="0" t="22222" r="0" b="0"/>
          <a:stretch/>
        </p:blipFill>
        <p:spPr>
          <a:xfrm>
            <a:off x="609600" y="1809750"/>
            <a:ext cx="10972800" cy="4267200"/>
          </a:xfrm>
          <a:prstGeom prst="rect">
            <a:avLst/>
          </a:prstGeom>
        </p:spPr>
      </p:pic>
    </p:spTree>
    <p:extLst>
      <p:ext uri="{BB962C8B-B14F-4D97-AF65-F5344CB8AC3E}">
        <ns5:creationId val="2056550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tatus-text-52">
            <a:extLst xmlns:a="http://schemas.openxmlformats.org/drawingml/2006/main">
              <a:ext uri="{FF2B5EF4-FFF2-40B4-BE49-F238E27FC236}">
                <a16:creationId xmlns:a16="http://schemas.microsoft.com/office/drawing/2014/main" id="{D7436A6F-4269-4178-AA12-26B6B119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當前進度</a:t>
            </a:r>
          </a:p>
        </p:txBody>
      </p:sp>
      <p:sp>
        <p:nvSpPr>
          <p:cNvPr id="2" name="status-text-53">
            <a:extLst xmlns:a="http://schemas.openxmlformats.org/drawingml/2006/main">
              <a:ext uri="{FF2B5EF4-FFF2-40B4-BE49-F238E27FC236}">
                <a16:creationId xmlns:a16="http://schemas.microsoft.com/office/drawing/2014/main" id="{3E042352-85DA-47DE-8BB9-41B4D559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登入、孩子與文字記錄已接通</a:t>
            </a:r>
          </a:p>
        </p:txBody>
      </p:sp>
      <p:sp>
        <p:nvSpPr>
          <p:cNvPr id="3" name="status-text-54">
            <a:extLst xmlns:a="http://schemas.openxmlformats.org/drawingml/2006/main">
              <a:ext uri="{FF2B5EF4-FFF2-40B4-BE49-F238E27FC236}">
                <a16:creationId xmlns:a16="http://schemas.microsoft.com/office/drawing/2014/main" id="{48AA50BE-9218-4138-9329-53D147B9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P1 暫停待續　S03 已驗收合併，P1 仍未完成。</a:t>
            </a:r>
          </a:p>
        </p:txBody>
      </p:sp>
      <p:sp>
        <p:nvSpPr>
          <p:cNvPr id="4" name="status-text-55">
            <a:extLst xmlns:a="http://schemas.openxmlformats.org/drawingml/2006/main">
              <a:ext uri="{FF2B5EF4-FFF2-40B4-BE49-F238E27FC236}">
                <a16:creationId xmlns:a16="http://schemas.microsoft.com/office/drawing/2014/main" id="{C77B9096-574E-4F7C-837A-F44F40DB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已實現</a:t>
            </a:r>
          </a:p>
        </p:txBody>
      </p:sp>
      <p:sp>
        <p:nvSpPr>
          <p:cNvPr id="5" name="status-text-56">
            <a:extLst xmlns:a="http://schemas.openxmlformats.org/drawingml/2006/main">
              <a:ext uri="{FF2B5EF4-FFF2-40B4-BE49-F238E27FC236}">
                <a16:creationId xmlns:a16="http://schemas.microsoft.com/office/drawing/2014/main" id="{24A5C2D2-38DB-4A6C-88D4-1226ABE9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760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Web 註冊／登入及帳號隔離</a:t>
            </a:r>
          </a:p>
        </p:txBody>
      </p:sp>
      <p:sp>
        <p:nvSpPr>
          <p:cNvPr id="6" name="status-text-57">
            <a:extLst xmlns:a="http://schemas.openxmlformats.org/drawingml/2006/main">
              <a:ext uri="{FF2B5EF4-FFF2-40B4-BE49-F238E27FC236}">
                <a16:creationId xmlns:a16="http://schemas.microsoft.com/office/drawing/2014/main" id="{E46D98A9-9A50-4872-AF10-6FA3917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2910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建立／切換孩子、確認保存文字記錄</a:t>
            </a:r>
          </a:p>
        </p:txBody>
      </p:sp>
      <p:sp>
        <p:nvSpPr>
          <p:cNvPr id="7" name="status-text-58">
            <a:extLst xmlns:a="http://schemas.openxmlformats.org/drawingml/2006/main">
              <a:ext uri="{FF2B5EF4-FFF2-40B4-BE49-F238E27FC236}">
                <a16:creationId xmlns:a16="http://schemas.microsoft.com/office/drawing/2014/main" id="{8DF50379-9C33-428C-838A-04CB4182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PostgreSQL 保存，重開後可恢復</a:t>
            </a:r>
          </a:p>
        </p:txBody>
      </p:sp>
      <p:sp>
        <p:nvSpPr>
          <p:cNvPr id="8" name="status-text-59">
            <a:extLst xmlns:a="http://schemas.openxmlformats.org/drawingml/2006/main">
              <a:ext uri="{FF2B5EF4-FFF2-40B4-BE49-F238E27FC236}">
                <a16:creationId xmlns:a16="http://schemas.microsoft.com/office/drawing/2014/main" id="{E058F4F0-F0CB-4449-93F7-E8EDCD3C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尚待接通與驗收</a:t>
            </a:r>
          </a:p>
        </p:txBody>
      </p:sp>
      <p:sp>
        <p:nvSpPr>
          <p:cNvPr id="9" name="status-text-60">
            <a:extLst xmlns:a="http://schemas.openxmlformats.org/drawingml/2006/main">
              <a:ext uri="{FF2B5EF4-FFF2-40B4-BE49-F238E27FC236}">
                <a16:creationId xmlns:a16="http://schemas.microsoft.com/office/drawing/2014/main" id="{49F2CEEE-95CE-404B-8EA1-2F0E76FC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安全 AI API、聊天與真 Gemini</a:t>
            </a:r>
          </a:p>
        </p:txBody>
      </p:sp>
      <p:sp>
        <p:nvSpPr>
          <p:cNvPr id="10" name="status-text-61">
            <a:extLst xmlns:a="http://schemas.openxmlformats.org/drawingml/2006/main">
              <a:ext uri="{FF2B5EF4-FFF2-40B4-BE49-F238E27FC236}">
                <a16:creationId xmlns:a16="http://schemas.microsoft.com/office/drawing/2014/main" id="{E95E0721-DB7E-432B-8002-ABCFE696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儲存加密及最小備份還原</a:t>
            </a:r>
          </a:p>
        </p:txBody>
      </p:sp>
      <p:sp>
        <p:nvSpPr>
          <p:cNvPr id="11" name="status-text-62">
            <a:extLst xmlns:a="http://schemas.openxmlformats.org/drawingml/2006/main">
              <a:ext uri="{FF2B5EF4-FFF2-40B4-BE49-F238E27FC236}">
                <a16:creationId xmlns:a16="http://schemas.microsoft.com/office/drawing/2014/main" id="{53FBFCB9-2269-4A0F-A8D5-C4120CB1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部署與組員獨立試玩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8DDBB-6ABD-47AF-934C-B141FEFA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911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0">
            <a:noFill/>
          </a:ln>
        </p:spPr>
      </p:sp>
      <p:sp>
        <p:nvSpPr>
          <p:cNvPr id="13" name="status-text-63">
            <a:extLst xmlns:a="http://schemas.openxmlformats.org/drawingml/2006/main">
              <a:ext uri="{FF2B5EF4-FFF2-40B4-BE49-F238E27FC236}">
                <a16:creationId xmlns:a16="http://schemas.microsoft.com/office/drawing/2014/main" id="{BD206BA8-B66A-4486-8B8B-7D0FB53C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744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已有驗證證據：64 項單元、16 項 HTTP、12 項 Web E2E 通過；typecheck 及 Web export 通過</a:t>
            </a:r>
          </a:p>
        </p:txBody>
      </p:sp>
      <p:sp>
        <p:nvSpPr>
          <p:cNvPr id="14" name="status-text-64">
            <a:extLst xmlns:a="http://schemas.openxmlformats.org/drawingml/2006/main">
              <a:ext uri="{FF2B5EF4-FFF2-40B4-BE49-F238E27FC236}">
                <a16:creationId xmlns:a16="http://schemas.microsoft.com/office/drawing/2014/main" id="{9E654B3F-86E1-436D-9A26-FF47F2A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2026-09-22　基線 39eb5aa　Demo 連結待提供</a:t>
            </a:r>
          </a:p>
        </p:txBody>
      </p:sp>
    </p:spTree>
    <p:extLst>
      <p:ext uri="{BB962C8B-B14F-4D97-AF65-F5344CB8AC3E}">
        <p14:creationId xmlns:p14="http://schemas.microsoft.com/office/powerpoint/2010/main" val="16102997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demo-text-65">
            <a:extLst xmlns:a="http://schemas.openxmlformats.org/drawingml/2006/main">
              <a:ext uri="{FF2B5EF4-FFF2-40B4-BE49-F238E27FC236}">
                <a16:creationId xmlns:a16="http://schemas.microsoft.com/office/drawing/2014/main" id="{77D68B2C-906B-4418-A0B6-30ABC79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Demo 流程預留</a:t>
            </a:r>
          </a:p>
        </p:txBody>
      </p:sp>
      <p:sp>
        <p:nvSpPr>
          <p:cNvPr id="2" name="demo-text-66">
            <a:extLst xmlns:a="http://schemas.openxmlformats.org/drawingml/2006/main">
              <a:ext uri="{FF2B5EF4-FFF2-40B4-BE49-F238E27FC236}">
                <a16:creationId xmlns:a16="http://schemas.microsoft.com/office/drawing/2014/main" id="{7F1747E3-7F2B-4E77-BF36-E8F96347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概念流程，非運行截圖；日後按實際驗證結果替換。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B5F75-11DE-42C3-A92A-D054E3D0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4" name="demo-text-67">
            <a:extLst xmlns:a="http://schemas.openxmlformats.org/drawingml/2006/main">
              <a:ext uri="{FF2B5EF4-FFF2-40B4-BE49-F238E27FC236}">
                <a16:creationId xmlns:a16="http://schemas.microsoft.com/office/drawing/2014/main" id="{C45D1823-39DA-4F8B-9B75-A4F687F4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demo-text-68">
            <a:extLst xmlns:a="http://schemas.openxmlformats.org/drawingml/2006/main">
              <a:ext uri="{FF2B5EF4-FFF2-40B4-BE49-F238E27FC236}">
                <a16:creationId xmlns:a16="http://schemas.microsoft.com/office/drawing/2014/main" id="{EF72ED87-C062-4AE4-B8DD-7E91B66E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6" name="demo-text-69">
            <a:extLst xmlns:a="http://schemas.openxmlformats.org/drawingml/2006/main">
              <a:ext uri="{FF2B5EF4-FFF2-40B4-BE49-F238E27FC236}">
                <a16:creationId xmlns:a16="http://schemas.microsoft.com/office/drawing/2014/main" id="{1B7C95D0-0BF0-4E98-9965-0694C201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 登入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A7D21-77E8-48F9-ADFE-7D2637B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002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8" name="demo-text-70">
            <a:extLst xmlns:a="http://schemas.openxmlformats.org/drawingml/2006/main">
              <a:ext uri="{FF2B5EF4-FFF2-40B4-BE49-F238E27FC236}">
                <a16:creationId xmlns:a16="http://schemas.microsoft.com/office/drawing/2014/main" id="{D0D64B4D-F42E-4462-9C7F-A406F2B1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demo-text-71">
            <a:extLst xmlns:a="http://schemas.openxmlformats.org/drawingml/2006/main">
              <a:ext uri="{FF2B5EF4-FFF2-40B4-BE49-F238E27FC236}">
                <a16:creationId xmlns:a16="http://schemas.microsoft.com/office/drawing/2014/main" id="{C71B5ACC-F636-4B62-B0E0-07ACB09B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527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10" name="demo-text-72">
            <a:extLst xmlns:a="http://schemas.openxmlformats.org/drawingml/2006/main">
              <a:ext uri="{FF2B5EF4-FFF2-40B4-BE49-F238E27FC236}">
                <a16:creationId xmlns:a16="http://schemas.microsoft.com/office/drawing/2014/main" id="{13358247-8A39-4485-9D90-603AE6B2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718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 建立孩子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D0934-4B03-4921-AE84-681C41F7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12" name="demo-text-73">
            <a:extLst xmlns:a="http://schemas.openxmlformats.org/drawingml/2006/main">
              <a:ext uri="{FF2B5EF4-FFF2-40B4-BE49-F238E27FC236}">
                <a16:creationId xmlns:a16="http://schemas.microsoft.com/office/drawing/2014/main" id="{86EA2BD6-6E1C-405B-BA0D-14A2F663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3" name="demo-text-74">
            <a:extLst xmlns:a="http://schemas.openxmlformats.org/drawingml/2006/main">
              <a:ext uri="{FF2B5EF4-FFF2-40B4-BE49-F238E27FC236}">
                <a16:creationId xmlns:a16="http://schemas.microsoft.com/office/drawing/2014/main" id="{70A94138-0DF2-42DB-865F-4C97FE51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14" name="demo-text-75">
            <a:extLst xmlns:a="http://schemas.openxmlformats.org/drawingml/2006/main">
              <a:ext uri="{FF2B5EF4-FFF2-40B4-BE49-F238E27FC236}">
                <a16:creationId xmlns:a16="http://schemas.microsoft.com/office/drawing/2014/main" id="{94D8EDD2-6089-4250-91D6-91F935F1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718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 文字記錄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C8B67-9D26-4ED1-B5AA-9689AB67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16" name="demo-text-76">
            <a:extLst xmlns:a="http://schemas.openxmlformats.org/drawingml/2006/main">
              <a:ext uri="{FF2B5EF4-FFF2-40B4-BE49-F238E27FC236}">
                <a16:creationId xmlns:a16="http://schemas.microsoft.com/office/drawing/2014/main" id="{86626F97-F05B-42AF-91B5-68813F08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demo-text-77">
            <a:extLst xmlns:a="http://schemas.openxmlformats.org/drawingml/2006/main">
              <a:ext uri="{FF2B5EF4-FFF2-40B4-BE49-F238E27FC236}">
                <a16:creationId xmlns:a16="http://schemas.microsoft.com/office/drawing/2014/main" id="{8FDF4C3C-FB2E-4B54-9DBB-F2F20428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18" name="demo-text-78">
            <a:extLst xmlns:a="http://schemas.openxmlformats.org/drawingml/2006/main">
              <a:ext uri="{FF2B5EF4-FFF2-40B4-BE49-F238E27FC236}">
                <a16:creationId xmlns:a16="http://schemas.microsoft.com/office/drawing/2014/main" id="{C164B224-0AC4-479F-8ED1-5C0B058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 原始聊天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4D67B-C735-49A5-9D24-20701BFD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481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20" name="demo-text-79">
            <a:extLst xmlns:a="http://schemas.openxmlformats.org/drawingml/2006/main">
              <a:ext uri="{FF2B5EF4-FFF2-40B4-BE49-F238E27FC236}">
                <a16:creationId xmlns:a16="http://schemas.microsoft.com/office/drawing/2014/main" id="{4BDA3769-D8E5-4430-BB14-FED1DBCA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386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1" name="demo-text-80">
            <a:extLst xmlns:a="http://schemas.openxmlformats.org/drawingml/2006/main">
              <a:ext uri="{FF2B5EF4-FFF2-40B4-BE49-F238E27FC236}">
                <a16:creationId xmlns:a16="http://schemas.microsoft.com/office/drawing/2014/main" id="{C5356935-993C-4FE6-8F62-92950EDF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006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22" name="demo-text-81">
            <a:extLst xmlns:a="http://schemas.openxmlformats.org/drawingml/2006/main">
              <a:ext uri="{FF2B5EF4-FFF2-40B4-BE49-F238E27FC236}">
                <a16:creationId xmlns:a16="http://schemas.microsoft.com/office/drawing/2014/main" id="{DA51E015-6D5A-4156-A9D7-206C0A4C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8197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 重開後核對保存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B1F36-5A93-4E54-BA83-4E569A9E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481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24" name="demo-text-82">
            <a:extLst xmlns:a="http://schemas.openxmlformats.org/drawingml/2006/main">
              <a:ext uri="{FF2B5EF4-FFF2-40B4-BE49-F238E27FC236}">
                <a16:creationId xmlns:a16="http://schemas.microsoft.com/office/drawing/2014/main" id="{5B54A737-2815-4DE9-B92D-2DDA8F14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386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5" name="demo-text-83">
            <a:extLst xmlns:a="http://schemas.openxmlformats.org/drawingml/2006/main">
              <a:ext uri="{FF2B5EF4-FFF2-40B4-BE49-F238E27FC236}">
                <a16:creationId xmlns:a16="http://schemas.microsoft.com/office/drawing/2014/main" id="{54EB798E-7E28-441F-BB6C-10CAF9A6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006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26" name="demo-text-84">
            <a:extLst xmlns:a="http://schemas.openxmlformats.org/drawingml/2006/main">
              <a:ext uri="{FF2B5EF4-FFF2-40B4-BE49-F238E27FC236}">
                <a16:creationId xmlns:a16="http://schemas.microsoft.com/office/drawing/2014/main" id="{1938B1BC-E5C4-494C-9F72-9B099A7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197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P2  主動 Agent</a:t>
            </a:r>
          </a:p>
        </p:txBody>
      </p:sp>
    </p:spTree>
    <p:extLst>
      <p:ext uri="{BB962C8B-B14F-4D97-AF65-F5344CB8AC3E}">
        <p14:creationId xmlns:p14="http://schemas.microsoft.com/office/powerpoint/2010/main" val="890355404"/>
      </p:ext>
    </p:extLst>
  </p:cSld>
</p:sld>
</file>

<file path=ppt/slides/slide12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growth-text-85">
            <a:extLst>
              <a:ext uri="{FF2B5EF4-FFF2-40B4-BE49-F238E27FC236}">
                <ns2:creationId id="{E30FCA85-72AC-4F5D-B497-B12CEF5351BD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逐步完善能力，維持清楚的領域邊界</a:t>
            </a:r>
          </a:p>
        </p:txBody>
      </p:sp>
      <p:sp>
        <p:nvSpPr>
          <p:cNvPr id="2" name="growth-text-86">
            <a:extLst>
              <a:ext uri="{FF2B5EF4-FFF2-40B4-BE49-F238E27FC236}">
                <ns2:creationId id="{F8308431-5F22-443B-A7E0-B7BF4B59CC4F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P2–P4 分階段規劃</a:t>
            </a:r>
          </a:p>
        </p:txBody>
      </p:sp>
      <p:sp>
        <p:nvSpPr>
          <p:cNvPr id="3" name="">
            <a:extLst>
              <a:ext uri="{FF2B5EF4-FFF2-40B4-BE49-F238E27FC236}">
                <ns2:creationId id="{59FBFCCD-5F3A-4995-9D88-4BEBA63EF310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2286000" cy="28575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4" name="growth-text-87">
            <a:extLst>
              <a:ext uri="{FF2B5EF4-FFF2-40B4-BE49-F238E27FC236}">
                <ns2:creationId id="{3804302C-EAC4-431F-BACB-60F41B4551DC}"/>
              </a:ext>
            </a:extLst>
          </p:cNvPr>
          <p:cNvSpPr>
            <a:spLocks noGrp="1"/>
          </p:cNvSpPr>
          <p:nvPr/>
        </p:nvSpPr>
        <p:spPr>
          <a:xfrm>
            <a:off x="723900" y="2352675"/>
            <a:ext cx="25431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長期記憶</a:t>
            </a:r>
          </a:p>
        </p:txBody>
      </p:sp>
      <p:sp>
        <p:nvSpPr>
          <p:cNvPr id="5" name="">
            <a:extLst>
              <a:ext uri="{FF2B5EF4-FFF2-40B4-BE49-F238E27FC236}">
                <ns2:creationId id="{365B394E-61AE-401F-BBBD-92294E78EFB8}"/>
              </a:ext>
            </a:extLst>
          </p:cNvPr>
          <p:cNvSpPr>
            <a:spLocks noGrp="1"/>
          </p:cNvSpPr>
          <p:nvPr/>
        </p:nvSpPr>
        <p:spPr>
          <a:xfrm>
            <a:off x="3486150" y="2057400"/>
            <a:ext cx="2286000" cy="28575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6" name="growth-text-88">
            <a:extLst>
              <a:ext uri="{FF2B5EF4-FFF2-40B4-BE49-F238E27FC236}">
                <ns2:creationId id="{FC2B0FDD-C16F-4E72-98EE-F2667BD3E2E2}"/>
              </a:ext>
            </a:extLst>
          </p:cNvPr>
          <p:cNvSpPr>
            <a:spLocks noGrp="1"/>
          </p:cNvSpPr>
          <p:nvPr/>
        </p:nvSpPr>
        <p:spPr>
          <a:xfrm>
            <a:off x="3486150" y="2352675"/>
            <a:ext cx="25431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任務與工具</a:t>
            </a:r>
          </a:p>
        </p:txBody>
      </p:sp>
      <p:sp>
        <p:nvSpPr>
          <p:cNvPr id="7" name="">
            <a:extLst>
              <a:ext uri="{FF2B5EF4-FFF2-40B4-BE49-F238E27FC236}">
                <ns2:creationId id="{BF8A5DFA-6BA9-4987-9643-FBC6ADB4A405}"/>
              </a:ext>
            </a:extLst>
          </p:cNvPr>
          <p:cNvSpPr>
            <a:spLocks noGrp="1"/>
          </p:cNvSpPr>
          <p:nvPr/>
        </p:nvSpPr>
        <p:spPr>
          <a:xfrm>
            <a:off x="6248400" y="2057400"/>
            <a:ext cx="2286000" cy="28575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8" name="growth-text-89">
            <a:extLst>
              <a:ext uri="{FF2B5EF4-FFF2-40B4-BE49-F238E27FC236}">
                <ns2:creationId id="{8A9C7E00-0423-4215-B2D1-62CC3FFA7B8F}"/>
              </a:ext>
            </a:extLst>
          </p:cNvPr>
          <p:cNvSpPr>
            <a:spLocks noGrp="1"/>
          </p:cNvSpPr>
          <p:nvPr/>
        </p:nvSpPr>
        <p:spPr>
          <a:xfrm>
            <a:off x="6248400" y="2352675"/>
            <a:ext cx="25431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知識來源</a:t>
            </a:r>
          </a:p>
        </p:txBody>
      </p:sp>
      <p:sp>
        <p:nvSpPr>
          <p:cNvPr id="9" name="">
            <a:extLst>
              <a:ext uri="{FF2B5EF4-FFF2-40B4-BE49-F238E27FC236}">
                <ns2:creationId id="{10F9029C-59B8-40B7-A3ED-A161FF240F1E}"/>
              </a:ext>
            </a:extLst>
          </p:cNvPr>
          <p:cNvSpPr>
            <a:spLocks noGrp="1"/>
          </p:cNvSpPr>
          <p:nvPr/>
        </p:nvSpPr>
        <p:spPr>
          <a:xfrm>
            <a:off x="9010650" y="2057400"/>
            <a:ext cx="2286000" cy="28575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10" name="growth-text-90">
            <a:extLst>
              <a:ext uri="{FF2B5EF4-FFF2-40B4-BE49-F238E27FC236}">
                <ns2:creationId id="{7D6CEDD7-0BC0-43A4-A56E-3A61286C6EFD}"/>
              </a:ext>
            </a:extLst>
          </p:cNvPr>
          <p:cNvSpPr>
            <a:spLocks noGrp="1"/>
          </p:cNvSpPr>
          <p:nvPr/>
        </p:nvSpPr>
        <p:spPr>
          <a:xfrm>
            <a:off x="9010650" y="2352675"/>
            <a:ext cx="25431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授權通知</a:t>
            </a:r>
          </a:p>
        </p:txBody>
      </p:sp>
      <p:sp>
        <p:nvSpPr>
          <p:cNvPr id="11" name="growth-text-91">
            <a:extLst>
              <a:ext uri="{FF2B5EF4-FFF2-40B4-BE49-F238E27FC236}">
                <ns2:creationId id="{E755C162-C11A-4144-946C-014E885EA8ED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78867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現在只實作 childcare-hk</a:t>
            </a:r>
          </a:p>
        </p:txBody>
      </p:sp>
      <p:sp>
        <p:nvSpPr>
          <p:cNvPr id="12" name="growth-text-92">
            <a:extLst>
              <a:ext uri="{FF2B5EF4-FFF2-40B4-BE49-F238E27FC236}">
                <ns2:creationId id="{B9FF4F71-A4B1-4AA1-80D1-B03C45B8A8E0}"/>
              </a:ext>
            </a:extLst>
          </p:cNvPr>
          <p:cNvSpPr>
            <a:spLocks noGrp="1"/>
          </p:cNvSpPr>
          <p:nvPr/>
        </p:nvSpPr>
        <p:spPr>
          <a:xfrm>
            <a:off x="733425" y="4657725"/>
            <a:ext cx="8048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育兒知識、prompt 及領域規則分開維護，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按實際流程建立必要邊界。</a:t>
            </a:r>
          </a:p>
        </p:txBody>
      </p:sp>
      <p:sp>
        <p:nvSpPr>
          <p:cNvPr id="13" name="growth-text-93">
            <a:extLst>
              <a:ext uri="{FF2B5EF4-FFF2-40B4-BE49-F238E27FC236}">
                <ns2:creationId id="{752AC372-A88B-4BCA-BD0E-A72BBE913287}"/>
              </a:ext>
            </a:extLst>
          </p:cNvPr>
          <p:cNvSpPr>
            <a:spLocks noGrp="1"/>
          </p:cNvSpPr>
          <p:nvPr/>
        </p:nvSpPr>
        <p:spPr>
          <a:xfrm>
            <a:off x="733425" y="5962650"/>
            <a:ext cx="92106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不預建通用插件平台或第二個領域。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af8d05f973fa4d81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8896350" y="3495675"/>
            <a:ext cx="2819400" cy="2114550"/>
          </a:xfrm>
          <a:prstGeom prst="rect">
            <a:avLst/>
          </a:prstGeom>
        </p:spPr>
      </p:pic>
    </p:spTree>
    <p:extLst>
      <p:ext uri="{BB962C8B-B14F-4D97-AF65-F5344CB8AC3E}">
        <ns5:creationId val="3129045"/>
      </p:ext>
    </p:extLst>
  </p:cSld>
</p:sld>
</file>

<file path=ppt/slides/slide13.xml><?xml version="1.0" encoding="utf-8"?>
<p:sld xmlns:a="http://schemas.openxmlformats.org/drawingml/2006/main" xmlns:asvg="http://schemas.microsoft.com/office/drawing/2016/SVG/main" xmlns:ns4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/>
          <p:cNvPicPr>
            <a:picLocks noChangeAspect="1"/>
          </p:cNvPicPr>
          <p:nvPr/>
        </p:nvPicPr>
        <p:blipFill>
          <a:blip r:embed="Rdae6cf7b4ebf466d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704850" y="866775"/>
            <a:ext cx="914400" cy="914400"/>
          </a:xfrm>
          <a:prstGeom prst="rect">
            <a:avLst/>
          </a:prstGeom>
        </p:spPr>
      </p:pic>
      <p:sp>
        <p:nvSpPr>
          <p:cNvPr id="2" name="closing-text-94">
            <a:extLst>
              <a:ext uri="{FF2B5EF4-FFF2-40B4-BE49-F238E27FC236}">
                <ns4:creationId id="{A565D111-3438-46CC-B1F2-F73E1E8F8067}"/>
              </a:ext>
            </a:extLst>
          </p:cNvPr>
          <p:cNvSpPr>
            <a:spLocks noGrp="1"/>
          </p:cNvSpPr>
          <p:nvPr/>
        </p:nvSpPr>
        <p:spPr>
          <a:xfrm>
            <a:off x="1905000" y="1076325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7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育伴港</a:t>
            </a:r>
          </a:p>
        </p:txBody>
      </p:sp>
      <p:sp>
        <p:nvSpPr>
          <p:cNvPr id="3" name="closing-text-95">
            <a:extLst>
              <a:ext uri="{FF2B5EF4-FFF2-40B4-BE49-F238E27FC236}">
                <ns4:creationId id="{8AA046A0-40C6-460C-90A6-FBEC9BE909A7}"/>
              </a:ext>
            </a:extLst>
          </p:cNvPr>
          <p:cNvSpPr>
            <a:spLocks noGrp="1"/>
          </p:cNvSpPr>
          <p:nvPr/>
        </p:nvSpPr>
        <p:spPr>
          <a:xfrm>
            <a:off x="714375" y="2505075"/>
            <a:ext cx="1076325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在家長還不知道要問甚麼之前，</a:t>
            </a:r>
          </a:p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一起發現下一件值得處理的事。</a:t>
            </a:r>
          </a:p>
        </p:txBody>
      </p:sp>
      <p:sp>
        <p:nvSpPr>
          <p:cNvPr id="4" name="closing-text-96">
            <a:extLst>
              <a:ext uri="{FF2B5EF4-FFF2-40B4-BE49-F238E27FC236}">
                <ns4:creationId id="{AF119660-8B1E-4799-B3CE-B9F3786C072D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6381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175" b="0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值得記 · 值得問 · 值得跟進</a:t>
            </a:r>
          </a:p>
        </p:txBody>
      </p:sp>
      <p:sp>
        <p:nvSpPr>
          <p:cNvPr id="5" name="closing-text-97">
            <a:extLst>
              <a:ext uri="{FF2B5EF4-FFF2-40B4-BE49-F238E27FC236}">
                <ns4:creationId id="{08BC79CE-BD45-47BA-8EAC-BF7411A6DEAD}"/>
              </a:ext>
            </a:extLst>
          </p:cNvPr>
          <p:cNvSpPr>
            <a:spLocks noGrp="1"/>
          </p:cNvSpPr>
          <p:nvPr/>
        </p:nvSpPr>
        <p:spPr>
          <a:xfrm>
            <a:off x="752475" y="5810250"/>
            <a:ext cx="8620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Demo 連結待提供</a:t>
            </a:r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 r:embed="R53986193d2ce4dbb">
            <a:extLst>
              <a:ext uri="{96DAC541-7B7A-43D3-8B79-37D633B846F1}">
                <asvg:svgBlip r:embed="rIdVector2"/>
              </a:ext>
            </a:extLst>
          </a:blip>
          <a:stretch/>
        </p:blipFill>
        <p:spPr>
          <a:xfrm>
            <a:off x="8813800" y="4552950"/>
            <a:ext cx="2746375" cy="1647825"/>
          </a:xfrm>
          <a:prstGeom prst="rect">
            <a:avLst/>
          </a:prstGeom>
        </p:spPr>
      </p:pic>
    </p:spTree>
    <p:extLst>
      <p:ext uri="{BB962C8B-B14F-4D97-AF65-F5344CB8AC3E}">
        <ns5:creationId val="657925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2026-09-22T11:30:01.4330000Z</dcterms:created>
  <dcterms:modified xsi:type="dcterms:W3CDTF">2026-09-22T11:30:01.4330000Z</dcterms:modified>
</coreProperties>
</file>