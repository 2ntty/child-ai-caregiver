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Default Extension="svg" ContentType="image/svg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ca58ca8d3d4e29" /><Relationship Type="http://schemas.openxmlformats.org/officeDocument/2006/relationships/extended-properties" Target="/docProps/app.xml" Id="Rb770f4b20f9a4e75" /><Relationship Type="http://schemas.openxmlformats.org/officeDocument/2006/relationships/officeDocument" Target="/ppt/presentation.xml" Id="R12cd6d3245bc403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cd343a0caab4a6b"/>
  </p:sldMasterIdLst>
  <p:notesMasterIdLst>
    <p:notesMasterId xmlns:r="http://schemas.openxmlformats.org/officeDocument/2006/relationships" r:id="R43558fe5604d4e2b"/>
  </p:notesMasterIdLst>
  <p:sldIdLst>
    <p:sldId xmlns:r="http://schemas.openxmlformats.org/officeDocument/2006/relationships" id="256" r:id="Rabe3ea475f7f41b3"/>
    <p:sldId xmlns:r="http://schemas.openxmlformats.org/officeDocument/2006/relationships" id="257" r:id="Rf0df8db042204bba"/>
    <p:sldId xmlns:r="http://schemas.openxmlformats.org/officeDocument/2006/relationships" id="258" r:id="R9feee7a5b16c4e2d"/>
    <p:sldId xmlns:r="http://schemas.openxmlformats.org/officeDocument/2006/relationships" id="259" r:id="Re293b6458e8444fe"/>
    <p:sldId xmlns:r="http://schemas.openxmlformats.org/officeDocument/2006/relationships" id="260" r:id="Raf3ce55e6cb242d6"/>
    <p:sldId xmlns:r="http://schemas.openxmlformats.org/officeDocument/2006/relationships" id="261" r:id="R91a4984c7e3a4bad"/>
    <p:sldId xmlns:r="http://schemas.openxmlformats.org/officeDocument/2006/relationships" id="262" r:id="R2a70f9aedfd24797"/>
    <p:sldId xmlns:r="http://schemas.openxmlformats.org/officeDocument/2006/relationships" id="263" r:id="R20ea0a0f59914ba1"/>
    <p:sldId xmlns:r="http://schemas.openxmlformats.org/officeDocument/2006/relationships" id="264" r:id="R4b4aed84d2c940bb"/>
    <p:sldId xmlns:r="http://schemas.openxmlformats.org/officeDocument/2006/relationships" id="265" r:id="R6bb17a07ad904ae5"/>
    <p:sldId xmlns:r="http://schemas.openxmlformats.org/officeDocument/2006/relationships" id="266" r:id="R08169d5a512b4e5a"/>
    <p:sldId xmlns:r="http://schemas.openxmlformats.org/officeDocument/2006/relationships" id="267" r:id="Rb75703995ead47bd"/>
    <p:sldId xmlns:r="http://schemas.openxmlformats.org/officeDocument/2006/relationships" id="268" r:id="Ree34e31c83a8456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c3f3c34e8c4dee" /><Relationship Type="http://schemas.openxmlformats.org/officeDocument/2006/relationships/slideMaster" Target="/ppt/slideMasters/slideMaster1.xml" Id="R3cd343a0caab4a6b" /><Relationship Type="http://schemas.openxmlformats.org/officeDocument/2006/relationships/notesMaster" Target="/ppt/notesMasters/notesMaster1.xml" Id="R43558fe5604d4e2b" /><Relationship Type="http://schemas.openxmlformats.org/officeDocument/2006/relationships/presProps" Target="/ppt/presProps.xml" Id="R4802751ef4a944b0" /><Relationship Type="http://schemas.openxmlformats.org/officeDocument/2006/relationships/tableStyles" Target="/ppt/tableStyles.xml" Id="Rf6dadb93695d40c8" /><Relationship Type="http://schemas.openxmlformats.org/officeDocument/2006/relationships/slide" Target="/ppt/slides/slide1.xml" Id="Rabe3ea475f7f41b3" /><Relationship Type="http://schemas.openxmlformats.org/officeDocument/2006/relationships/slide" Target="/ppt/slides/slide2.xml" Id="Rf0df8db042204bba" /><Relationship Type="http://schemas.openxmlformats.org/officeDocument/2006/relationships/slide" Target="/ppt/slides/slide3.xml" Id="R9feee7a5b16c4e2d" /><Relationship Type="http://schemas.openxmlformats.org/officeDocument/2006/relationships/slide" Target="/ppt/slides/slide4.xml" Id="Re293b6458e8444fe" /><Relationship Type="http://schemas.openxmlformats.org/officeDocument/2006/relationships/slide" Target="/ppt/slides/slide5.xml" Id="Raf3ce55e6cb242d6" /><Relationship Type="http://schemas.openxmlformats.org/officeDocument/2006/relationships/slide" Target="/ppt/slides/slide6.xml" Id="R91a4984c7e3a4bad" /><Relationship Type="http://schemas.openxmlformats.org/officeDocument/2006/relationships/slide" Target="/ppt/slides/slide7.xml" Id="R2a70f9aedfd24797" /><Relationship Type="http://schemas.openxmlformats.org/officeDocument/2006/relationships/slide" Target="/ppt/slides/slide8.xml" Id="R20ea0a0f59914ba1" /><Relationship Type="http://schemas.openxmlformats.org/officeDocument/2006/relationships/slide" Target="/ppt/slides/slide9.xml" Id="R4b4aed84d2c940bb" /><Relationship Type="http://schemas.openxmlformats.org/officeDocument/2006/relationships/slide" Target="/ppt/slides/slide10.xml" Id="R6bb17a07ad904ae5" /><Relationship Type="http://schemas.openxmlformats.org/officeDocument/2006/relationships/slide" Target="/ppt/slides/slide11.xml" Id="R08169d5a512b4e5a" /><Relationship Type="http://schemas.openxmlformats.org/officeDocument/2006/relationships/slide" Target="/ppt/slides/slide12.xml" Id="Rb75703995ead47bd" /><Relationship Type="http://schemas.openxmlformats.org/officeDocument/2006/relationships/slide" Target="/ppt/slides/slide13.xml" Id="Ree34e31c83a8456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d45bcbf7b14a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1bffd7134f460a" /><Relationship Type="http://schemas.openxmlformats.org/officeDocument/2006/relationships/notesMaster" Target="/ppt/notesMasters/notesMaster1.xml" Id="Rbd3a93d895264df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35241ffdbb4752" /><Relationship Type="http://schemas.openxmlformats.org/officeDocument/2006/relationships/notesMaster" Target="/ppt/notesMasters/notesMaster1.xml" Id="R552ae6d894ea4d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0250fa9f3842b0" /><Relationship Type="http://schemas.openxmlformats.org/officeDocument/2006/relationships/notesMaster" Target="/ppt/notesMasters/notesMaster1.xml" Id="R3c80b61e00a243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7901d5898a049e8" /><Relationship Type="http://schemas.openxmlformats.org/officeDocument/2006/relationships/notesMaster" Target="/ppt/notesMasters/notesMaster1.xml" Id="R63f16d411dce43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0515a8f33e842a3" /><Relationship Type="http://schemas.openxmlformats.org/officeDocument/2006/relationships/notesMaster" Target="/ppt/notesMasters/notesMaster1.xml" Id="R5d7c5a0fefa849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382e3f8209428c" /><Relationship Type="http://schemas.openxmlformats.org/officeDocument/2006/relationships/notesMaster" Target="/ppt/notesMasters/notesMaster1.xml" Id="R40cea4fcdf9348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8a5f2ea3b447b7" /><Relationship Type="http://schemas.openxmlformats.org/officeDocument/2006/relationships/notesMaster" Target="/ppt/notesMasters/notesMaster1.xml" Id="Rb39c7378217845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8adc176e2dc47d0" /><Relationship Type="http://schemas.openxmlformats.org/officeDocument/2006/relationships/notesMaster" Target="/ppt/notesMasters/notesMaster1.xml" Id="R023dec85b28d43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96b9ae162747d6" /><Relationship Type="http://schemas.openxmlformats.org/officeDocument/2006/relationships/notesMaster" Target="/ppt/notesMasters/notesMaster1.xml" Id="Rd8db5d00a9854c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e9ba6c7df16406a" /><Relationship Type="http://schemas.openxmlformats.org/officeDocument/2006/relationships/notesMaster" Target="/ppt/notesMasters/notesMaster1.xml" Id="R3705b51ffcde430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5c5ecb36234101" /><Relationship Type="http://schemas.openxmlformats.org/officeDocument/2006/relationships/notesMaster" Target="/ppt/notesMasters/notesMaster1.xml" Id="R4e0870bfd83d4ac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b49417b92fb4690" /><Relationship Type="http://schemas.openxmlformats.org/officeDocument/2006/relationships/notesMaster" Target="/ppt/notesMasters/notesMaster1.xml" Id="R6a5e648572c247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801745a101498a" /><Relationship Type="http://schemas.openxmlformats.org/officeDocument/2006/relationships/notesMaster" Target="/ppt/notesMasters/notesMaster1.xml" Id="Rcf3b12512172404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核心主張：不只是回答家長的問題，而是主動發現下一件值得處理的事。這是一份產品方向及分階段設計簡報，實現現況集中於『當前進度』頁。沒有成效、用戶數量或市場領先聲稱。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SPEC.md#section-1-1</a:t>
            </a:r>
          </a:p>
          <a:p xmlns:a="http://schemas.openxmlformats.org/drawingml/2006/main">
            <a:r>
              <a:t>SPEC.md#section-1-2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待驗證的使用者問題：忙碌時不方便逐項填寫、不知道甚麼值得記或問、聊天和照片分散、多位照顧者交接遺漏、AI 失去歷史。這些是需求描述，不是已完成用戶研究或量化成效。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SPEC.md#section-1-1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產品以四個年齡段組織資料及入口。四段的短句只是日常情境例子，不是醫療里程碑或適用所有孩子的發展標準。不可直接把嬰兒規則套用至其他年齡。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SPEC.md#section-1-2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由事件或到期工作觸發，不持續空轉呼叫模型。理解情境、發現缺項、必要時補問，先确认資料和預先授權範圍。授權內可自動執行，每次仍核對當前權限、任務終態及既有投遞。超出範圍才要求新確認；撤權、取消、完成後停止後續動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docs/ARCHITECTURE.md#section-3-5</a:t>
            </a:r>
          </a:p>
          <a:p xmlns:a="http://schemas.openxmlformats.org/drawingml/2006/main">
            <a:r>
              <a:t>docs/ARCHITECTURE.md#section-5-5</a:t>
            </a:r>
          </a:p>
          <a:p xmlns:a="http://schemas.openxmlformats.org/drawingml/2006/main">
            <a:r>
              <a:t>SPEC.md#section-1-6</a:t>
            </a:r>
          </a:p>
          <a:p xmlns:a="http://schemas.openxmlformats.org/drawingml/2006/main">
            <a:r>
              <a:t>階段：P2；已確認設計／規劃，不代表已實現。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展示未來完整旅程，並以階段標籤區分：P1 登入、孩子、文字記錄、Server 保存及原始聊天；P2 歷史記憶、主動發現及授權協作；P3 完整跨端家庭交接；P4 一頁摘要、趨勢及 PDF。沒有真產品截圖或真實家庭資料。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PLAN.md#phases</a:t>
            </a:r>
          </a:p>
          <a:p xmlns:a="http://schemas.openxmlformats.org/drawingml/2006/main">
            <a:r>
              <a:t>SPEC.md#staged-delivery</a:t>
            </a:r>
          </a:p>
          <a:p xmlns:a="http://schemas.openxmlformats.org/drawingml/2006/main">
            <a:r>
              <a:t>階段：P1–P4；已確認設計／規劃，不代表已實現。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不讓模型繞過 Server 的工具校驗和權限檢查。保存、計數、重複檢查、排程及任務狀態由程式處理。外部內容是不可信输入，不能直接變成家庭事實或執行授權。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docs/ARCHITECTURE.md#section-3-1</a:t>
            </a:r>
          </a:p>
          <a:p xmlns:a="http://schemas.openxmlformats.org/drawingml/2006/main">
            <a:r>
              <a:t>docs/ARCHITECTURE.md#section-3-5</a:t>
            </a:r>
          </a:p>
          <a:p xmlns:a="http://schemas.openxmlformats.org/drawingml/2006/main">
            <a:r>
              <a:t>階段：P2；已確認設計／規劃，不代表已實現。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這是已確認架構設計，非運行系統畫面。Web／Android 為在線客戶端，Server 是唯一業務資料權威，PostgreSQL 保存資料。Better Auth、Gemini 接入、Server worker、Knowledge 及通知 adapter 位於 Server 側。沒有手機 SQLite／瀏覽器 IndexedDB 業務主庫、離線 outbox 或 Client Agent。P4 的 Server 搬遷保持單主。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docs/ARCHITECTURE.md#section-3-1</a:t>
            </a:r>
          </a:p>
          <a:p xmlns:a="http://schemas.openxmlformats.org/drawingml/2006/main">
            <a:r>
              <a:t>docs/DECISIONS.md#adr-008</a:t>
            </a:r>
          </a:p>
          <a:p xmlns:a="http://schemas.openxmlformats.org/drawingml/2006/main">
            <a:r>
              <a:t>PLAN.md#phases</a:t>
            </a:r>
          </a:p>
          <a:p xmlns:a="http://schemas.openxmlformats.org/drawingml/2006/main">
            <a:r>
              <a:t>階段：P1–P4；已確認設計／規劃，不代表已實現。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資料確認與持久保存確認不同。AI 草稿須經校驗及必要確認，再由 Server 確認寫入。一般育兒指引與近期資訊分開，引用應支持說法。外部資料不等於政府個人病歷接口，亦不代表政府認可。網絡或 AI 失敗時保留當前輸入，結果未知先查核原操作，不盲目重發。可追溯流程另見 assets/diagrams/traceability.svg。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SPEC.md#section-1-5</a:t>
            </a:r>
          </a:p>
          <a:p xmlns:a="http://schemas.openxmlformats.org/drawingml/2006/main">
            <a:r>
              <a:t>SPEC.md#section-4-7</a:t>
            </a:r>
          </a:p>
          <a:p xmlns:a="http://schemas.openxmlformats.org/drawingml/2006/main">
            <a:r>
              <a:t>SPEC.md#knowledge-freshness</a:t>
            </a:r>
          </a:p>
          <a:p xmlns:a="http://schemas.openxmlformats.org/drawingml/2006/main">
            <a:r>
              <a:t>SPEC.md#ac-server-agent</a:t>
            </a:r>
          </a:p>
          <a:p xmlns:a="http://schemas.openxmlformats.org/drawingml/2006/main">
            <a:r>
              <a:t>階段：P1–P4；已確認設計／規劃，不代表已實現。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P1 的門檻包括登入隔離、Server 保存、文字記錄與聊天、真 Gemini、加密及最小備份還原、組員可獨立試玩的 URL。P2 是比賽主要目標：家庭權限、長期記憶、照片、官方知識與近期資訊、主動任務、Web Push、Telegram 及授權 fallback。P3 交付 Android／FCM／語音相機及完整交接。P4 包含自選相容 Server、Windows Docker Compose、配對、完整 Knowledge、分享／趨勢／PDF、搬遷、災備及 rollback。P5 不承接任何未完成必要能力。沒有承諾六週完成。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PLAN.md#phases</a:t>
            </a:r>
          </a:p>
          <a:p xmlns:a="http://schemas.openxmlformats.org/drawingml/2006/main">
            <a:r>
              <a:t>SPEC.md#staged-delivery</a:t>
            </a:r>
          </a:p>
          <a:p xmlns:a="http://schemas.openxmlformats.org/drawingml/2006/main">
            <a:r>
              <a:t>階段：P1–P5；已確認設計／規劃，不代表已實現。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本頁所有進度陳述來自 project-status.json。只反映已合併基線，不自動納入其他 worktree 或尚未合併分支。已確認設計、已實現、已驗證及已完成必須分開。視覺資產完成不代表 P1 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STATUS.md</a:t>
            </a:r>
          </a:p>
          <a:p xmlns:a="http://schemas.openxmlformats.org/drawingml/2006/main">
            <a:r>
              <a:t>PLAN.md#verification</a:t>
            </a:r>
          </a:p>
          <a:p xmlns:a="http://schemas.openxmlformats.org/drawingml/2006/main">
            <a:r>
              <a:t>artifacts/verification/S02_W01_CHECKS.json</a:t>
            </a:r>
          </a:p>
          <a:p xmlns:a="http://schemas.openxmlformats.org/drawingml/2006/main">
            <a:r>
              <a:t>驗證陳述引用既有 S02 證據，本視覺工作包沒有重跑產品測試。</a:t>
            </a:r>
          </a:p>
          <a:p xmlns:a="http://schemas.openxmlformats.org/drawingml/2006/main">
            <a:r>
              <a:t>查核基線：9d18bc7e5ffd387b013ae3a3e186d6a73c03275d</a:t>
            </a:r>
          </a:p>
          <a:p xmlns:a="http://schemas.openxmlformats.org/drawingml/2006/main">
            <a:r>
              <a:t>artifacts/verification/S02_W01_CHECKS.json</a:t>
            </a:r>
          </a:p>
          <a:p xmlns:a="http://schemas.openxmlformats.org/drawingml/2006/main">
            <a:r>
              <a:t>Git merge PR #8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所有空白槽均是明示的 screenshot 預留，不是假冒產品介面。替換截圖須記錄來源基線和真實流程狀態，只使用合成資料。即使有 screenshot，也不能單憑畫面宣稱持久保存或 Agent 實際運行。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PLAN.md#phases</a:t>
            </a:r>
          </a:p>
          <a:p xmlns:a="http://schemas.openxmlformats.org/drawingml/2006/main">
            <a:r>
              <a:t>SPEC.md#section-10-1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這裏說明已確認的設計邊界及未來演進方向，不宣稱共享能力已全部實現。記憶、任务、工具、來源與通知按需要建立，Web／Android 共用業務規則，平台 adapter 保持薄身。未來可調整育兒知識、prompt及規則，但當前只做育伴港，沒有第二主題或動態插件平台。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docs/ARCHITECTURE.md#section-3-1</a:t>
            </a:r>
          </a:p>
          <a:p xmlns:a="http://schemas.openxmlformats.org/drawingml/2006/main">
            <a:r>
              <a:t>PLAN.md#phases</a:t>
            </a:r>
          </a:p>
          <a:p xmlns:a="http://schemas.openxmlformats.org/drawingml/2006/main">
            <a:r>
              <a:t>階段：P2–P4；已確認設計／規劃，不代表已實現。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結語重申產品願景，不宣稱 AI 自動照顧孩子或保證健康。所有能力依五階段驗收落地，實現現況以獨立 status snapshot 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來源：</a:t>
            </a:r>
          </a:p>
          <a:p xmlns:a="http://schemas.openxmlformats.org/drawingml/2006/main">
            <a:r>
              <a:t>SPEC.md#section-1-1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b19c517bce45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62b54193aa48ec" /><Relationship Type="http://schemas.openxmlformats.org/officeDocument/2006/relationships/slideLayout" Target="/ppt/slideLayouts/slideLayout1.xml" Id="Rb98960361ad242e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98960361ad242e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92b467d188f941c2" /><rel:Relationship Type="http://schemas.openxmlformats.org/officeDocument/2006/relationships/image" Target="/ppt/media/image.png" Id="R916854189adb408f" /><rel:Relationship Type="http://schemas.openxmlformats.org/officeDocument/2006/relationships/notesSlide" Target="/ppt/notesSlides/notesSlide1.xml" Id="R769e5e725eec479a" /><rel:Relationship Id="rIdVector1" Type="http://schemas.openxmlformats.org/officeDocument/2006/relationships/image" Target="../media/visual-56966f3cdeb3f0446d4b.svg" /></rel:Relationships>
</file>

<file path=ppt/slides/_rels/slide2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5ed7a8415aef49fb" /><rel:Relationship Type="http://schemas.openxmlformats.org/officeDocument/2006/relationships/image" Target="/ppt/media/image2.png" Id="R9e9a56db03fa4849" /><rel:Relationship Type="http://schemas.openxmlformats.org/officeDocument/2006/relationships/notesSlide" Target="/ppt/notesSlides/notesSlide2.xml" Id="R9be1810ec4f1471a" /><rel:Relationship Id="rIdVector1" Type="http://schemas.openxmlformats.org/officeDocument/2006/relationships/image" Target="../media/visual-7d9b4ae73a5a554003eb.svg" /></rel:Relationships>
</file>

<file path=ppt/slides/_rels/slide3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b72bb6f48d254753" /><rel:Relationship Type="http://schemas.openxmlformats.org/officeDocument/2006/relationships/image" Target="/ppt/media/image3.png" Id="R88849a67c3404311" /><rel:Relationship Type="http://schemas.openxmlformats.org/officeDocument/2006/relationships/notesSlide" Target="/ppt/notesSlides/notesSlide3.xml" Id="Rc7b303a47d7f4561" /><rel:Relationship Id="rIdVector1" Type="http://schemas.openxmlformats.org/officeDocument/2006/relationships/image" Target="../media/visual-49e6c2e21a77df0690c4.svg" /></rel:Relationships>
</file>

<file path=ppt/slides/_rels/slide4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2a62e1e8917e4649" /><rel:Relationship Type="http://schemas.openxmlformats.org/officeDocument/2006/relationships/image" Target="/ppt/media/image4.png" Id="R9da5a8696f284a26" /><rel:Relationship Type="http://schemas.openxmlformats.org/officeDocument/2006/relationships/notesSlide" Target="/ppt/notesSlides/notesSlide4.xml" Id="Rba9c7e9a7b4d41bd" /><rel:Relationship Id="rIdVector1" Type="http://schemas.openxmlformats.org/officeDocument/2006/relationships/image" Target="../media/visual-1923d3b1d757a9de413a.svg" /></rel:Relationships>
</file>

<file path=ppt/slides/_rels/slide5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82d7d965cbe4457e" /><rel:Relationship Type="http://schemas.openxmlformats.org/officeDocument/2006/relationships/image" Target="/ppt/media/image5.png" Id="R1a385bbd50dd4e04" /><rel:Relationship Type="http://schemas.openxmlformats.org/officeDocument/2006/relationships/notesSlide" Target="/ppt/notesSlides/notesSlide5.xml" Id="R3e7a377e490a4803" /><rel:Relationship Id="rIdVector1" Type="http://schemas.openxmlformats.org/officeDocument/2006/relationships/image" Target="../media/visual-135f0c8dbbe4c5e2eba3.svg" /></rel:Relationships>
</file>

<file path=ppt/slides/_rels/slide6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cbacb8b3319c49ef" /><rel:Relationship Type="http://schemas.openxmlformats.org/officeDocument/2006/relationships/image" Target="/ppt/media/image6.png" Id="R47adb9f83a4846df" /><rel:Relationship Type="http://schemas.openxmlformats.org/officeDocument/2006/relationships/notesSlide" Target="/ppt/notesSlides/notesSlide6.xml" Id="Rd17c53d1ea1d4d9a" /><rel:Relationship Id="rIdVector1" Type="http://schemas.openxmlformats.org/officeDocument/2006/relationships/image" Target="../media/visual-0e28f31a6a512d4ffaee.svg" /></rel:Relationships>
</file>

<file path=ppt/slides/_rels/slide7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5582e4a0210d4be6" /><rel:Relationship Type="http://schemas.openxmlformats.org/officeDocument/2006/relationships/image" Target="/ppt/media/image7.png" Id="R9aa1c5c320b7463d" /><rel:Relationship Type="http://schemas.openxmlformats.org/officeDocument/2006/relationships/notesSlide" Target="/ppt/notesSlides/notesSlide7.xml" Id="R8d6313b674cc4b76" /><rel:Relationship Id="rIdVector1" Type="http://schemas.openxmlformats.org/officeDocument/2006/relationships/image" Target="../media/visual-83c4862530f7dbe5ff46.svg" /></rel:Relationships>
</file>

<file path=ppt/slides/_rels/slide8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89c47a68e1f24e06" /><rel:Relationship Type="http://schemas.openxmlformats.org/officeDocument/2006/relationships/image" Target="/ppt/media/image8.png" Id="Rebbe0afa86f34222" /><rel:Relationship Type="http://schemas.openxmlformats.org/officeDocument/2006/relationships/notesSlide" Target="/ppt/notesSlides/notesSlide8.xml" Id="Rec926499d0a845dd" /><rel:Relationship Id="rIdVector1" Type="http://schemas.openxmlformats.org/officeDocument/2006/relationships/image" Target="../media/visual-9896a5c23b75626bb9ea.svg" /></rel:Relationships>
</file>

<file path=ppt/slides/_rels/slide9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0bd5f6ca57ac4a37" /><rel:Relationship Type="http://schemas.openxmlformats.org/officeDocument/2006/relationships/image" Target="/ppt/media/image9.png" Id="R3c02458908294853" /><rel:Relationship Type="http://schemas.openxmlformats.org/officeDocument/2006/relationships/notesSlide" Target="/ppt/notesSlides/notesSlide9.xml" Id="R5a5020cd37a040ea" /><rel:Relationship Id="rIdVector1" Type="http://schemas.openxmlformats.org/officeDocument/2006/relationships/image" Target="../media/visual-f7055caa7292ec5394ee.svg" /></rel: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f363f0f3aa439f" /><Relationship Type="http://schemas.openxmlformats.org/officeDocument/2006/relationships/notesSlide" Target="/ppt/notesSlides/notesSlide10.xml" Id="R5528ed3ae86b4d3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507421d6b49f9" /><Relationship Type="http://schemas.openxmlformats.org/officeDocument/2006/relationships/notesSlide" Target="/ppt/notesSlides/notesSlide11.xml" Id="R797c6d9588f244ba" /></Relationships>
</file>

<file path=ppt/slides/_rels/slide12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86262ba91a5d4c8d" /><rel:Relationship Type="http://schemas.openxmlformats.org/officeDocument/2006/relationships/image" Target="/ppt/media/image10.png" Id="Rd57adb5a29fe40f2" /><rel:Relationship Type="http://schemas.openxmlformats.org/officeDocument/2006/relationships/notesSlide" Target="/ppt/notesSlides/notesSlide12.xml" Id="Re28da37eea5747f2" /><rel:Relationship Id="rIdVector1" Type="http://schemas.openxmlformats.org/officeDocument/2006/relationships/image" Target="../media/visual-c0324e502b0d1757db61.svg" /></rel:Relationships>
</file>

<file path=ppt/slides/_rels/slide13.xml.rels><?xml version='1.0' encoding='utf-8'?>
<rel:Relationships xmlns:rel="http://schemas.openxmlformats.org/package/2006/relationships"><rel:Relationship Type="http://schemas.openxmlformats.org/officeDocument/2006/relationships/slideLayout" Target="/ppt/slideLayouts/slideLayout1.xml" Id="Rc888e432118143c6" /><rel:Relationship Type="http://schemas.openxmlformats.org/officeDocument/2006/relationships/image" Target="/ppt/media/image11.png" Id="R6e34a01ce4da4957" /><rel:Relationship Type="http://schemas.openxmlformats.org/officeDocument/2006/relationships/image" Target="/ppt/media/image12.png" Id="R07d32eada7e04aac" /><rel:Relationship Type="http://schemas.openxmlformats.org/officeDocument/2006/relationships/notesSlide" Target="/ppt/notesSlides/notesSlide13.xml" Id="Rec26f6857db44330" /><rel:Relationship Id="rIdVector1" Type="http://schemas.openxmlformats.org/officeDocument/2006/relationships/image" Target="../media/visual-441d16f8f2ace93082e0.svg" /><rel:Relationship Id="rIdVector2" Type="http://schemas.openxmlformats.org/officeDocument/2006/relationships/image" Target="../media/visual-56966f3cdeb3f0446d4b.svg" /></rel:Relationships>
</file>

<file path=ppt/slides/slide1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6" name="cover-text-0">
            <a:extLst>
              <a:ext uri="{FF2B5EF4-FFF2-40B4-BE49-F238E27FC236}">
                <ns2:creationId id="{2192A5AF-85A1-46BF-BF38-33729BAAE1D2}"/>
              </a:ext>
            </a:extLst>
          </p:cNvPr>
          <p:cNvSpPr>
            <a:spLocks noGrp="1"/>
          </p:cNvSpPr>
          <p:nvPr/>
        </p:nvSpPr>
        <p:spPr>
          <a:xfrm>
            <a:off x="685800" y="895350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主動式 AI 照護協作助手</a:t>
            </a:r>
          </a:p>
        </p:txBody>
      </p:sp>
      <p:sp>
        <p:nvSpPr>
          <p:cNvPr id="2" name="cover-text-1">
            <a:extLst>
              <a:ext uri="{FF2B5EF4-FFF2-40B4-BE49-F238E27FC236}">
                <ns2:creationId id="{A556C7B5-BB39-4D41-A09D-68A7B57D84E8}"/>
              </a:ext>
            </a:extLst>
          </p:cNvPr>
          <p:cNvSpPr>
            <a:spLocks noGrp="1"/>
          </p:cNvSpPr>
          <p:nvPr/>
        </p:nvSpPr>
        <p:spPr>
          <a:xfrm>
            <a:off x="647700" y="1638300"/>
            <a:ext cx="49530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5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育伴港</a:t>
            </a:r>
          </a:p>
        </p:txBody>
      </p:sp>
      <p:sp>
        <p:nvSpPr>
          <p:cNvPr id="3" name="cover-text-2">
            <a:extLst>
              <a:ext uri="{FF2B5EF4-FFF2-40B4-BE49-F238E27FC236}">
                <ns2:creationId id="{C568BB1C-AB7A-469A-908D-C339079D7AAB}"/>
              </a:ext>
            </a:extLst>
          </p:cNvPr>
          <p:cNvSpPr>
            <a:spLocks noGrp="1"/>
          </p:cNvSpPr>
          <p:nvPr/>
        </p:nvSpPr>
        <p:spPr>
          <a:xfrm>
            <a:off x="685800" y="2952750"/>
            <a:ext cx="5619750" cy="1371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陪家長發現</a:t>
            </a:r>
          </a:p>
          <a:p>
            <a:pPr algn="l">
              <a:lnSpc>
                <a:spcPct val="118000"/>
              </a:lnSpc>
              <a:buNone/>
              <a:defRPr sz="2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下一件值得處理的事</a:t>
            </a:r>
          </a:p>
        </p:txBody>
      </p:sp>
      <p:sp>
        <p:nvSpPr>
          <p:cNvPr id="4" name="cover-text-3">
            <a:extLst>
              <a:ext uri="{FF2B5EF4-FFF2-40B4-BE49-F238E27FC236}">
                <ns2:creationId id="{79250E82-C679-4D7D-85E8-29107CD09C1A}"/>
              </a:ext>
            </a:extLst>
          </p:cNvPr>
          <p:cNvSpPr>
            <a:spLocks noGrp="1"/>
          </p:cNvSpPr>
          <p:nvPr/>
        </p:nvSpPr>
        <p:spPr>
          <a:xfrm>
            <a:off x="704850" y="5391150"/>
            <a:ext cx="5715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香港家庭成年照顧者 · 0–10 歲</a:t>
            </a:r>
          </a:p>
        </p:txBody>
      </p:sp>
      <p:pic>
        <p:nvPicPr>
          <p:cNvPr id="10" name=""/>
          <p:cNvPicPr>
            <a:picLocks noChangeAspect="1"/>
          </p:cNvPicPr>
          <p:nvPr/>
        </p:nvPicPr>
        <p:blipFill>
          <a:blip r:embed="R916854189adb408f">
            <a:extLst>
              <a:ext uri="{96DAC541-7B7A-43D3-8B79-37D633B846F1}">
                <asvg:svgBlip r:embed="rIdVector1"/>
              </a:ext>
            </a:extLst>
          </a:blip>
          <a:stretch/>
        </p:blipFill>
        <p:spPr>
          <a:xfrm>
            <a:off x="6000750" y="1604962"/>
            <a:ext cx="5905500" cy="3543300"/>
          </a:xfrm>
          <a:prstGeom prst="rect">
            <a:avLst/>
          </a:prstGeom>
        </p:spPr>
      </p:pic>
    </p:spTree>
    <p:extLst>
      <p:ext uri="{BB962C8B-B14F-4D97-AF65-F5344CB8AC3E}">
        <ns5:creationId val="1991816458"/>
      </p:ext>
    </p:extLst>
  </p:cSld>
</p:sld>
</file>

<file path=ppt/slides/slide2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" name="problem-text-4">
            <a:extLst>
              <a:ext uri="{FF2B5EF4-FFF2-40B4-BE49-F238E27FC236}">
                <ns2:creationId id="{B8DBC50A-5725-425E-850C-80C87E6BC41F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家長未必知道甚麼值得問</a:t>
            </a:r>
          </a:p>
        </p:txBody>
      </p:sp>
      <p:pic>
        <p:nvPicPr>
          <p:cNvPr id="4" name=""/>
          <p:cNvPicPr>
            <a:picLocks noChangeAspect="1"/>
          </p:cNvPicPr>
          <p:nvPr/>
        </p:nvPicPr>
        <p:blipFill>
          <a:blip r:embed="R9e9a56db03fa4849">
            <a:extLst>
              <a:ext uri="{96DAC541-7B7A-43D3-8B79-37D633B846F1}">
                <asvg:svgBlip r:embed="rIdVector1"/>
              </a:ext>
            </a:extLst>
          </a:blip>
          <a:stretch/>
        </p:blipFill>
        <p:spPr>
          <a:xfrm>
            <a:off x="1778000" y="1304925"/>
            <a:ext cx="8636000" cy="5181600"/>
          </a:xfrm>
          <a:prstGeom prst="rect">
            <a:avLst/>
          </a:prstGeom>
        </p:spPr>
      </p:pic>
    </p:spTree>
    <p:extLst>
      <p:ext uri="{BB962C8B-B14F-4D97-AF65-F5344CB8AC3E}">
        <ns5:creationId val="781125855"/>
      </p:ext>
    </p:extLst>
  </p:cSld>
</p:sld>
</file>

<file path=ppt/slides/slide3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1" name="audience-text-5">
            <a:extLst>
              <a:ext uri="{FF2B5EF4-FFF2-40B4-BE49-F238E27FC236}">
                <ns2:creationId id="{989F66BD-5472-4220-BBBE-7E9437F910AF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陪伴 0–10 歲的不同成長階段</a:t>
            </a:r>
          </a:p>
        </p:txBody>
      </p:sp>
      <p:sp>
        <p:nvSpPr>
          <p:cNvPr id="2" name="">
            <a:extLst>
              <a:ext uri="{FF2B5EF4-FFF2-40B4-BE49-F238E27FC236}">
                <ns2:creationId id="{37FF397C-FC45-4218-A26D-4EB9CC9FFDA6}"/>
              </a:ext>
            </a:extLst>
          </p:cNvPr>
          <p:cNvSpPr>
            <a:spLocks noGrp="1"/>
          </p:cNvSpPr>
          <p:nvPr/>
        </p:nvSpPr>
        <p:spPr>
          <a:xfrm>
            <a:off x="685800" y="1952625"/>
            <a:ext cx="2343150" cy="38100"/>
          </a:xfrm>
          <a:prstGeom prst="rect">
            <a:avLst/>
          </a:prstGeom>
          <a:solidFill>
            <a:srgbClr val="287568"/>
          </a:solidFill>
          <a:ln w="0">
            <a:noFill/>
          </a:ln>
        </p:spPr>
      </p:sp>
      <p:sp>
        <p:nvSpPr>
          <p:cNvPr id="3" name="audience-text-6">
            <a:extLst>
              <a:ext uri="{FF2B5EF4-FFF2-40B4-BE49-F238E27FC236}">
                <ns2:creationId id="{22320270-CD1B-480A-88E9-D1E238F38FED}"/>
              </a:ext>
            </a:extLst>
          </p:cNvPr>
          <p:cNvSpPr>
            <a:spLocks noGrp="1"/>
          </p:cNvSpPr>
          <p:nvPr/>
        </p:nvSpPr>
        <p:spPr>
          <a:xfrm>
            <a:off x="685800" y="2247900"/>
            <a:ext cx="1714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0–1</a:t>
            </a:r>
          </a:p>
        </p:txBody>
      </p:sp>
      <p:sp>
        <p:nvSpPr>
          <p:cNvPr id="4" name="audience-text-7">
            <a:extLst>
              <a:ext uri="{FF2B5EF4-FFF2-40B4-BE49-F238E27FC236}">
                <ns2:creationId id="{2AA5327C-C648-40DD-B0FB-8FC0FC21403A}"/>
              </a:ext>
            </a:extLst>
          </p:cNvPr>
          <p:cNvSpPr>
            <a:spLocks noGrp="1"/>
          </p:cNvSpPr>
          <p:nvPr/>
        </p:nvSpPr>
        <p:spPr>
          <a:xfrm>
            <a:off x="2438400" y="2457450"/>
            <a:ext cx="533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歲</a:t>
            </a:r>
          </a:p>
        </p:txBody>
      </p:sp>
      <p:sp>
        <p:nvSpPr>
          <p:cNvPr id="5" name="audience-text-8">
            <a:extLst>
              <a:ext uri="{FF2B5EF4-FFF2-40B4-BE49-F238E27FC236}">
                <ns2:creationId id="{CE30BD7B-2F75-4C80-B4F0-613F9FFA6DC3}"/>
              </a:ext>
            </a:extLst>
          </p:cNvPr>
          <p:cNvSpPr>
            <a:spLocks noGrp="1"/>
          </p:cNvSpPr>
          <p:nvPr/>
        </p:nvSpPr>
        <p:spPr>
          <a:xfrm>
            <a:off x="685800" y="3105150"/>
            <a:ext cx="2476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日常照顧記錄</a:t>
            </a:r>
          </a:p>
        </p:txBody>
      </p:sp>
      <p:sp>
        <p:nvSpPr>
          <p:cNvPr id="6" name="">
            <a:extLst>
              <a:ext uri="{FF2B5EF4-FFF2-40B4-BE49-F238E27FC236}">
                <ns2:creationId id="{FE4E4323-413C-4FBC-8E0F-3682BCEAA9EF}"/>
              </a:ext>
            </a:extLst>
          </p:cNvPr>
          <p:cNvSpPr>
            <a:spLocks noGrp="1"/>
          </p:cNvSpPr>
          <p:nvPr/>
        </p:nvSpPr>
        <p:spPr>
          <a:xfrm>
            <a:off x="3505200" y="1952625"/>
            <a:ext cx="2343150" cy="38100"/>
          </a:xfrm>
          <a:prstGeom prst="rect">
            <a:avLst/>
          </a:prstGeom>
          <a:solidFill>
            <a:srgbClr val="D99A3D"/>
          </a:solidFill>
          <a:ln w="0">
            <a:noFill/>
          </a:ln>
        </p:spPr>
      </p:sp>
      <p:sp>
        <p:nvSpPr>
          <p:cNvPr id="7" name="audience-text-9">
            <a:extLst>
              <a:ext uri="{FF2B5EF4-FFF2-40B4-BE49-F238E27FC236}">
                <ns2:creationId id="{5CE89BC6-51A9-4AA9-89C0-CA1A8C96A828}"/>
              </a:ext>
            </a:extLst>
          </p:cNvPr>
          <p:cNvSpPr>
            <a:spLocks noGrp="1"/>
          </p:cNvSpPr>
          <p:nvPr/>
        </p:nvSpPr>
        <p:spPr>
          <a:xfrm>
            <a:off x="3505200" y="2247900"/>
            <a:ext cx="1714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1–3</a:t>
            </a:r>
          </a:p>
        </p:txBody>
      </p:sp>
      <p:sp>
        <p:nvSpPr>
          <p:cNvPr id="8" name="audience-text-10">
            <a:extLst>
              <a:ext uri="{FF2B5EF4-FFF2-40B4-BE49-F238E27FC236}">
                <ns2:creationId id="{8A2AF448-CE17-4B0C-8F1C-62EBFF648E17}"/>
              </a:ext>
            </a:extLst>
          </p:cNvPr>
          <p:cNvSpPr>
            <a:spLocks noGrp="1"/>
          </p:cNvSpPr>
          <p:nvPr/>
        </p:nvSpPr>
        <p:spPr>
          <a:xfrm>
            <a:off x="5257800" y="2457450"/>
            <a:ext cx="533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歲</a:t>
            </a:r>
          </a:p>
        </p:txBody>
      </p:sp>
      <p:sp>
        <p:nvSpPr>
          <p:cNvPr id="9" name="audience-text-11">
            <a:extLst>
              <a:ext uri="{FF2B5EF4-FFF2-40B4-BE49-F238E27FC236}">
                <ns2:creationId id="{0DF5C629-B471-46E1-9F18-103F05E64DDA}"/>
              </a:ext>
            </a:extLst>
          </p:cNvPr>
          <p:cNvSpPr>
            <a:spLocks noGrp="1"/>
          </p:cNvSpPr>
          <p:nvPr/>
        </p:nvSpPr>
        <p:spPr>
          <a:xfrm>
            <a:off x="3505200" y="3105150"/>
            <a:ext cx="2476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生活節奏與探索</a:t>
            </a:r>
          </a:p>
        </p:txBody>
      </p:sp>
      <p:sp>
        <p:nvSpPr>
          <p:cNvPr id="10" name="">
            <a:extLst>
              <a:ext uri="{FF2B5EF4-FFF2-40B4-BE49-F238E27FC236}">
                <ns2:creationId id="{5E117B31-5D7D-4BCD-B3FD-3350A74A84DB}"/>
              </a:ext>
            </a:extLst>
          </p:cNvPr>
          <p:cNvSpPr>
            <a:spLocks noGrp="1"/>
          </p:cNvSpPr>
          <p:nvPr/>
        </p:nvSpPr>
        <p:spPr>
          <a:xfrm>
            <a:off x="6324600" y="1952625"/>
            <a:ext cx="2343150" cy="38100"/>
          </a:xfrm>
          <a:prstGeom prst="rect">
            <a:avLst/>
          </a:prstGeom>
          <a:solidFill>
            <a:srgbClr val="287568"/>
          </a:solidFill>
          <a:ln w="0">
            <a:noFill/>
          </a:ln>
        </p:spPr>
      </p:sp>
      <p:sp>
        <p:nvSpPr>
          <p:cNvPr id="11" name="audience-text-12">
            <a:extLst>
              <a:ext uri="{FF2B5EF4-FFF2-40B4-BE49-F238E27FC236}">
                <ns2:creationId id="{211DD416-4C6E-4CC8-BA92-DA98F18EE6B3}"/>
              </a:ext>
            </a:extLst>
          </p:cNvPr>
          <p:cNvSpPr>
            <a:spLocks noGrp="1"/>
          </p:cNvSpPr>
          <p:nvPr/>
        </p:nvSpPr>
        <p:spPr>
          <a:xfrm>
            <a:off x="6324600" y="2247900"/>
            <a:ext cx="1714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3–6</a:t>
            </a:r>
          </a:p>
        </p:txBody>
      </p:sp>
      <p:sp>
        <p:nvSpPr>
          <p:cNvPr id="12" name="audience-text-13">
            <a:extLst>
              <a:ext uri="{FF2B5EF4-FFF2-40B4-BE49-F238E27FC236}">
                <ns2:creationId id="{D147B053-211E-4CAE-AFE9-343E240E26E7}"/>
              </a:ext>
            </a:extLst>
          </p:cNvPr>
          <p:cNvSpPr>
            <a:spLocks noGrp="1"/>
          </p:cNvSpPr>
          <p:nvPr/>
        </p:nvSpPr>
        <p:spPr>
          <a:xfrm>
            <a:off x="8077200" y="2457450"/>
            <a:ext cx="533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歲</a:t>
            </a:r>
          </a:p>
        </p:txBody>
      </p:sp>
      <p:sp>
        <p:nvSpPr>
          <p:cNvPr id="13" name="audience-text-14">
            <a:extLst>
              <a:ext uri="{FF2B5EF4-FFF2-40B4-BE49-F238E27FC236}">
                <ns2:creationId id="{C1B791E0-715A-44E7-9089-D236FDBF77BD}"/>
              </a:ext>
            </a:extLst>
          </p:cNvPr>
          <p:cNvSpPr>
            <a:spLocks noGrp="1"/>
          </p:cNvSpPr>
          <p:nvPr/>
        </p:nvSpPr>
        <p:spPr>
          <a:xfrm>
            <a:off x="6324600" y="3105150"/>
            <a:ext cx="2476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成長與家庭協作</a:t>
            </a:r>
          </a:p>
        </p:txBody>
      </p:sp>
      <p:sp>
        <p:nvSpPr>
          <p:cNvPr id="14" name="">
            <a:extLst>
              <a:ext uri="{FF2B5EF4-FFF2-40B4-BE49-F238E27FC236}">
                <ns2:creationId id="{9030F30F-F324-46DB-A9F8-394571C0F6C2}"/>
              </a:ext>
            </a:extLst>
          </p:cNvPr>
          <p:cNvSpPr>
            <a:spLocks noGrp="1"/>
          </p:cNvSpPr>
          <p:nvPr/>
        </p:nvSpPr>
        <p:spPr>
          <a:xfrm>
            <a:off x="9144000" y="1952625"/>
            <a:ext cx="2343150" cy="38100"/>
          </a:xfrm>
          <a:prstGeom prst="rect">
            <a:avLst/>
          </a:prstGeom>
          <a:solidFill>
            <a:srgbClr val="D99A3D"/>
          </a:solidFill>
          <a:ln w="0">
            <a:noFill/>
          </a:ln>
        </p:spPr>
      </p:sp>
      <p:sp>
        <p:nvSpPr>
          <p:cNvPr id="15" name="audience-text-15">
            <a:extLst>
              <a:ext uri="{FF2B5EF4-FFF2-40B4-BE49-F238E27FC236}">
                <ns2:creationId id="{35C36B71-C6DC-4B8C-A2EF-110CCCA69809}"/>
              </a:ext>
            </a:extLst>
          </p:cNvPr>
          <p:cNvSpPr>
            <a:spLocks noGrp="1"/>
          </p:cNvSpPr>
          <p:nvPr/>
        </p:nvSpPr>
        <p:spPr>
          <a:xfrm>
            <a:off x="9144000" y="2247900"/>
            <a:ext cx="17145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6–10</a:t>
            </a:r>
          </a:p>
        </p:txBody>
      </p:sp>
      <p:sp>
        <p:nvSpPr>
          <p:cNvPr id="16" name="audience-text-16">
            <a:extLst>
              <a:ext uri="{FF2B5EF4-FFF2-40B4-BE49-F238E27FC236}">
                <ns2:creationId id="{7101AF57-589B-4B68-A55D-5CEE854BEA25}"/>
              </a:ext>
            </a:extLst>
          </p:cNvPr>
          <p:cNvSpPr>
            <a:spLocks noGrp="1"/>
          </p:cNvSpPr>
          <p:nvPr/>
        </p:nvSpPr>
        <p:spPr>
          <a:xfrm>
            <a:off x="10896600" y="2457450"/>
            <a:ext cx="533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歲</a:t>
            </a:r>
          </a:p>
        </p:txBody>
      </p:sp>
      <p:sp>
        <p:nvSpPr>
          <p:cNvPr id="17" name="audience-text-17">
            <a:extLst>
              <a:ext uri="{FF2B5EF4-FFF2-40B4-BE49-F238E27FC236}">
                <ns2:creationId id="{6A89BEF7-67E1-4C4F-815A-75DCEF122C3A}"/>
              </a:ext>
            </a:extLst>
          </p:cNvPr>
          <p:cNvSpPr>
            <a:spLocks noGrp="1"/>
          </p:cNvSpPr>
          <p:nvPr/>
        </p:nvSpPr>
        <p:spPr>
          <a:xfrm>
            <a:off x="9144000" y="3105150"/>
            <a:ext cx="2476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學校生活與交接</a:t>
            </a:r>
          </a:p>
        </p:txBody>
      </p:sp>
      <p:sp>
        <p:nvSpPr>
          <p:cNvPr id="18" name="audience-text-18">
            <a:extLst>
              <a:ext uri="{FF2B5EF4-FFF2-40B4-BE49-F238E27FC236}">
                <ns2:creationId id="{BE4D5494-8A96-4D62-8E5D-BFAD6CAA4B38}"/>
              </a:ext>
            </a:extLst>
          </p:cNvPr>
          <p:cNvSpPr>
            <a:spLocks noGrp="1"/>
          </p:cNvSpPr>
          <p:nvPr/>
        </p:nvSpPr>
        <p:spPr>
          <a:xfrm>
            <a:off x="704850" y="4191000"/>
            <a:ext cx="6286500" cy="1095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625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孩子在成長，</a:t>
            </a:r>
          </a:p>
          <a:p>
            <a:pPr algn="l">
              <a:lnSpc>
                <a:spcPct val="118000"/>
              </a:lnSpc>
              <a:buNone/>
              <a:defRPr sz="2625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照顧方式也在改變。</a:t>
            </a:r>
          </a:p>
        </p:txBody>
      </p:sp>
      <p:sp>
        <p:nvSpPr>
          <p:cNvPr id="19" name="audience-text-19">
            <a:extLst>
              <a:ext uri="{FF2B5EF4-FFF2-40B4-BE49-F238E27FC236}">
                <ns2:creationId id="{DDF44F7D-391B-4CD2-B8BF-CAC8911779A3}"/>
              </a:ext>
            </a:extLst>
          </p:cNvPr>
          <p:cNvSpPr>
            <a:spLocks noGrp="1"/>
          </p:cNvSpPr>
          <p:nvPr/>
        </p:nvSpPr>
        <p:spPr>
          <a:xfrm>
            <a:off x="714375" y="5638800"/>
            <a:ext cx="6953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家長、家人及獲授權的成年照顧者</a:t>
            </a:r>
          </a:p>
        </p:txBody>
      </p:sp>
      <p:pic>
        <p:nvPicPr>
          <p:cNvPr id="40" name=""/>
          <p:cNvPicPr>
            <a:picLocks noChangeAspect="1"/>
          </p:cNvPicPr>
          <p:nvPr/>
        </p:nvPicPr>
        <p:blipFill>
          <a:blip r:embed="R88849a67c3404311">
            <a:extLst>
              <a:ext uri="{96DAC541-7B7A-43D3-8B79-37D633B846F1}">
                <asvg:svgBlip r:embed="rIdVector1"/>
              </a:ext>
            </a:extLst>
          </a:blip>
          <a:stretch/>
        </p:blipFill>
        <p:spPr>
          <a:xfrm>
            <a:off x="7696200" y="3648075"/>
            <a:ext cx="3733800" cy="2800350"/>
          </a:xfrm>
          <a:prstGeom prst="rect">
            <a:avLst/>
          </a:prstGeom>
        </p:spPr>
      </p:pic>
    </p:spTree>
    <p:extLst>
      <p:ext uri="{BB962C8B-B14F-4D97-AF65-F5344CB8AC3E}">
        <ns5:creationId val="326788758"/>
      </p:ext>
    </p:extLst>
  </p:cSld>
</p:sld>
</file>

<file path=ppt/slides/slide4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" name="agent-text-20">
            <a:extLst>
              <a:ext uri="{FF2B5EF4-FFF2-40B4-BE49-F238E27FC236}">
                <ns2:creationId id="{3BB43D68-9296-4F83-B516-6552F0D1301D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主動協助的每一步都有邊界</a:t>
            </a:r>
          </a:p>
        </p:txBody>
      </p:sp>
      <p:sp>
        <p:nvSpPr>
          <p:cNvPr id="2" name="agent-text-21">
            <a:extLst>
              <a:ext uri="{FF2B5EF4-FFF2-40B4-BE49-F238E27FC236}">
                <ns2:creationId id="{F0370B83-C03B-467B-84F9-D961C1ED53D4}"/>
              </a:ext>
            </a:extLst>
          </p:cNvPr>
          <p:cNvSpPr>
            <a:spLocks noGrp="1"/>
          </p:cNvSpPr>
          <p:nvPr/>
        </p:nvSpPr>
        <p:spPr>
          <a:xfrm>
            <a:off x="8239125" y="1076325"/>
            <a:ext cx="3238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P2 規劃中</a:t>
            </a:r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 r:embed="R9da5a8696f284a26">
            <a:extLst>
              <a:ext uri="{96DAC541-7B7A-43D3-8B79-37D633B846F1}">
                <asvg:svgBlip r:embed="rIdVector1"/>
              </a:ext>
            </a:extLst>
          </a:blip>
          <a:srcRect l="0" t="22222" r="0" b="0"/>
          <a:stretch/>
        </p:blipFill>
        <p:spPr>
          <a:xfrm>
            <a:off x="609600" y="1809750"/>
            <a:ext cx="10972800" cy="4267200"/>
          </a:xfrm>
          <a:prstGeom prst="rect">
            <a:avLst/>
          </a:prstGeom>
        </p:spPr>
      </p:pic>
    </p:spTree>
    <p:extLst>
      <p:ext uri="{BB962C8B-B14F-4D97-AF65-F5344CB8AC3E}">
        <ns5:creationId val="1730098357"/>
      </p:ext>
    </p:extLst>
  </p:cSld>
</p:sld>
</file>

<file path=ppt/slides/slide5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" name="journey-text-22">
            <a:extLst>
              <a:ext uri="{FF2B5EF4-FFF2-40B4-BE49-F238E27FC236}">
                <ns2:creationId id="{2FB1920A-4146-44DE-811C-6464B13779BE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由一句記錄，逐步連起日常照顧</a:t>
            </a:r>
          </a:p>
        </p:txBody>
      </p:sp>
      <p:sp>
        <p:nvSpPr>
          <p:cNvPr id="2" name="journey-text-23">
            <a:extLst>
              <a:ext uri="{FF2B5EF4-FFF2-40B4-BE49-F238E27FC236}">
                <ns2:creationId id="{A981073C-16E7-4E21-9816-7AFEE906A333}"/>
              </a:ext>
            </a:extLst>
          </p:cNvPr>
          <p:cNvSpPr>
            <a:spLocks noGrp="1"/>
          </p:cNvSpPr>
          <p:nvPr/>
        </p:nvSpPr>
        <p:spPr>
          <a:xfrm>
            <a:off x="8239125" y="1076325"/>
            <a:ext cx="3238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P1–P4 分階段規劃</a:t>
            </a:r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 r:embed="R1a385bbd50dd4e04">
            <a:extLst>
              <a:ext uri="{96DAC541-7B7A-43D3-8B79-37D633B846F1}">
                <asvg:svgBlip r:embed="rIdVector1"/>
              </a:ext>
            </a:extLst>
          </a:blip>
          <a:srcRect l="0" t="22222" r="0" b="0"/>
          <a:stretch/>
        </p:blipFill>
        <p:spPr>
          <a:xfrm>
            <a:off x="609600" y="1809750"/>
            <a:ext cx="10972800" cy="4267200"/>
          </a:xfrm>
          <a:prstGeom prst="rect">
            <a:avLst/>
          </a:prstGeom>
        </p:spPr>
      </p:pic>
    </p:spTree>
    <p:extLst>
      <p:ext uri="{BB962C8B-B14F-4D97-AF65-F5344CB8AC3E}">
        <ns5:creationId val="350904256"/>
      </p:ext>
    </p:extLst>
  </p:cSld>
</p:sld>
</file>

<file path=ppt/slides/slide6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4" name="responsibilities-text-24">
            <a:extLst>
              <a:ext uri="{FF2B5EF4-FFF2-40B4-BE49-F238E27FC236}">
                <ns2:creationId id="{52CE62DF-9E0F-4556-945C-C9AE9AC3CBBA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AI 理解情境，程式負責執行控制</a:t>
            </a:r>
          </a:p>
        </p:txBody>
      </p:sp>
      <p:sp>
        <p:nvSpPr>
          <p:cNvPr id="2" name="responsibilities-text-25">
            <a:extLst>
              <a:ext uri="{FF2B5EF4-FFF2-40B4-BE49-F238E27FC236}">
                <ns2:creationId id="{CA9E79B4-203A-4B18-9580-5FE39B51FCA4}"/>
              </a:ext>
            </a:extLst>
          </p:cNvPr>
          <p:cNvSpPr>
            <a:spLocks noGrp="1"/>
          </p:cNvSpPr>
          <p:nvPr/>
        </p:nvSpPr>
        <p:spPr>
          <a:xfrm>
            <a:off x="8239125" y="1076325"/>
            <a:ext cx="3238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P2 規劃中</a:t>
            </a:r>
          </a:p>
        </p:txBody>
      </p:sp>
      <p:pic>
        <p:nvPicPr>
          <p:cNvPr id="16" name=""/>
          <p:cNvPicPr>
            <a:picLocks noChangeAspect="1"/>
          </p:cNvPicPr>
          <p:nvPr/>
        </p:nvPicPr>
        <p:blipFill>
          <a:blip r:embed="R47adb9f83a4846df">
            <a:extLst>
              <a:ext uri="{96DAC541-7B7A-43D3-8B79-37D633B846F1}">
                <asvg:svgBlip r:embed="rIdVector1"/>
              </a:ext>
            </a:extLst>
          </a:blip>
          <a:stretch/>
        </p:blipFill>
        <p:spPr>
          <a:xfrm>
            <a:off x="346075" y="2400300"/>
            <a:ext cx="3022600" cy="2266950"/>
          </a:xfrm>
          <a:prstGeom prst="rect">
            <a:avLst/>
          </a:prstGeom>
        </p:spPr>
      </p:pic>
      <p:sp>
        <p:nvSpPr>
          <p:cNvPr id="4" name="responsibilities-text-26">
            <a:extLst>
              <a:ext uri="{FF2B5EF4-FFF2-40B4-BE49-F238E27FC236}">
                <ns2:creationId id="{EFE6D6C5-6417-4E91-921A-B1B554FCB310}"/>
              </a:ext>
            </a:extLst>
          </p:cNvPr>
          <p:cNvSpPr>
            <a:spLocks noGrp="1"/>
          </p:cNvSpPr>
          <p:nvPr/>
        </p:nvSpPr>
        <p:spPr>
          <a:xfrm>
            <a:off x="3638550" y="2076450"/>
            <a:ext cx="3333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4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AI 擅長</a:t>
            </a:r>
          </a:p>
        </p:txBody>
      </p:sp>
      <p:sp>
        <p:nvSpPr>
          <p:cNvPr id="5" name="responsibilities-text-27">
            <a:extLst>
              <a:ext uri="{FF2B5EF4-FFF2-40B4-BE49-F238E27FC236}">
                <ns2:creationId id="{5CACB177-3A1B-40D3-A369-B24C3D347432}"/>
              </a:ext>
            </a:extLst>
          </p:cNvPr>
          <p:cNvSpPr>
            <a:spLocks noGrp="1"/>
          </p:cNvSpPr>
          <p:nvPr/>
        </p:nvSpPr>
        <p:spPr>
          <a:xfrm>
            <a:off x="7667625" y="2076450"/>
            <a:ext cx="38576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4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確定性程式負責</a:t>
            </a:r>
          </a:p>
        </p:txBody>
      </p:sp>
      <p:sp>
        <p:nvSpPr>
          <p:cNvPr id="6" name="">
            <a:extLst>
              <a:ext uri="{FF2B5EF4-FFF2-40B4-BE49-F238E27FC236}">
                <ns2:creationId id="{42F1E685-BE45-4037-8FD7-4AF1245FFD90}"/>
              </a:ext>
            </a:extLst>
          </p:cNvPr>
          <p:cNvSpPr>
            <a:spLocks noGrp="1"/>
          </p:cNvSpPr>
          <p:nvPr/>
        </p:nvSpPr>
        <p:spPr>
          <a:xfrm>
            <a:off x="7305675" y="2076450"/>
            <a:ext cx="19050" cy="2667000"/>
          </a:xfrm>
          <a:prstGeom prst="rect">
            <a:avLst/>
          </a:prstGeom>
          <a:solidFill>
            <a:srgbClr val="DDE8DB"/>
          </a:solidFill>
          <a:ln w="0">
            <a:noFill/>
          </a:ln>
        </p:spPr>
      </p:sp>
      <p:sp>
        <p:nvSpPr>
          <p:cNvPr id="7" name="responsibilities-text-28">
            <a:extLst>
              <a:ext uri="{FF2B5EF4-FFF2-40B4-BE49-F238E27FC236}">
                <ns2:creationId id="{1471E9B6-0661-47CC-9D95-B64476A08BF0}"/>
              </a:ext>
            </a:extLst>
          </p:cNvPr>
          <p:cNvSpPr>
            <a:spLocks noGrp="1"/>
          </p:cNvSpPr>
          <p:nvPr/>
        </p:nvSpPr>
        <p:spPr>
          <a:xfrm>
            <a:off x="3638550" y="2819400"/>
            <a:ext cx="34480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理解自然語言</a:t>
            </a:r>
          </a:p>
        </p:txBody>
      </p:sp>
      <p:sp>
        <p:nvSpPr>
          <p:cNvPr id="8" name="responsibilities-text-29">
            <a:extLst>
              <a:ext uri="{FF2B5EF4-FFF2-40B4-BE49-F238E27FC236}">
                <ns2:creationId id="{3426F0AE-8AB6-4A9F-89FF-EFE21489BDD1}"/>
              </a:ext>
            </a:extLst>
          </p:cNvPr>
          <p:cNvSpPr>
            <a:spLocks noGrp="1"/>
          </p:cNvSpPr>
          <p:nvPr/>
        </p:nvSpPr>
        <p:spPr>
          <a:xfrm>
            <a:off x="3638550" y="3562350"/>
            <a:ext cx="34480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連結相關上下文</a:t>
            </a:r>
          </a:p>
        </p:txBody>
      </p:sp>
      <p:sp>
        <p:nvSpPr>
          <p:cNvPr id="9" name="responsibilities-text-30">
            <a:extLst>
              <a:ext uri="{FF2B5EF4-FFF2-40B4-BE49-F238E27FC236}">
                <ns2:creationId id="{0BA167F2-8783-4FA1-9CA6-A7BD1CBA9B8F}"/>
              </a:ext>
            </a:extLst>
          </p:cNvPr>
          <p:cNvSpPr>
            <a:spLocks noGrp="1"/>
          </p:cNvSpPr>
          <p:nvPr/>
        </p:nvSpPr>
        <p:spPr>
          <a:xfrm>
            <a:off x="3638550" y="4305300"/>
            <a:ext cx="34480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發現缺項與草擬下一步</a:t>
            </a:r>
          </a:p>
        </p:txBody>
      </p:sp>
      <p:sp>
        <p:nvSpPr>
          <p:cNvPr id="10" name="responsibilities-text-31">
            <a:extLst>
              <a:ext uri="{FF2B5EF4-FFF2-40B4-BE49-F238E27FC236}">
                <ns2:creationId id="{62B222A5-DA37-4DC2-80FB-610A03CB9B92}"/>
              </a:ext>
            </a:extLst>
          </p:cNvPr>
          <p:cNvSpPr>
            <a:spLocks noGrp="1"/>
          </p:cNvSpPr>
          <p:nvPr/>
        </p:nvSpPr>
        <p:spPr>
          <a:xfrm>
            <a:off x="7667625" y="2819400"/>
            <a:ext cx="37909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權限與授權</a:t>
            </a:r>
          </a:p>
        </p:txBody>
      </p:sp>
      <p:sp>
        <p:nvSpPr>
          <p:cNvPr id="11" name="responsibilities-text-32">
            <a:extLst>
              <a:ext uri="{FF2B5EF4-FFF2-40B4-BE49-F238E27FC236}">
                <ns2:creationId id="{6FD4AF66-3338-4654-9136-E06ACF689DB5}"/>
              </a:ext>
            </a:extLst>
          </p:cNvPr>
          <p:cNvSpPr>
            <a:spLocks noGrp="1"/>
          </p:cNvSpPr>
          <p:nvPr/>
        </p:nvSpPr>
        <p:spPr>
          <a:xfrm>
            <a:off x="7667625" y="3562350"/>
            <a:ext cx="37909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數值、狀態及任務終態</a:t>
            </a:r>
          </a:p>
        </p:txBody>
      </p:sp>
      <p:sp>
        <p:nvSpPr>
          <p:cNvPr id="12" name="responsibilities-text-33">
            <a:extLst>
              <a:ext uri="{FF2B5EF4-FFF2-40B4-BE49-F238E27FC236}">
                <ns2:creationId id="{EA83E65A-95A1-4DD4-B519-42AE0FBDA287}"/>
              </a:ext>
            </a:extLst>
          </p:cNvPr>
          <p:cNvSpPr>
            <a:spLocks noGrp="1"/>
          </p:cNvSpPr>
          <p:nvPr/>
        </p:nvSpPr>
        <p:spPr>
          <a:xfrm>
            <a:off x="7667625" y="4305300"/>
            <a:ext cx="37909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工具執行與持久保存</a:t>
            </a:r>
          </a:p>
        </p:txBody>
      </p:sp>
      <p:sp>
        <p:nvSpPr>
          <p:cNvPr id="13" name="responsibilities-text-34">
            <a:extLst>
              <a:ext uri="{FF2B5EF4-FFF2-40B4-BE49-F238E27FC236}">
                <ns2:creationId id="{BEB816C8-1C03-4B6D-8888-FDF8236588DC}"/>
              </a:ext>
            </a:extLst>
          </p:cNvPr>
          <p:cNvSpPr>
            <a:spLocks noGrp="1"/>
          </p:cNvSpPr>
          <p:nvPr/>
        </p:nvSpPr>
        <p:spPr>
          <a:xfrm>
            <a:off x="723900" y="5724525"/>
            <a:ext cx="107442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模型的建議須經工具及權限校驗，不能直接修改權威資料。</a:t>
            </a:r>
          </a:p>
        </p:txBody>
      </p:sp>
    </p:spTree>
    <p:extLst>
      <p:ext uri="{BB962C8B-B14F-4D97-AF65-F5344CB8AC3E}">
        <ns5:creationId val="1153091694"/>
      </p:ext>
    </p:extLst>
  </p:cSld>
</p:sld>
</file>

<file path=ppt/slides/slide7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" name="architecture-text-35">
            <a:extLst>
              <a:ext uri="{FF2B5EF4-FFF2-40B4-BE49-F238E27FC236}">
                <ns2:creationId id="{3EF17862-2E5A-4D07-8DE0-1FC02059A4FA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資料與 Agent 都以 Server 為中心</a:t>
            </a:r>
          </a:p>
        </p:txBody>
      </p:sp>
      <p:sp>
        <p:nvSpPr>
          <p:cNvPr id="2" name="architecture-text-36">
            <a:extLst>
              <a:ext uri="{FF2B5EF4-FFF2-40B4-BE49-F238E27FC236}">
                <ns2:creationId id="{837D337D-5AD3-40BD-AC0B-E62B9A17EA7C}"/>
              </a:ext>
            </a:extLst>
          </p:cNvPr>
          <p:cNvSpPr>
            <a:spLocks noGrp="1"/>
          </p:cNvSpPr>
          <p:nvPr/>
        </p:nvSpPr>
        <p:spPr>
          <a:xfrm>
            <a:off x="8239125" y="1076325"/>
            <a:ext cx="3238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P1–P4 分階段規劃</a:t>
            </a:r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 r:embed="R9aa1c5c320b7463d">
            <a:extLst>
              <a:ext uri="{96DAC541-7B7A-43D3-8B79-37D633B846F1}">
                <asvg:svgBlip r:embed="rIdVector1"/>
              </a:ext>
            </a:extLst>
          </a:blip>
          <a:srcRect l="0" t="22222" r="0" b="0"/>
          <a:stretch/>
        </p:blipFill>
        <p:spPr>
          <a:xfrm>
            <a:off x="609600" y="1809750"/>
            <a:ext cx="10972800" cy="4267200"/>
          </a:xfrm>
          <a:prstGeom prst="rect">
            <a:avLst/>
          </a:prstGeom>
        </p:spPr>
      </p:pic>
    </p:spTree>
    <p:extLst>
      <p:ext uri="{BB962C8B-B14F-4D97-AF65-F5344CB8AC3E}">
        <ns5:creationId val="1438076427"/>
      </p:ext>
    </p:extLst>
  </p:cSld>
</p:sld>
</file>

<file path=ppt/slides/slide8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safety-text-37">
            <a:extLst>
              <a:ext uri="{FF2B5EF4-FFF2-40B4-BE49-F238E27FC236}">
                <ns2:creationId id="{4ED24D12-CBC6-4A9D-8014-062634513A8B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每個重要結果，都可以回查</a:t>
            </a:r>
          </a:p>
        </p:txBody>
      </p:sp>
      <p:sp>
        <p:nvSpPr>
          <p:cNvPr id="2" name="safety-text-38">
            <a:extLst>
              <a:ext uri="{FF2B5EF4-FFF2-40B4-BE49-F238E27FC236}">
                <ns2:creationId id="{A857DC8E-4CD5-4370-8887-22859EC4E33D}"/>
              </a:ext>
            </a:extLst>
          </p:cNvPr>
          <p:cNvSpPr>
            <a:spLocks noGrp="1"/>
          </p:cNvSpPr>
          <p:nvPr/>
        </p:nvSpPr>
        <p:spPr>
          <a:xfrm>
            <a:off x="8239125" y="1076325"/>
            <a:ext cx="3238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P1–P4 分階段規劃</a:t>
            </a:r>
          </a:p>
        </p:txBody>
      </p:sp>
      <p:pic>
        <p:nvPicPr>
          <p:cNvPr id="17" name=""/>
          <p:cNvPicPr>
            <a:picLocks noChangeAspect="1"/>
          </p:cNvPicPr>
          <p:nvPr/>
        </p:nvPicPr>
        <p:blipFill>
          <a:blip r:embed="Rebbe0afa86f34222">
            <a:extLst>
              <a:ext uri="{96DAC541-7B7A-43D3-8B79-37D633B846F1}">
                <asvg:svgBlip r:embed="rIdVector1"/>
              </a:ext>
            </a:extLst>
          </a:blip>
          <a:stretch/>
        </p:blipFill>
        <p:spPr>
          <a:xfrm>
            <a:off x="381000" y="1955006"/>
            <a:ext cx="4095750" cy="3071812"/>
          </a:xfrm>
          <a:prstGeom prst="rect">
            <a:avLst/>
          </a:prstGeom>
        </p:spPr>
      </p:pic>
      <p:sp>
        <p:nvSpPr>
          <p:cNvPr id="4" name="safety-text-39">
            <a:extLst>
              <a:ext uri="{FF2B5EF4-FFF2-40B4-BE49-F238E27FC236}">
                <ns2:creationId id="{CEBD0A0A-F694-489B-B186-287ED5214EA8}"/>
              </a:ext>
            </a:extLst>
          </p:cNvPr>
          <p:cNvSpPr>
            <a:spLocks noGrp="1"/>
          </p:cNvSpPr>
          <p:nvPr/>
        </p:nvSpPr>
        <p:spPr>
          <a:xfrm>
            <a:off x="4752975" y="1847850"/>
            <a:ext cx="571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safety-text-40">
            <a:extLst>
              <a:ext uri="{FF2B5EF4-FFF2-40B4-BE49-F238E27FC236}">
                <ns2:creationId id="{9D42219F-4105-43FD-94A9-12187E9C25A7}"/>
              </a:ext>
            </a:extLst>
          </p:cNvPr>
          <p:cNvSpPr>
            <a:spLocks noGrp="1"/>
          </p:cNvSpPr>
          <p:nvPr/>
        </p:nvSpPr>
        <p:spPr>
          <a:xfrm>
            <a:off x="5467350" y="1847850"/>
            <a:ext cx="60293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重要資料先補問或確認</a:t>
            </a:r>
          </a:p>
        </p:txBody>
      </p:sp>
      <p:sp>
        <p:nvSpPr>
          <p:cNvPr id="6" name="safety-text-41">
            <a:extLst>
              <a:ext uri="{FF2B5EF4-FFF2-40B4-BE49-F238E27FC236}">
                <ns2:creationId id="{A1445615-D329-417C-9FAC-E73BF6068549}"/>
              </a:ext>
            </a:extLst>
          </p:cNvPr>
          <p:cNvSpPr>
            <a:spLocks noGrp="1"/>
          </p:cNvSpPr>
          <p:nvPr/>
        </p:nvSpPr>
        <p:spPr>
          <a:xfrm>
            <a:off x="4752975" y="2590800"/>
            <a:ext cx="571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7" name="safety-text-42">
            <a:extLst>
              <a:ext uri="{FF2B5EF4-FFF2-40B4-BE49-F238E27FC236}">
                <ns2:creationId id="{9790C081-02D6-4046-B321-EA16401678B0}"/>
              </a:ext>
            </a:extLst>
          </p:cNvPr>
          <p:cNvSpPr>
            <a:spLocks noGrp="1"/>
          </p:cNvSpPr>
          <p:nvPr/>
        </p:nvSpPr>
        <p:spPr>
          <a:xfrm>
            <a:off x="5467350" y="2590800"/>
            <a:ext cx="60293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原始記錄及官方資料保留來源</a:t>
            </a:r>
          </a:p>
        </p:txBody>
      </p:sp>
      <p:sp>
        <p:nvSpPr>
          <p:cNvPr id="8" name="safety-text-43">
            <a:extLst>
              <a:ext uri="{FF2B5EF4-FFF2-40B4-BE49-F238E27FC236}">
                <ns2:creationId id="{E7E7F372-CBEA-43B2-9154-56518CD684DA}"/>
              </a:ext>
            </a:extLst>
          </p:cNvPr>
          <p:cNvSpPr>
            <a:spLocks noGrp="1"/>
          </p:cNvSpPr>
          <p:nvPr/>
        </p:nvSpPr>
        <p:spPr>
          <a:xfrm>
            <a:off x="4752975" y="3333750"/>
            <a:ext cx="571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9" name="safety-text-44">
            <a:extLst>
              <a:ext uri="{FF2B5EF4-FFF2-40B4-BE49-F238E27FC236}">
                <ns2:creationId id="{82AA8F16-1C0F-4341-AC3A-F732715C811A}"/>
              </a:ext>
            </a:extLst>
          </p:cNvPr>
          <p:cNvSpPr>
            <a:spLocks noGrp="1"/>
          </p:cNvSpPr>
          <p:nvPr/>
        </p:nvSpPr>
        <p:spPr>
          <a:xfrm>
            <a:off x="5467350" y="3333750"/>
            <a:ext cx="60293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執行前重查當前授權</a:t>
            </a:r>
          </a:p>
        </p:txBody>
      </p:sp>
      <p:sp>
        <p:nvSpPr>
          <p:cNvPr id="10" name="safety-text-45">
            <a:extLst>
              <a:ext uri="{FF2B5EF4-FFF2-40B4-BE49-F238E27FC236}">
                <ns2:creationId id="{C7072A9C-A89C-45CE-95BB-7F35A800D481}"/>
              </a:ext>
            </a:extLst>
          </p:cNvPr>
          <p:cNvSpPr>
            <a:spLocks noGrp="1"/>
          </p:cNvSpPr>
          <p:nvPr/>
        </p:nvSpPr>
        <p:spPr>
          <a:xfrm>
            <a:off x="4752975" y="4076700"/>
            <a:ext cx="571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1" name="safety-text-46">
            <a:extLst>
              <a:ext uri="{FF2B5EF4-FFF2-40B4-BE49-F238E27FC236}">
                <ns2:creationId id="{0843F146-E352-4931-BF78-43F996DC01A0}"/>
              </a:ext>
            </a:extLst>
          </p:cNvPr>
          <p:cNvSpPr>
            <a:spLocks noGrp="1"/>
          </p:cNvSpPr>
          <p:nvPr/>
        </p:nvSpPr>
        <p:spPr>
          <a:xfrm>
            <a:off x="5467350" y="4076700"/>
            <a:ext cx="60293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Server 未確認，就不顯示成功</a:t>
            </a:r>
          </a:p>
        </p:txBody>
      </p:sp>
      <p:sp>
        <p:nvSpPr>
          <p:cNvPr id="12" name="safety-text-47">
            <a:extLst>
              <a:ext uri="{FF2B5EF4-FFF2-40B4-BE49-F238E27FC236}">
                <ns2:creationId id="{AFB7F02B-2AF9-4DFA-AEBA-E77AB9DEBFB1}"/>
              </a:ext>
            </a:extLst>
          </p:cNvPr>
          <p:cNvSpPr>
            <a:spLocks noGrp="1"/>
          </p:cNvSpPr>
          <p:nvPr/>
        </p:nvSpPr>
        <p:spPr>
          <a:xfrm>
            <a:off x="4752975" y="4819650"/>
            <a:ext cx="571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13" name="safety-text-48">
            <a:extLst>
              <a:ext uri="{FF2B5EF4-FFF2-40B4-BE49-F238E27FC236}">
                <ns2:creationId id="{BEF015D7-0FA0-4E10-A91D-C67BB144FFDE}"/>
              </a:ext>
            </a:extLst>
          </p:cNvPr>
          <p:cNvSpPr>
            <a:spLocks noGrp="1"/>
          </p:cNvSpPr>
          <p:nvPr/>
        </p:nvSpPr>
        <p:spPr>
          <a:xfrm>
            <a:off x="5467350" y="4819650"/>
            <a:ext cx="6029325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照片不作疾病診斷；不做藥物管理</a:t>
            </a:r>
          </a:p>
        </p:txBody>
      </p:sp>
      <p:sp>
        <p:nvSpPr>
          <p:cNvPr id="14" name="safety-text-49">
            <a:extLst>
              <a:ext uri="{FF2B5EF4-FFF2-40B4-BE49-F238E27FC236}">
                <ns2:creationId id="{6DB61486-E986-4441-A32F-67BBFA594B56}"/>
              </a:ext>
            </a:extLst>
          </p:cNvPr>
          <p:cNvSpPr>
            <a:spLocks noGrp="1"/>
          </p:cNvSpPr>
          <p:nvPr/>
        </p:nvSpPr>
        <p:spPr>
          <a:xfrm>
            <a:off x="733425" y="5953125"/>
            <a:ext cx="107061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通知已接受、已送達、已讀及事項完成，是不同狀態。</a:t>
            </a:r>
          </a:p>
        </p:txBody>
      </p:sp>
    </p:spTree>
    <p:extLst>
      <p:ext uri="{BB962C8B-B14F-4D97-AF65-F5344CB8AC3E}">
        <ns5:creationId val="1778348529"/>
      </p:ext>
    </p:extLst>
  </p:cSld>
</p:sld>
</file>

<file path=ppt/slides/slide9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" name="roadmap-text-50">
            <a:extLst>
              <a:ext uri="{FF2B5EF4-FFF2-40B4-BE49-F238E27FC236}">
                <ns2:creationId id="{BBD719F0-776E-497D-9179-14798B1FF99B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先形成閉環，再逐階段完善</a:t>
            </a:r>
          </a:p>
        </p:txBody>
      </p:sp>
      <p:sp>
        <p:nvSpPr>
          <p:cNvPr id="2" name="roadmap-text-51">
            <a:extLst>
              <a:ext uri="{FF2B5EF4-FFF2-40B4-BE49-F238E27FC236}">
                <ns2:creationId id="{8459A374-FC90-443F-A889-4FC2BF1967A8}"/>
              </a:ext>
            </a:extLst>
          </p:cNvPr>
          <p:cNvSpPr>
            <a:spLocks noGrp="1"/>
          </p:cNvSpPr>
          <p:nvPr/>
        </p:nvSpPr>
        <p:spPr>
          <a:xfrm>
            <a:off x="8239125" y="1076325"/>
            <a:ext cx="3238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P1–P5 分階段規劃</a:t>
            </a:r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 r:embed="R3c02458908294853">
            <a:extLst>
              <a:ext uri="{96DAC541-7B7A-43D3-8B79-37D633B846F1}">
                <asvg:svgBlip r:embed="rIdVector1"/>
              </a:ext>
            </a:extLst>
          </a:blip>
          <a:srcRect l="0" t="22222" r="0" b="0"/>
          <a:stretch/>
        </p:blipFill>
        <p:spPr>
          <a:xfrm>
            <a:off x="609600" y="1809750"/>
            <a:ext cx="10972800" cy="4267200"/>
          </a:xfrm>
          <a:prstGeom prst="rect">
            <a:avLst/>
          </a:prstGeom>
        </p:spPr>
      </p:pic>
    </p:spTree>
    <p:extLst>
      <p:ext uri="{BB962C8B-B14F-4D97-AF65-F5344CB8AC3E}">
        <ns5:creationId val="797369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tatus-text-52">
            <a:extLst xmlns:a="http://schemas.openxmlformats.org/drawingml/2006/main">
              <a:ext uri="{FF2B5EF4-FFF2-40B4-BE49-F238E27FC236}">
                <a16:creationId xmlns:a16="http://schemas.microsoft.com/office/drawing/2014/main" id="{89BFD433-C773-4A30-AB00-1235327D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當前進度</a:t>
            </a:r>
          </a:p>
        </p:txBody>
      </p:sp>
      <p:sp>
        <p:nvSpPr>
          <p:cNvPr id="2" name="status-text-53">
            <a:extLst xmlns:a="http://schemas.openxmlformats.org/drawingml/2006/main">
              <a:ext uri="{FF2B5EF4-FFF2-40B4-BE49-F238E27FC236}">
                <a16:creationId xmlns:a16="http://schemas.microsoft.com/office/drawing/2014/main" id="{A4678DC0-ED94-426B-9D94-65484055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716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最小 Web 工程已建立</a:t>
            </a:r>
          </a:p>
        </p:txBody>
      </p:sp>
      <p:sp>
        <p:nvSpPr>
          <p:cNvPr id="3" name="status-text-54">
            <a:extLst xmlns:a="http://schemas.openxmlformats.org/drawingml/2006/main">
              <a:ext uri="{FF2B5EF4-FFF2-40B4-BE49-F238E27FC236}">
                <a16:creationId xmlns:a16="http://schemas.microsoft.com/office/drawing/2014/main" id="{08591EFA-F4E9-4C65-9F19-892937D89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95525"/>
            <a:ext cx="1076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P1 進行中　S02 已完成並合併；P1 產品流程仍未接通。</a:t>
            </a:r>
          </a:p>
        </p:txBody>
      </p:sp>
      <p:sp>
        <p:nvSpPr>
          <p:cNvPr id="4" name="status-text-55">
            <a:extLst xmlns:a="http://schemas.openxmlformats.org/drawingml/2006/main">
              <a:ext uri="{FF2B5EF4-FFF2-40B4-BE49-F238E27FC236}">
                <a16:creationId xmlns:a16="http://schemas.microsoft.com/office/drawing/2014/main" id="{C6D3204A-A03C-470B-87B8-17B26ABD6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067050"/>
            <a:ext cx="4857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已實現</a:t>
            </a:r>
          </a:p>
        </p:txBody>
      </p:sp>
      <p:sp>
        <p:nvSpPr>
          <p:cNvPr id="5" name="status-text-56">
            <a:extLst xmlns:a="http://schemas.openxmlformats.org/drawingml/2006/main">
              <a:ext uri="{FF2B5EF4-FFF2-40B4-BE49-F238E27FC236}">
                <a16:creationId xmlns:a16="http://schemas.microsoft.com/office/drawing/2014/main" id="{870B4662-0DC1-47FB-A2A4-C2A8430E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657600"/>
            <a:ext cx="5105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Expo Web 基礎畫面</a:t>
            </a:r>
          </a:p>
        </p:txBody>
      </p:sp>
      <p:sp>
        <p:nvSpPr>
          <p:cNvPr id="6" name="status-text-57">
            <a:extLst xmlns:a="http://schemas.openxmlformats.org/drawingml/2006/main">
              <a:ext uri="{FF2B5EF4-FFF2-40B4-BE49-F238E27FC236}">
                <a16:creationId xmlns:a16="http://schemas.microsoft.com/office/drawing/2014/main" id="{E8E4DDAE-0189-471C-85FE-E8326DA3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29100"/>
            <a:ext cx="5105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孩子稱呼／文字記錄輸入驗證</a:t>
            </a:r>
          </a:p>
        </p:txBody>
      </p:sp>
      <p:sp>
        <p:nvSpPr>
          <p:cNvPr id="7" name="status-text-58">
            <a:extLst xmlns:a="http://schemas.openxmlformats.org/drawingml/2006/main">
              <a:ext uri="{FF2B5EF4-FFF2-40B4-BE49-F238E27FC236}">
                <a16:creationId xmlns:a16="http://schemas.microsoft.com/office/drawing/2014/main" id="{1A00BC4C-0412-4524-A239-C9018E33D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00600"/>
            <a:ext cx="5105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可配置的公開 API 地址</a:t>
            </a:r>
          </a:p>
        </p:txBody>
      </p:sp>
      <p:sp>
        <p:nvSpPr>
          <p:cNvPr id="8" name="status-text-59">
            <a:extLst xmlns:a="http://schemas.openxmlformats.org/drawingml/2006/main">
              <a:ext uri="{FF2B5EF4-FFF2-40B4-BE49-F238E27FC236}">
                <a16:creationId xmlns:a16="http://schemas.microsoft.com/office/drawing/2014/main" id="{45466535-22F8-4BA0-B3E7-C4E8F17A2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6705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1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P1 尚待接通與驗收</a:t>
            </a:r>
          </a:p>
        </p:txBody>
      </p:sp>
      <p:sp>
        <p:nvSpPr>
          <p:cNvPr id="9" name="status-text-60">
            <a:extLst xmlns:a="http://schemas.openxmlformats.org/drawingml/2006/main">
              <a:ext uri="{FF2B5EF4-FFF2-40B4-BE49-F238E27FC236}">
                <a16:creationId xmlns:a16="http://schemas.microsoft.com/office/drawing/2014/main" id="{6AA92E33-EEC2-4CFD-AE55-1DE010012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5760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登入與 Server 持久保存</a:t>
            </a:r>
          </a:p>
        </p:txBody>
      </p:sp>
      <p:sp>
        <p:nvSpPr>
          <p:cNvPr id="10" name="status-text-61">
            <a:extLst xmlns:a="http://schemas.openxmlformats.org/drawingml/2006/main">
              <a:ext uri="{FF2B5EF4-FFF2-40B4-BE49-F238E27FC236}">
                <a16:creationId xmlns:a16="http://schemas.microsoft.com/office/drawing/2014/main" id="{337821F6-FD6B-4981-B211-5E7752CB0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22910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原始聊天與真 Gemini</a:t>
            </a:r>
          </a:p>
        </p:txBody>
      </p:sp>
      <p:sp>
        <p:nvSpPr>
          <p:cNvPr id="11" name="status-text-62">
            <a:extLst xmlns:a="http://schemas.openxmlformats.org/drawingml/2006/main">
              <a:ext uri="{FF2B5EF4-FFF2-40B4-BE49-F238E27FC236}">
                <a16:creationId xmlns:a16="http://schemas.microsoft.com/office/drawing/2014/main" id="{E015C0C6-0FDC-4321-A151-3DC9A316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800600"/>
            <a:ext cx="4953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加密備份還原與獨立試玩 URL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364421-860F-4013-B337-EA1C31D89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91150"/>
            <a:ext cx="1074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8DB"/>
          </a:solidFill>
          <a:ln xmlns:a="http://schemas.openxmlformats.org/drawingml/2006/main" w="0">
            <a:noFill/>
          </a:ln>
        </p:spPr>
      </p:sp>
      <p:sp>
        <p:nvSpPr>
          <p:cNvPr id="13" name="status-text-63">
            <a:extLst xmlns:a="http://schemas.openxmlformats.org/drawingml/2006/main">
              <a:ext uri="{FF2B5EF4-FFF2-40B4-BE49-F238E27FC236}">
                <a16:creationId xmlns:a16="http://schemas.microsoft.com/office/drawing/2014/main" id="{8A1FABD3-E6E3-46DC-9F5A-CC699336A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29275"/>
            <a:ext cx="107442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已有驗證證據：已記錄 8／8 單元測試通過；已記錄 typecheck、Web export 及本機啟動通過</a:t>
            </a:r>
          </a:p>
        </p:txBody>
      </p:sp>
      <p:sp>
        <p:nvSpPr>
          <p:cNvPr id="14" name="status-text-64">
            <a:extLst xmlns:a="http://schemas.openxmlformats.org/drawingml/2006/main">
              <a:ext uri="{FF2B5EF4-FFF2-40B4-BE49-F238E27FC236}">
                <a16:creationId xmlns:a16="http://schemas.microsoft.com/office/drawing/2014/main" id="{72FB4016-1A73-4E22-A283-2EA8A03DB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324600"/>
            <a:ext cx="1074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2026-09-22　基線 9d18bc7　Demo 連結待提供</a:t>
            </a:r>
          </a:p>
        </p:txBody>
      </p:sp>
    </p:spTree>
    <p:extLst>
      <p:ext uri="{BB962C8B-B14F-4D97-AF65-F5344CB8AC3E}">
        <p14:creationId xmlns:p14="http://schemas.microsoft.com/office/powerpoint/2010/main" val="208006558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7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demo-text-65">
            <a:extLst xmlns:a="http://schemas.openxmlformats.org/drawingml/2006/main">
              <a:ext uri="{FF2B5EF4-FFF2-40B4-BE49-F238E27FC236}">
                <a16:creationId xmlns:a16="http://schemas.microsoft.com/office/drawing/2014/main" id="{41FED88A-2DD4-4B3F-9372-1E781341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6725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Demo 流程預留</a:t>
            </a:r>
          </a:p>
        </p:txBody>
      </p:sp>
      <p:sp>
        <p:nvSpPr>
          <p:cNvPr id="2" name="demo-text-66">
            <a:extLst xmlns:a="http://schemas.openxmlformats.org/drawingml/2006/main">
              <a:ext uri="{FF2B5EF4-FFF2-40B4-BE49-F238E27FC236}">
                <a16:creationId xmlns:a16="http://schemas.microsoft.com/office/drawing/2014/main" id="{685CCDEA-0761-4E4B-BB86-191B63B3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257300"/>
            <a:ext cx="1076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概念流程，非運行截圖；日後按實際驗證結果替換。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0823CA-CD3B-45E5-B193-2ED59439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32670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8DB"/>
            </a:solidFill>
          </a:ln>
        </p:spPr>
      </p:sp>
      <p:sp>
        <p:nvSpPr>
          <p:cNvPr id="4" name="demo-text-67">
            <a:extLst xmlns:a="http://schemas.openxmlformats.org/drawingml/2006/main">
              <a:ext uri="{FF2B5EF4-FFF2-40B4-BE49-F238E27FC236}">
                <a16:creationId xmlns:a16="http://schemas.microsoft.com/office/drawing/2014/main" id="{7ED17CAE-472E-4763-A3CC-AEEBBCD8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90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5" name="demo-text-68">
            <a:extLst xmlns:a="http://schemas.openxmlformats.org/drawingml/2006/main">
              <a:ext uri="{FF2B5EF4-FFF2-40B4-BE49-F238E27FC236}">
                <a16:creationId xmlns:a16="http://schemas.microsoft.com/office/drawing/2014/main" id="{E18ED4F2-8D57-4EC2-BC31-6A79C9D8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52750"/>
            <a:ext cx="276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截圖預留位置</a:t>
            </a:r>
          </a:p>
        </p:txBody>
      </p:sp>
      <p:sp>
        <p:nvSpPr>
          <p:cNvPr id="6" name="demo-text-69">
            <a:extLst xmlns:a="http://schemas.openxmlformats.org/drawingml/2006/main">
              <a:ext uri="{FF2B5EF4-FFF2-40B4-BE49-F238E27FC236}">
                <a16:creationId xmlns:a16="http://schemas.microsoft.com/office/drawing/2014/main" id="{C056DA0C-D8FF-49CD-940C-B47D0A80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3409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P1  登入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B834C4-D6C3-4363-A871-67556CC08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2000250"/>
            <a:ext cx="32670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8DB"/>
            </a:solidFill>
          </a:ln>
        </p:spPr>
      </p:sp>
      <p:sp>
        <p:nvSpPr>
          <p:cNvPr id="8" name="demo-text-70">
            <a:extLst xmlns:a="http://schemas.openxmlformats.org/drawingml/2006/main">
              <a:ext uri="{FF2B5EF4-FFF2-40B4-BE49-F238E27FC236}">
                <a16:creationId xmlns:a16="http://schemas.microsoft.com/office/drawing/2014/main" id="{C8C66511-4CAF-4477-BFD7-5C42A1AD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90750"/>
            <a:ext cx="90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9" name="demo-text-71">
            <a:extLst xmlns:a="http://schemas.openxmlformats.org/drawingml/2006/main">
              <a:ext uri="{FF2B5EF4-FFF2-40B4-BE49-F238E27FC236}">
                <a16:creationId xmlns:a16="http://schemas.microsoft.com/office/drawing/2014/main" id="{9E0203F2-EA9C-4E96-BA99-9FD57AC6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952750"/>
            <a:ext cx="276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截圖預留位置</a:t>
            </a:r>
          </a:p>
        </p:txBody>
      </p:sp>
      <p:sp>
        <p:nvSpPr>
          <p:cNvPr id="10" name="demo-text-72">
            <a:extLst xmlns:a="http://schemas.openxmlformats.org/drawingml/2006/main">
              <a:ext uri="{FF2B5EF4-FFF2-40B4-BE49-F238E27FC236}">
                <a16:creationId xmlns:a16="http://schemas.microsoft.com/office/drawing/2014/main" id="{5FEAE751-C679-4A74-91A6-93C206F1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571875"/>
            <a:ext cx="3409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P1  建立孩子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67359B-1256-4E16-A2B9-78677451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00250"/>
            <a:ext cx="32670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8DB"/>
            </a:solidFill>
          </a:ln>
        </p:spPr>
      </p:sp>
      <p:sp>
        <p:nvSpPr>
          <p:cNvPr id="12" name="demo-text-73">
            <a:extLst xmlns:a="http://schemas.openxmlformats.org/drawingml/2006/main">
              <a:ext uri="{FF2B5EF4-FFF2-40B4-BE49-F238E27FC236}">
                <a16:creationId xmlns:a16="http://schemas.microsoft.com/office/drawing/2014/main" id="{E766A5E7-7013-4684-8238-1D94C661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190750"/>
            <a:ext cx="90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13" name="demo-text-74">
            <a:extLst xmlns:a="http://schemas.openxmlformats.org/drawingml/2006/main">
              <a:ext uri="{FF2B5EF4-FFF2-40B4-BE49-F238E27FC236}">
                <a16:creationId xmlns:a16="http://schemas.microsoft.com/office/drawing/2014/main" id="{70F1E3A7-2294-4962-BCE4-0B002970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952750"/>
            <a:ext cx="276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截圖預留位置</a:t>
            </a:r>
          </a:p>
        </p:txBody>
      </p:sp>
      <p:sp>
        <p:nvSpPr>
          <p:cNvPr id="14" name="demo-text-75">
            <a:extLst xmlns:a="http://schemas.openxmlformats.org/drawingml/2006/main">
              <a:ext uri="{FF2B5EF4-FFF2-40B4-BE49-F238E27FC236}">
                <a16:creationId xmlns:a16="http://schemas.microsoft.com/office/drawing/2014/main" id="{2AAADEF6-6B0E-4671-8700-CE596163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571875"/>
            <a:ext cx="3409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P1  文字記錄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917CD4-FFA0-415E-90DD-6360DE9F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48150"/>
            <a:ext cx="32670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8DB"/>
            </a:solidFill>
          </a:ln>
        </p:spPr>
      </p:sp>
      <p:sp>
        <p:nvSpPr>
          <p:cNvPr id="16" name="demo-text-76">
            <a:extLst xmlns:a="http://schemas.openxmlformats.org/drawingml/2006/main">
              <a:ext uri="{FF2B5EF4-FFF2-40B4-BE49-F238E27FC236}">
                <a16:creationId xmlns:a16="http://schemas.microsoft.com/office/drawing/2014/main" id="{D21EA5DE-9458-4FED-B31E-06BBF6B56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38650"/>
            <a:ext cx="90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sp>
        <p:nvSpPr>
          <p:cNvPr id="17" name="demo-text-77">
            <a:extLst xmlns:a="http://schemas.openxmlformats.org/drawingml/2006/main">
              <a:ext uri="{FF2B5EF4-FFF2-40B4-BE49-F238E27FC236}">
                <a16:creationId xmlns:a16="http://schemas.microsoft.com/office/drawing/2014/main" id="{C3959414-25D8-46C0-94B2-46F9A76C1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00650"/>
            <a:ext cx="276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截圖預留位置</a:t>
            </a:r>
          </a:p>
        </p:txBody>
      </p:sp>
      <p:sp>
        <p:nvSpPr>
          <p:cNvPr id="18" name="demo-text-78">
            <a:extLst xmlns:a="http://schemas.openxmlformats.org/drawingml/2006/main">
              <a:ext uri="{FF2B5EF4-FFF2-40B4-BE49-F238E27FC236}">
                <a16:creationId xmlns:a16="http://schemas.microsoft.com/office/drawing/2014/main" id="{13AC7E59-6122-4A09-8A04-3027BEA2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9775"/>
            <a:ext cx="3409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P1  原始聊天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9EDC94-D1DC-43F7-8E32-7997F9BEF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248150"/>
            <a:ext cx="32670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8DB"/>
            </a:solidFill>
          </a:ln>
        </p:spPr>
      </p:sp>
      <p:sp>
        <p:nvSpPr>
          <p:cNvPr id="20" name="demo-text-79">
            <a:extLst xmlns:a="http://schemas.openxmlformats.org/drawingml/2006/main">
              <a:ext uri="{FF2B5EF4-FFF2-40B4-BE49-F238E27FC236}">
                <a16:creationId xmlns:a16="http://schemas.microsoft.com/office/drawing/2014/main" id="{DD01CFBF-2EB1-4C69-A79C-877A5152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38650"/>
            <a:ext cx="90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21" name="demo-text-80">
            <a:extLst xmlns:a="http://schemas.openxmlformats.org/drawingml/2006/main">
              <a:ext uri="{FF2B5EF4-FFF2-40B4-BE49-F238E27FC236}">
                <a16:creationId xmlns:a16="http://schemas.microsoft.com/office/drawing/2014/main" id="{ADBF433C-965C-4DFD-BA1C-9960D00B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00650"/>
            <a:ext cx="276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截圖預留位置</a:t>
            </a:r>
          </a:p>
        </p:txBody>
      </p:sp>
      <p:sp>
        <p:nvSpPr>
          <p:cNvPr id="22" name="demo-text-81">
            <a:extLst xmlns:a="http://schemas.openxmlformats.org/drawingml/2006/main">
              <a:ext uri="{FF2B5EF4-FFF2-40B4-BE49-F238E27FC236}">
                <a16:creationId xmlns:a16="http://schemas.microsoft.com/office/drawing/2014/main" id="{BBF632F1-2E57-4C8C-A86B-0F3788ED3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5819775"/>
            <a:ext cx="3409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P1  重開後核對保存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C2F6ED-4E22-4DCD-9977-B3C7514B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248150"/>
            <a:ext cx="326707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DE8DB"/>
            </a:solidFill>
          </a:ln>
        </p:spPr>
      </p:sp>
      <p:sp>
        <p:nvSpPr>
          <p:cNvPr id="24" name="demo-text-82">
            <a:extLst xmlns:a="http://schemas.openxmlformats.org/drawingml/2006/main">
              <a:ext uri="{FF2B5EF4-FFF2-40B4-BE49-F238E27FC236}">
                <a16:creationId xmlns:a16="http://schemas.microsoft.com/office/drawing/2014/main" id="{AF8C4519-BEDE-444F-A107-CD2D6E06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438650"/>
            <a:ext cx="904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1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25" name="demo-text-83">
            <a:extLst xmlns:a="http://schemas.openxmlformats.org/drawingml/2006/main">
              <a:ext uri="{FF2B5EF4-FFF2-40B4-BE49-F238E27FC236}">
                <a16:creationId xmlns:a16="http://schemas.microsoft.com/office/drawing/2014/main" id="{C8411233-80BD-4695-A3C4-086B84139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00650"/>
            <a:ext cx="27622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截圖預留位置</a:t>
            </a:r>
          </a:p>
        </p:txBody>
      </p:sp>
      <p:sp>
        <p:nvSpPr>
          <p:cNvPr id="26" name="demo-text-84">
            <a:extLst xmlns:a="http://schemas.openxmlformats.org/drawingml/2006/main">
              <a:ext uri="{FF2B5EF4-FFF2-40B4-BE49-F238E27FC236}">
                <a16:creationId xmlns:a16="http://schemas.microsoft.com/office/drawing/2014/main" id="{0FC17583-D02A-4675-AA45-948584CF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819775"/>
            <a:ext cx="3409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P2  主動 Agent</a:t>
            </a:r>
          </a:p>
        </p:txBody>
      </p:sp>
    </p:spTree>
    <p:extLst>
      <p:ext uri="{BB962C8B-B14F-4D97-AF65-F5344CB8AC3E}">
        <p14:creationId xmlns:p14="http://schemas.microsoft.com/office/powerpoint/2010/main" val="570226621"/>
      </p:ext>
    </p:extLst>
  </p:cSld>
</p:sld>
</file>

<file path=ppt/slides/slide12.xml><?xml version="1.0" encoding="utf-8"?>
<p:sld xmlns:a="http://schemas.openxmlformats.org/drawingml/2006/main" xmlns:asvg="http://schemas.microsoft.com/office/drawing/2016/SVG/main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5" name="growth-text-85">
            <a:extLst>
              <a:ext uri="{FF2B5EF4-FFF2-40B4-BE49-F238E27FC236}">
                <ns2:creationId id="{521B3369-AEDF-4749-BD34-5D012D206A7B}"/>
              </a:ext>
            </a:extLst>
          </p:cNvPr>
          <p:cNvSpPr>
            <a:spLocks noGrp="1"/>
          </p:cNvSpPr>
          <p:nvPr/>
        </p:nvSpPr>
        <p:spPr>
          <a:xfrm>
            <a:off x="685800" y="466725"/>
            <a:ext cx="108204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逐步完善能力，維持清楚的領域邊界</a:t>
            </a:r>
          </a:p>
        </p:txBody>
      </p:sp>
      <p:sp>
        <p:nvSpPr>
          <p:cNvPr id="2" name="growth-text-86">
            <a:extLst>
              <a:ext uri="{FF2B5EF4-FFF2-40B4-BE49-F238E27FC236}">
                <ns2:creationId id="{1FD7B05F-16A8-4292-AAB8-EEBB1A4FB9C4}"/>
              </a:ext>
            </a:extLst>
          </p:cNvPr>
          <p:cNvSpPr>
            <a:spLocks noGrp="1"/>
          </p:cNvSpPr>
          <p:nvPr/>
        </p:nvSpPr>
        <p:spPr>
          <a:xfrm>
            <a:off x="8239125" y="1076325"/>
            <a:ext cx="3238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8000"/>
              </a:lnSpc>
              <a:buNone/>
              <a:def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P2–P4 分階段規劃</a:t>
            </a:r>
          </a:p>
        </p:txBody>
      </p:sp>
      <p:sp>
        <p:nvSpPr>
          <p:cNvPr id="3" name="">
            <a:extLst>
              <a:ext uri="{FF2B5EF4-FFF2-40B4-BE49-F238E27FC236}">
                <ns2:creationId id="{4E89184E-F8A5-4745-AB51-7B746A7D9B0F}"/>
              </a:ext>
            </a:extLst>
          </p:cNvPr>
          <p:cNvSpPr>
            <a:spLocks noGrp="1"/>
          </p:cNvSpPr>
          <p:nvPr/>
        </p:nvSpPr>
        <p:spPr>
          <a:xfrm>
            <a:off x="723900" y="2057400"/>
            <a:ext cx="2286000" cy="28575"/>
          </a:xfrm>
          <a:prstGeom prst="rect">
            <a:avLst/>
          </a:prstGeom>
          <a:solidFill>
            <a:srgbClr val="287568"/>
          </a:solidFill>
          <a:ln w="0">
            <a:noFill/>
          </a:ln>
        </p:spPr>
      </p:sp>
      <p:sp>
        <p:nvSpPr>
          <p:cNvPr id="4" name="growth-text-87">
            <a:extLst>
              <a:ext uri="{FF2B5EF4-FFF2-40B4-BE49-F238E27FC236}">
                <ns2:creationId id="{DF1EC309-BA78-4508-A3BE-4014AEEE9D26}"/>
              </a:ext>
            </a:extLst>
          </p:cNvPr>
          <p:cNvSpPr>
            <a:spLocks noGrp="1"/>
          </p:cNvSpPr>
          <p:nvPr/>
        </p:nvSpPr>
        <p:spPr>
          <a:xfrm>
            <a:off x="723900" y="2352675"/>
            <a:ext cx="25431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長期記憶</a:t>
            </a:r>
          </a:p>
        </p:txBody>
      </p:sp>
      <p:sp>
        <p:nvSpPr>
          <p:cNvPr id="5" name="">
            <a:extLst>
              <a:ext uri="{FF2B5EF4-FFF2-40B4-BE49-F238E27FC236}">
                <ns2:creationId id="{7D6E99B0-1982-427C-8102-4C34C9602443}"/>
              </a:ext>
            </a:extLst>
          </p:cNvPr>
          <p:cNvSpPr>
            <a:spLocks noGrp="1"/>
          </p:cNvSpPr>
          <p:nvPr/>
        </p:nvSpPr>
        <p:spPr>
          <a:xfrm>
            <a:off x="3486150" y="2057400"/>
            <a:ext cx="2286000" cy="28575"/>
          </a:xfrm>
          <a:prstGeom prst="rect">
            <a:avLst/>
          </a:prstGeom>
          <a:solidFill>
            <a:srgbClr val="287568"/>
          </a:solidFill>
          <a:ln w="0">
            <a:noFill/>
          </a:ln>
        </p:spPr>
      </p:sp>
      <p:sp>
        <p:nvSpPr>
          <p:cNvPr id="6" name="growth-text-88">
            <a:extLst>
              <a:ext uri="{FF2B5EF4-FFF2-40B4-BE49-F238E27FC236}">
                <ns2:creationId id="{1EBA48C9-9BDD-4C70-8652-6F9F1B27A820}"/>
              </a:ext>
            </a:extLst>
          </p:cNvPr>
          <p:cNvSpPr>
            <a:spLocks noGrp="1"/>
          </p:cNvSpPr>
          <p:nvPr/>
        </p:nvSpPr>
        <p:spPr>
          <a:xfrm>
            <a:off x="3486150" y="2352675"/>
            <a:ext cx="25431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任務與工具</a:t>
            </a:r>
          </a:p>
        </p:txBody>
      </p:sp>
      <p:sp>
        <p:nvSpPr>
          <p:cNvPr id="7" name="">
            <a:extLst>
              <a:ext uri="{FF2B5EF4-FFF2-40B4-BE49-F238E27FC236}">
                <ns2:creationId id="{7AE98CCD-8778-45A6-8A7B-99FFAA86BE62}"/>
              </a:ext>
            </a:extLst>
          </p:cNvPr>
          <p:cNvSpPr>
            <a:spLocks noGrp="1"/>
          </p:cNvSpPr>
          <p:nvPr/>
        </p:nvSpPr>
        <p:spPr>
          <a:xfrm>
            <a:off x="6248400" y="2057400"/>
            <a:ext cx="2286000" cy="28575"/>
          </a:xfrm>
          <a:prstGeom prst="rect">
            <a:avLst/>
          </a:prstGeom>
          <a:solidFill>
            <a:srgbClr val="287568"/>
          </a:solidFill>
          <a:ln w="0">
            <a:noFill/>
          </a:ln>
        </p:spPr>
      </p:sp>
      <p:sp>
        <p:nvSpPr>
          <p:cNvPr id="8" name="growth-text-89">
            <a:extLst>
              <a:ext uri="{FF2B5EF4-FFF2-40B4-BE49-F238E27FC236}">
                <ns2:creationId id="{21C1AF62-74F4-4A4C-B21B-2EC8FA6CAA3F}"/>
              </a:ext>
            </a:extLst>
          </p:cNvPr>
          <p:cNvSpPr>
            <a:spLocks noGrp="1"/>
          </p:cNvSpPr>
          <p:nvPr/>
        </p:nvSpPr>
        <p:spPr>
          <a:xfrm>
            <a:off x="6248400" y="2352675"/>
            <a:ext cx="25431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知識來源</a:t>
            </a:r>
          </a:p>
        </p:txBody>
      </p:sp>
      <p:sp>
        <p:nvSpPr>
          <p:cNvPr id="9" name="">
            <a:extLst>
              <a:ext uri="{FF2B5EF4-FFF2-40B4-BE49-F238E27FC236}">
                <ns2:creationId id="{1633F69D-D6B2-4C3C-8B7D-5AB7221B980A}"/>
              </a:ext>
            </a:extLst>
          </p:cNvPr>
          <p:cNvSpPr>
            <a:spLocks noGrp="1"/>
          </p:cNvSpPr>
          <p:nvPr/>
        </p:nvSpPr>
        <p:spPr>
          <a:xfrm>
            <a:off x="9010650" y="2057400"/>
            <a:ext cx="2286000" cy="28575"/>
          </a:xfrm>
          <a:prstGeom prst="rect">
            <a:avLst/>
          </a:prstGeom>
          <a:solidFill>
            <a:srgbClr val="287568"/>
          </a:solidFill>
          <a:ln w="0">
            <a:noFill/>
          </a:ln>
        </p:spPr>
      </p:sp>
      <p:sp>
        <p:nvSpPr>
          <p:cNvPr id="10" name="growth-text-90">
            <a:extLst>
              <a:ext uri="{FF2B5EF4-FFF2-40B4-BE49-F238E27FC236}">
                <ns2:creationId id="{867B2A1F-E149-48D9-99C5-3B34310BCE79}"/>
              </a:ext>
            </a:extLst>
          </p:cNvPr>
          <p:cNvSpPr>
            <a:spLocks noGrp="1"/>
          </p:cNvSpPr>
          <p:nvPr/>
        </p:nvSpPr>
        <p:spPr>
          <a:xfrm>
            <a:off x="9010650" y="2352675"/>
            <a:ext cx="25431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授權通知</a:t>
            </a:r>
          </a:p>
        </p:txBody>
      </p:sp>
      <p:sp>
        <p:nvSpPr>
          <p:cNvPr id="11" name="growth-text-91">
            <a:extLst>
              <a:ext uri="{FF2B5EF4-FFF2-40B4-BE49-F238E27FC236}">
                <ns2:creationId id="{1A741598-F3D4-45B1-947D-76F21E5A47DA}"/>
              </a:ext>
            </a:extLst>
          </p:cNvPr>
          <p:cNvSpPr>
            <a:spLocks noGrp="1"/>
          </p:cNvSpPr>
          <p:nvPr/>
        </p:nvSpPr>
        <p:spPr>
          <a:xfrm>
            <a:off x="723900" y="3781425"/>
            <a:ext cx="78867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現在只實作 childcare-hk</a:t>
            </a:r>
          </a:p>
        </p:txBody>
      </p:sp>
      <p:sp>
        <p:nvSpPr>
          <p:cNvPr id="12" name="growth-text-92">
            <a:extLst>
              <a:ext uri="{FF2B5EF4-FFF2-40B4-BE49-F238E27FC236}">
                <ns2:creationId id="{54B5DB45-05F4-445F-9DB9-83409CDC8CBE}"/>
              </a:ext>
            </a:extLst>
          </p:cNvPr>
          <p:cNvSpPr>
            <a:spLocks noGrp="1"/>
          </p:cNvSpPr>
          <p:nvPr/>
        </p:nvSpPr>
        <p:spPr>
          <a:xfrm>
            <a:off x="733425" y="4657725"/>
            <a:ext cx="804862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育兒知識、prompt 及領域規則分開維護，</a:t>
            </a:r>
          </a:p>
          <a:p>
            <a:pPr algn="l">
              <a:lnSpc>
                <a:spcPct val="118000"/>
              </a:lnSpc>
              <a:buNone/>
              <a:def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按實際流程建立必要邊界。</a:t>
            </a:r>
          </a:p>
        </p:txBody>
      </p:sp>
      <p:sp>
        <p:nvSpPr>
          <p:cNvPr id="13" name="growth-text-93">
            <a:extLst>
              <a:ext uri="{FF2B5EF4-FFF2-40B4-BE49-F238E27FC236}">
                <ns2:creationId id="{869F0E61-4F07-4B14-A835-C30354694D65}"/>
              </a:ext>
            </a:extLst>
          </p:cNvPr>
          <p:cNvSpPr>
            <a:spLocks noGrp="1"/>
          </p:cNvSpPr>
          <p:nvPr/>
        </p:nvSpPr>
        <p:spPr>
          <a:xfrm>
            <a:off x="733425" y="5962650"/>
            <a:ext cx="921067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不預建通用插件平台或第二個領域。</a:t>
            </a:r>
          </a:p>
        </p:txBody>
      </p:sp>
      <p:pic>
        <p:nvPicPr>
          <p:cNvPr id="28" name=""/>
          <p:cNvPicPr>
            <a:picLocks noChangeAspect="1"/>
          </p:cNvPicPr>
          <p:nvPr/>
        </p:nvPicPr>
        <p:blipFill>
          <a:blip r:embed="Rd57adb5a29fe40f2">
            <a:extLst>
              <a:ext uri="{96DAC541-7B7A-43D3-8B79-37D633B846F1}">
                <asvg:svgBlip r:embed="rIdVector1"/>
              </a:ext>
            </a:extLst>
          </a:blip>
          <a:stretch/>
        </p:blipFill>
        <p:spPr>
          <a:xfrm>
            <a:off x="8896350" y="3495675"/>
            <a:ext cx="2819400" cy="2114550"/>
          </a:xfrm>
          <a:prstGeom prst="rect">
            <a:avLst/>
          </a:prstGeom>
        </p:spPr>
      </p:pic>
    </p:spTree>
    <p:extLst>
      <p:ext uri="{BB962C8B-B14F-4D97-AF65-F5344CB8AC3E}">
        <ns5:creationId val="854885841"/>
      </p:ext>
    </p:extLst>
  </p:cSld>
</p:sld>
</file>

<file path=ppt/slides/slide13.xml><?xml version="1.0" encoding="utf-8"?>
<p:sld xmlns:a="http://schemas.openxmlformats.org/drawingml/2006/main" xmlns:asvg="http://schemas.microsoft.com/office/drawing/2016/SVG/main" xmlns:ns4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AF7EF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7" name=""/>
          <p:cNvPicPr>
            <a:picLocks noChangeAspect="1"/>
          </p:cNvPicPr>
          <p:nvPr/>
        </p:nvPicPr>
        <p:blipFill>
          <a:blip r:embed="R6e34a01ce4da4957">
            <a:extLst>
              <a:ext uri="{96DAC541-7B7A-43D3-8B79-37D633B846F1}">
                <asvg:svgBlip r:embed="rIdVector1"/>
              </a:ext>
            </a:extLst>
          </a:blip>
          <a:stretch/>
        </p:blipFill>
        <p:spPr>
          <a:xfrm>
            <a:off x="704850" y="866775"/>
            <a:ext cx="914400" cy="914400"/>
          </a:xfrm>
          <a:prstGeom prst="rect">
            <a:avLst/>
          </a:prstGeom>
        </p:spPr>
      </p:pic>
      <p:sp>
        <p:nvSpPr>
          <p:cNvPr id="2" name="closing-text-94">
            <a:extLst>
              <a:ext uri="{FF2B5EF4-FFF2-40B4-BE49-F238E27FC236}">
                <ns4:creationId id="{40C98643-5D77-4C76-8B49-5EFD4704DEBC}"/>
              </a:ext>
            </a:extLst>
          </p:cNvPr>
          <p:cNvSpPr>
            <a:spLocks noGrp="1"/>
          </p:cNvSpPr>
          <p:nvPr/>
        </p:nvSpPr>
        <p:spPr>
          <a:xfrm>
            <a:off x="1905000" y="1076325"/>
            <a:ext cx="4191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7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75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育伴港</a:t>
            </a:r>
          </a:p>
        </p:txBody>
      </p:sp>
      <p:sp>
        <p:nvSpPr>
          <p:cNvPr id="3" name="closing-text-95">
            <a:extLst>
              <a:ext uri="{FF2B5EF4-FFF2-40B4-BE49-F238E27FC236}">
                <ns4:creationId id="{5471A912-4610-4D28-84A7-9AC172FCD1EB}"/>
              </a:ext>
            </a:extLst>
          </p:cNvPr>
          <p:cNvSpPr>
            <a:spLocks noGrp="1"/>
          </p:cNvSpPr>
          <p:nvPr/>
        </p:nvSpPr>
        <p:spPr>
          <a:xfrm>
            <a:off x="714375" y="2505075"/>
            <a:ext cx="10763250" cy="1476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在家長還不知道要問甚麼之前，</a:t>
            </a:r>
          </a:p>
          <a:p>
            <a:pPr algn="l">
              <a:lnSpc>
                <a:spcPct val="118000"/>
              </a:lnSpc>
              <a:buNone/>
              <a:def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03E3A"/>
                </a:solidFill>
                <a:latin typeface="Microsoft JhengHei"/>
                <a:ea typeface="Microsoft JhengHei"/>
                <a:cs typeface="Microsoft JhengHei"/>
              </a:rPr>
              <a:t>一起發現下一件值得處理的事。</a:t>
            </a:r>
          </a:p>
        </p:txBody>
      </p:sp>
      <p:sp>
        <p:nvSpPr>
          <p:cNvPr id="4" name="closing-text-96">
            <a:extLst>
              <a:ext uri="{FF2B5EF4-FFF2-40B4-BE49-F238E27FC236}">
                <ns4:creationId id="{05C1C945-FE82-4832-9366-D6EB73D6BC68}"/>
              </a:ext>
            </a:extLst>
          </p:cNvPr>
          <p:cNvSpPr>
            <a:spLocks noGrp="1"/>
          </p:cNvSpPr>
          <p:nvPr/>
        </p:nvSpPr>
        <p:spPr>
          <a:xfrm>
            <a:off x="742950" y="4591050"/>
            <a:ext cx="6381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2175" b="0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287568"/>
                </a:solidFill>
                <a:latin typeface="Microsoft JhengHei"/>
                <a:ea typeface="Microsoft JhengHei"/>
                <a:cs typeface="Microsoft JhengHei"/>
              </a:rPr>
              <a:t>值得記 · 值得問 · 值得跟進</a:t>
            </a:r>
          </a:p>
        </p:txBody>
      </p:sp>
      <p:sp>
        <p:nvSpPr>
          <p:cNvPr id="5" name="closing-text-97">
            <a:extLst>
              <a:ext uri="{FF2B5EF4-FFF2-40B4-BE49-F238E27FC236}">
                <ns4:creationId id="{0FBC18FC-0B29-417B-B959-FB6B62FC839D}"/>
              </a:ext>
            </a:extLst>
          </p:cNvPr>
          <p:cNvSpPr>
            <a:spLocks noGrp="1"/>
          </p:cNvSpPr>
          <p:nvPr/>
        </p:nvSpPr>
        <p:spPr>
          <a:xfrm>
            <a:off x="752475" y="5810250"/>
            <a:ext cx="8620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0756E"/>
                </a:solidFill>
                <a:latin typeface="Microsoft JhengHei"/>
                <a:ea typeface="Microsoft JhengHei"/>
                <a:cs typeface="Microsoft JhengHei"/>
              </a:rPr>
              <a:t>Demo 連結待提供</a:t>
            </a:r>
          </a:p>
        </p:txBody>
      </p:sp>
      <p:pic>
        <p:nvPicPr>
          <p:cNvPr id="12" name=""/>
          <p:cNvPicPr>
            <a:picLocks noChangeAspect="1"/>
          </p:cNvPicPr>
          <p:nvPr/>
        </p:nvPicPr>
        <p:blipFill>
          <a:blip r:embed="R07d32eada7e04aac">
            <a:extLst>
              <a:ext uri="{96DAC541-7B7A-43D3-8B79-37D633B846F1}">
                <asvg:svgBlip r:embed="rIdVector2"/>
              </a:ext>
            </a:extLst>
          </a:blip>
          <a:stretch/>
        </p:blipFill>
        <p:spPr>
          <a:xfrm>
            <a:off x="8813800" y="4552950"/>
            <a:ext cx="2746375" cy="1647825"/>
          </a:xfrm>
          <a:prstGeom prst="rect">
            <a:avLst/>
          </a:prstGeom>
        </p:spPr>
      </p:pic>
    </p:spTree>
    <p:extLst>
      <p:ext uri="{BB962C8B-B14F-4D97-AF65-F5344CB8AC3E}">
        <ns5:creationId val="8954729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2026-09-22T10:58:33.6050000Z</dcterms:created>
  <dcterms:modified xsi:type="dcterms:W3CDTF">2026-09-22T10:58:33.6050000Z</dcterms:modified>
</coreProperties>
</file>