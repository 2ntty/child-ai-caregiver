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Default Extension="svg" ContentType="image/svg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38160c1df364ef8" /><Relationship Type="http://schemas.openxmlformats.org/officeDocument/2006/relationships/extended-properties" Target="/docProps/app.xml" Id="R13840a74fce64932" /><Relationship Type="http://schemas.openxmlformats.org/officeDocument/2006/relationships/officeDocument" Target="/ppt/presentation.xml" Id="R0356439c3cd84af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d028e8d89114682"/>
  </p:sldMasterIdLst>
  <p:notesMasterIdLst>
    <p:notesMasterId xmlns:r="http://schemas.openxmlformats.org/officeDocument/2006/relationships" r:id="Rd0dfe97428254538"/>
  </p:notesMasterIdLst>
  <p:sldIdLst>
    <p:sldId xmlns:r="http://schemas.openxmlformats.org/officeDocument/2006/relationships" id="256" r:id="Rb76ed7d3fb68430e"/>
    <p:sldId xmlns:r="http://schemas.openxmlformats.org/officeDocument/2006/relationships" id="257" r:id="R6853b11e066b468d"/>
    <p:sldId xmlns:r="http://schemas.openxmlformats.org/officeDocument/2006/relationships" id="258" r:id="R2b2306846a2c46bf"/>
    <p:sldId xmlns:r="http://schemas.openxmlformats.org/officeDocument/2006/relationships" id="259" r:id="R56dbb15203184aa7"/>
    <p:sldId xmlns:r="http://schemas.openxmlformats.org/officeDocument/2006/relationships" id="260" r:id="Rc5bf227d1bb34037"/>
    <p:sldId xmlns:r="http://schemas.openxmlformats.org/officeDocument/2006/relationships" id="261" r:id="R9676d9299ddc423e"/>
    <p:sldId xmlns:r="http://schemas.openxmlformats.org/officeDocument/2006/relationships" id="262" r:id="Rbf9a7906e26b4604"/>
    <p:sldId xmlns:r="http://schemas.openxmlformats.org/officeDocument/2006/relationships" id="263" r:id="R4afd13a6f31f48fb"/>
    <p:sldId xmlns:r="http://schemas.openxmlformats.org/officeDocument/2006/relationships" id="264" r:id="R6e902781a60b4ba7"/>
    <p:sldId xmlns:r="http://schemas.openxmlformats.org/officeDocument/2006/relationships" id="265" r:id="Rd35f1aaa8d8c4852"/>
    <p:sldId xmlns:r="http://schemas.openxmlformats.org/officeDocument/2006/relationships" id="266" r:id="R986c2294606e4820"/>
    <p:sldId xmlns:r="http://schemas.openxmlformats.org/officeDocument/2006/relationships" id="267" r:id="R0c3ad0b4866249d5"/>
    <p:sldId xmlns:r="http://schemas.openxmlformats.org/officeDocument/2006/relationships" id="268" r:id="Rda8ecb3837a14ce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92e5156e04c46e0" /><Relationship Type="http://schemas.openxmlformats.org/officeDocument/2006/relationships/slideMaster" Target="/ppt/slideMasters/slideMaster1.xml" Id="R2d028e8d89114682" /><Relationship Type="http://schemas.openxmlformats.org/officeDocument/2006/relationships/notesMaster" Target="/ppt/notesMasters/notesMaster1.xml" Id="Rd0dfe97428254538" /><Relationship Type="http://schemas.openxmlformats.org/officeDocument/2006/relationships/presProps" Target="/ppt/presProps.xml" Id="Rf5f34aaa019a4379" /><Relationship Type="http://schemas.openxmlformats.org/officeDocument/2006/relationships/tableStyles" Target="/ppt/tableStyles.xml" Id="R76d71c8e73c740ad" /><Relationship Type="http://schemas.openxmlformats.org/officeDocument/2006/relationships/slide" Target="/ppt/slides/slide1.xml" Id="Rb76ed7d3fb68430e" /><Relationship Type="http://schemas.openxmlformats.org/officeDocument/2006/relationships/slide" Target="/ppt/slides/slide2.xml" Id="R6853b11e066b468d" /><Relationship Type="http://schemas.openxmlformats.org/officeDocument/2006/relationships/slide" Target="/ppt/slides/slide3.xml" Id="R2b2306846a2c46bf" /><Relationship Type="http://schemas.openxmlformats.org/officeDocument/2006/relationships/slide" Target="/ppt/slides/slide4.xml" Id="R56dbb15203184aa7" /><Relationship Type="http://schemas.openxmlformats.org/officeDocument/2006/relationships/slide" Target="/ppt/slides/slide5.xml" Id="Rc5bf227d1bb34037" /><Relationship Type="http://schemas.openxmlformats.org/officeDocument/2006/relationships/slide" Target="/ppt/slides/slide6.xml" Id="R9676d9299ddc423e" /><Relationship Type="http://schemas.openxmlformats.org/officeDocument/2006/relationships/slide" Target="/ppt/slides/slide7.xml" Id="Rbf9a7906e26b4604" /><Relationship Type="http://schemas.openxmlformats.org/officeDocument/2006/relationships/slide" Target="/ppt/slides/slide8.xml" Id="R4afd13a6f31f48fb" /><Relationship Type="http://schemas.openxmlformats.org/officeDocument/2006/relationships/slide" Target="/ppt/slides/slide9.xml" Id="R6e902781a60b4ba7" /><Relationship Type="http://schemas.openxmlformats.org/officeDocument/2006/relationships/slide" Target="/ppt/slides/slide10.xml" Id="Rd35f1aaa8d8c4852" /><Relationship Type="http://schemas.openxmlformats.org/officeDocument/2006/relationships/slide" Target="/ppt/slides/slide11.xml" Id="R986c2294606e4820" /><Relationship Type="http://schemas.openxmlformats.org/officeDocument/2006/relationships/slide" Target="/ppt/slides/slide12.xml" Id="R0c3ad0b4866249d5" /><Relationship Type="http://schemas.openxmlformats.org/officeDocument/2006/relationships/slide" Target="/ppt/slides/slide13.xml" Id="Rda8ecb3837a14ce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0b922447f8c467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59eec22cd2342d9" /><Relationship Type="http://schemas.openxmlformats.org/officeDocument/2006/relationships/notesMaster" Target="/ppt/notesMasters/notesMaster1.xml" Id="Rec0a7f8881004ef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0903f2fbedf4ba5" /><Relationship Type="http://schemas.openxmlformats.org/officeDocument/2006/relationships/notesMaster" Target="/ppt/notesMasters/notesMaster1.xml" Id="Re25d640bb1344cf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c0a149ea3324923" /><Relationship Type="http://schemas.openxmlformats.org/officeDocument/2006/relationships/notesMaster" Target="/ppt/notesMasters/notesMaster1.xml" Id="Rd2c3786e4a274c8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69d03c427f34c03" /><Relationship Type="http://schemas.openxmlformats.org/officeDocument/2006/relationships/notesMaster" Target="/ppt/notesMasters/notesMaster1.xml" Id="R8a435b6af455473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8fb407c63cc4556" /><Relationship Type="http://schemas.openxmlformats.org/officeDocument/2006/relationships/notesMaster" Target="/ppt/notesMasters/notesMaster1.xml" Id="Ra4de38b4e20a4a6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f5269b2e45e4ae4" /><Relationship Type="http://schemas.openxmlformats.org/officeDocument/2006/relationships/notesMaster" Target="/ppt/notesMasters/notesMaster1.xml" Id="Re59d80fb5351489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3385c4b6ed645b7" /><Relationship Type="http://schemas.openxmlformats.org/officeDocument/2006/relationships/notesMaster" Target="/ppt/notesMasters/notesMaster1.xml" Id="Rb1877fa381174ac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00db5c64de34a1d" /><Relationship Type="http://schemas.openxmlformats.org/officeDocument/2006/relationships/notesMaster" Target="/ppt/notesMasters/notesMaster1.xml" Id="Rfca520fa05d4460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284ba84c7e84bf0" /><Relationship Type="http://schemas.openxmlformats.org/officeDocument/2006/relationships/notesMaster" Target="/ppt/notesMasters/notesMaster1.xml" Id="R272c2dfc25674cf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e7076ae517c4dc3" /><Relationship Type="http://schemas.openxmlformats.org/officeDocument/2006/relationships/notesMaster" Target="/ppt/notesMasters/notesMaster1.xml" Id="Rb4ecd266f32a4bf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bddbc804b9146a5" /><Relationship Type="http://schemas.openxmlformats.org/officeDocument/2006/relationships/notesMaster" Target="/ppt/notesMasters/notesMaster1.xml" Id="R3dee5fb25ab54a6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88688fa5f4e4af0" /><Relationship Type="http://schemas.openxmlformats.org/officeDocument/2006/relationships/notesMaster" Target="/ppt/notesMasters/notesMaster1.xml" Id="Ra777db22e6b642dd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7a34425aa9b49f9" /><Relationship Type="http://schemas.openxmlformats.org/officeDocument/2006/relationships/notesMaster" Target="/ppt/notesMasters/notesMaster1.xml" Id="Ra0a340b2eb6043f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核心主張：不只是回答家長的問題，而是主動發現下一件值得處理的事。這是一份產品方向及分階段設計簡報，實現現況集中於『當前進度』頁。沒有成效、用戶數量或市場領先聲稱。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</a:t>
            </a:r>
          </a:p>
          <a:p xmlns:a="http://schemas.openxmlformats.org/drawingml/2006/main">
            <a:r>
              <a:t>SPEC.md#section-1-1</a:t>
            </a:r>
          </a:p>
          <a:p xmlns:a="http://schemas.openxmlformats.org/drawingml/2006/main">
            <a:r>
              <a:t>SPEC.md#section-1-2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待驗證的使用者問題：忙碌時不方便逐項填寫、不知道甚麼值得記或問、聊天和照片分散、多位照顧者交接遺漏、AI 失去歷史。這些是需求描述，不是已完成用戶研究或量化成效。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</a:t>
            </a:r>
          </a:p>
          <a:p xmlns:a="http://schemas.openxmlformats.org/drawingml/2006/main">
            <a:r>
              <a:t>SPEC.md#section-1-1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產品以四個年齡段組織資料及入口。四段的短句只是日常情境例子，不是醫療里程碑或適用所有孩子的發展標準。不可直接把嬰兒規則套用至其他年齡。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</a:t>
            </a:r>
          </a:p>
          <a:p xmlns:a="http://schemas.openxmlformats.org/drawingml/2006/main">
            <a:r>
              <a:t>SPEC.md#section-1-2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Agent 由事件或到期工作觸發，不持續空轉呼叫模型。理解情境、發現缺項、必要時補問，先确认資料和預先授權範圍。授權內可自動執行，每次仍核對當前權限、任務終態及既有投遞。超出範圍才要求新確認；撤權、取消、完成後停止後續動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</a:t>
            </a:r>
          </a:p>
          <a:p xmlns:a="http://schemas.openxmlformats.org/drawingml/2006/main">
            <a:r>
              <a:t>docs/ARCHITECTURE.md#section-3-5</a:t>
            </a:r>
          </a:p>
          <a:p xmlns:a="http://schemas.openxmlformats.org/drawingml/2006/main">
            <a:r>
              <a:t>docs/ARCHITECTURE.md#section-5-5</a:t>
            </a:r>
          </a:p>
          <a:p xmlns:a="http://schemas.openxmlformats.org/drawingml/2006/main">
            <a:r>
              <a:t>SPEC.md#section-1-6</a:t>
            </a:r>
          </a:p>
          <a:p xmlns:a="http://schemas.openxmlformats.org/drawingml/2006/main">
            <a:r>
              <a:t>階段：P2；已確認設計／規劃，不代表已實現。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展示未來完整旅程，並以階段標籤區分：P1 登入、孩子、文字記錄、Server 保存及原始聊天；P2 歷史記憶、主動發現及授權協作；P3 完整跨端家庭交接；P4 一頁摘要、趨勢及 PDF。沒有真產品截圖或真實家庭資料。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</a:t>
            </a:r>
          </a:p>
          <a:p xmlns:a="http://schemas.openxmlformats.org/drawingml/2006/main">
            <a:r>
              <a:t>PLAN.md#phases</a:t>
            </a:r>
          </a:p>
          <a:p xmlns:a="http://schemas.openxmlformats.org/drawingml/2006/main">
            <a:r>
              <a:t>SPEC.md#staged-delivery</a:t>
            </a:r>
          </a:p>
          <a:p xmlns:a="http://schemas.openxmlformats.org/drawingml/2006/main">
            <a:r>
              <a:t>階段：P1–P4；已確認設計／規劃，不代表已實現。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不讓模型繞過 Server 的工具校驗和權限檢查。保存、計數、重複檢查、排程及任務狀態由程式處理。外部內容是不可信输入，不能直接變成家庭事實或執行授權。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</a:t>
            </a:r>
          </a:p>
          <a:p xmlns:a="http://schemas.openxmlformats.org/drawingml/2006/main">
            <a:r>
              <a:t>docs/ARCHITECTURE.md#section-3-1</a:t>
            </a:r>
          </a:p>
          <a:p xmlns:a="http://schemas.openxmlformats.org/drawingml/2006/main">
            <a:r>
              <a:t>docs/ARCHITECTURE.md#section-3-5</a:t>
            </a:r>
          </a:p>
          <a:p xmlns:a="http://schemas.openxmlformats.org/drawingml/2006/main">
            <a:r>
              <a:t>階段：P2；已確認設計／規劃，不代表已實現。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這是已確認架構設計，非運行系統畫面。Web／Android 為在線客戶端，Server 是唯一業務資料權威，PostgreSQL 保存資料。Better Auth、Gemini 接入、Server worker、Knowledge 及通知 adapter 位於 Server 側。沒有手機 SQLite／瀏覽器 IndexedDB 業務主庫、離線 outbox 或 Client Agent。P4 的 Server 搬遷保持單主。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</a:t>
            </a:r>
          </a:p>
          <a:p xmlns:a="http://schemas.openxmlformats.org/drawingml/2006/main">
            <a:r>
              <a:t>docs/ARCHITECTURE.md#section-3-1</a:t>
            </a:r>
          </a:p>
          <a:p xmlns:a="http://schemas.openxmlformats.org/drawingml/2006/main">
            <a:r>
              <a:t>docs/DECISIONS.md#adr-008</a:t>
            </a:r>
          </a:p>
          <a:p xmlns:a="http://schemas.openxmlformats.org/drawingml/2006/main">
            <a:r>
              <a:t>PLAN.md#phases</a:t>
            </a:r>
          </a:p>
          <a:p xmlns:a="http://schemas.openxmlformats.org/drawingml/2006/main">
            <a:r>
              <a:t>階段：P1–P4；已確認設計／規劃，不代表已實現。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資料確認與持久保存確認不同。AI 草稿須經校驗及必要確認，再由 Server 確認寫入。一般育兒指引與近期資訊分開，引用應支持說法。外部資料不等於政府個人病歷接口，亦不代表政府認可。網絡或 AI 失敗時保留當前輸入，結果未知先查核原操作，不盲目重發。可追溯流程另見 assets/diagrams/traceability.svg。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</a:t>
            </a:r>
          </a:p>
          <a:p xmlns:a="http://schemas.openxmlformats.org/drawingml/2006/main">
            <a:r>
              <a:t>SPEC.md#section-1-5</a:t>
            </a:r>
          </a:p>
          <a:p xmlns:a="http://schemas.openxmlformats.org/drawingml/2006/main">
            <a:r>
              <a:t>SPEC.md#section-4-7</a:t>
            </a:r>
          </a:p>
          <a:p xmlns:a="http://schemas.openxmlformats.org/drawingml/2006/main">
            <a:r>
              <a:t>SPEC.md#knowledge-freshness</a:t>
            </a:r>
          </a:p>
          <a:p xmlns:a="http://schemas.openxmlformats.org/drawingml/2006/main">
            <a:r>
              <a:t>SPEC.md#ac-server-agent</a:t>
            </a:r>
          </a:p>
          <a:p xmlns:a="http://schemas.openxmlformats.org/drawingml/2006/main">
            <a:r>
              <a:t>階段：P1–P4；已確認設計／規劃，不代表已實現。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P1 的門檻包括登入隔離、Server 保存、文字記錄與聊天、真 Gemini、加密及最小備份還原、組員可獨立試玩的 URL。P2 是比賽主要目標：家庭權限、長期記憶、照片、官方知識與近期資訊、主動任務、Web Push、Telegram 及授權 fallback。P3 交付 Android／FCM／語音相機及完整交接。P4 包含自選相容 Server、Windows Docker Compose、配對、完整 Knowledge、分享／趨勢／PDF、搬遷、災備及 rollback。P5 不承接任何未完成必要能力。沒有承諾六週完成。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</a:t>
            </a:r>
          </a:p>
          <a:p xmlns:a="http://schemas.openxmlformats.org/drawingml/2006/main">
            <a:r>
              <a:t>PLAN.md#phases</a:t>
            </a:r>
          </a:p>
          <a:p xmlns:a="http://schemas.openxmlformats.org/drawingml/2006/main">
            <a:r>
              <a:t>SPEC.md#staged-delivery</a:t>
            </a:r>
          </a:p>
          <a:p xmlns:a="http://schemas.openxmlformats.org/drawingml/2006/main">
            <a:r>
              <a:t>階段：P1–P5；已確認設計／規劃，不代表已實現。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本頁所有進度陳述來自 project-status.json。只反映已合併基線，不自動納入其他 worktree 或尚未合併分支。已確認設計、已實現、已驗證及已完成必須分開。視覺資產完成不代表 P1 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</a:t>
            </a:r>
          </a:p>
          <a:p xmlns:a="http://schemas.openxmlformats.org/drawingml/2006/main">
            <a:r>
              <a:t>STATUS.md</a:t>
            </a:r>
          </a:p>
          <a:p xmlns:a="http://schemas.openxmlformats.org/drawingml/2006/main">
            <a:r>
              <a:t>PLAN.md#verification</a:t>
            </a:r>
          </a:p>
          <a:p xmlns:a="http://schemas.openxmlformats.org/drawingml/2006/main">
            <a:r>
              <a:t>artifacts/verification/S03_W01_CHECKS.json</a:t>
            </a:r>
          </a:p>
          <a:p xmlns:a="http://schemas.openxmlformats.org/drawingml/2006/main">
            <a:r>
              <a:t>驗證陳述引用已合併 S06-W03／S03-W01 證據，本素材整合沒有重跑產品測試。</a:t>
            </a:r>
          </a:p>
          <a:p xmlns:a="http://schemas.openxmlformats.org/drawingml/2006/main">
            <a:r>
              <a:t>查核基線：39eb5aabe80f09e8c0d44bf58649fa221ad71fc0</a:t>
            </a:r>
          </a:p>
          <a:p xmlns:a="http://schemas.openxmlformats.org/drawingml/2006/main">
            <a:r>
              <a:t>artifacts/verification/S06_W03_CHECKS.json</a:t>
            </a:r>
          </a:p>
          <a:p xmlns:a="http://schemas.openxmlformats.org/drawingml/2006/main">
            <a:r>
              <a:t>artifacts/verification/S03_W01_CHECKS.json</a:t>
            </a:r>
          </a:p>
          <a:p xmlns:a="http://schemas.openxmlformats.org/drawingml/2006/main">
            <a:r>
              <a:t>Git merge PR #10 / #12 / #13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所有空白槽均是明示的 screenshot 預留，不是假冒產品介面。替換截圖須記錄來源基線和真實流程狀態，只使用合成資料。即使有 screenshot，也不能單憑畫面宣稱持久保存或 Agent 實際運行。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</a:t>
            </a:r>
          </a:p>
          <a:p xmlns:a="http://schemas.openxmlformats.org/drawingml/2006/main">
            <a:r>
              <a:t>PLAN.md#phases</a:t>
            </a:r>
          </a:p>
          <a:p xmlns:a="http://schemas.openxmlformats.org/drawingml/2006/main">
            <a:r>
              <a:t>SPEC.md#section-10-1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這裏說明已確認的設計邊界及未來演進方向，不宣稱共享能力已全部實現。記憶、任务、工具、來源與通知按需要建立，Web／Android 共用業務規則，平台 adapter 保持薄身。未來可調整育兒知識、prompt及規則，但當前只做育有方，沒有第二主題或動態插件平台。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</a:t>
            </a:r>
          </a:p>
          <a:p xmlns:a="http://schemas.openxmlformats.org/drawingml/2006/main">
            <a:r>
              <a:t>docs/ARCHITECTURE.md#section-3-1</a:t>
            </a:r>
          </a:p>
          <a:p xmlns:a="http://schemas.openxmlformats.org/drawingml/2006/main">
            <a:r>
              <a:t>PLAN.md#phases</a:t>
            </a:r>
          </a:p>
          <a:p xmlns:a="http://schemas.openxmlformats.org/drawingml/2006/main">
            <a:r>
              <a:t>階段：P2–P4；已確認設計／規劃，不代表已實現。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結語重申產品願景，不宣稱 AI 自動照顧孩子或保證健康。所有能力依五階段驗收落地，實現現況以獨立 status snapshot 為準。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</a:t>
            </a:r>
          </a:p>
          <a:p xmlns:a="http://schemas.openxmlformats.org/drawingml/2006/main">
            <a:r>
              <a:t>SPEC.md#section-1-1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b2692fd7cfc43e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a6b807400d64d62" /><Relationship Type="http://schemas.openxmlformats.org/officeDocument/2006/relationships/slideLayout" Target="/ppt/slideLayouts/slideLayout1.xml" Id="R78483e97b09d4e9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8483e97b09d4e9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?>
<rel:Relationships xmlns:rel="http://schemas.openxmlformats.org/package/2006/relationships"><rel:Relationship Type="http://schemas.openxmlformats.org/officeDocument/2006/relationships/slideLayout" Target="/ppt/slideLayouts/slideLayout1.xml" Id="Rb8d9578791ba44f6" /><rel:Relationship Type="http://schemas.openxmlformats.org/officeDocument/2006/relationships/image" Target="/ppt/media/image.png" Id="R930b353481f64517" /><rel:Relationship Type="http://schemas.openxmlformats.org/officeDocument/2006/relationships/notesSlide" Target="/ppt/notesSlides/notesSlide1.xml" Id="R2f5950db54804ec5" /><rel:Relationship Id="rIdVector1" Type="http://schemas.openxmlformats.org/officeDocument/2006/relationships/image" Target="../media/visual-08fc381a186efe482a5f.svg" /></rel:Relationships>
</file>

<file path=ppt/slides/_rels/slide2.xml.rels><?xml version='1.0' encoding='utf-8'?>
<rel:Relationships xmlns:rel="http://schemas.openxmlformats.org/package/2006/relationships"><rel:Relationship Type="http://schemas.openxmlformats.org/officeDocument/2006/relationships/slideLayout" Target="/ppt/slideLayouts/slideLayout1.xml" Id="Re740fe65b05f464b" /><rel:Relationship Type="http://schemas.openxmlformats.org/officeDocument/2006/relationships/image" Target="/ppt/media/image2.png" Id="R83ba830f49794d23" /><rel:Relationship Type="http://schemas.openxmlformats.org/officeDocument/2006/relationships/notesSlide" Target="/ppt/notesSlides/notesSlide2.xml" Id="R44b2219162394e41" /><rel:Relationship Id="rIdVector1" Type="http://schemas.openxmlformats.org/officeDocument/2006/relationships/image" Target="../media/visual-2a7e0f991c2799efda0e.svg" /></rel:Relationships>
</file>

<file path=ppt/slides/_rels/slide3.xml.rels><?xml version='1.0' encoding='utf-8'?>
<rel:Relationships xmlns:rel="http://schemas.openxmlformats.org/package/2006/relationships"><rel:Relationship Type="http://schemas.openxmlformats.org/officeDocument/2006/relationships/slideLayout" Target="/ppt/slideLayouts/slideLayout1.xml" Id="R45ab085d0b5c45e7" /><rel:Relationship Type="http://schemas.openxmlformats.org/officeDocument/2006/relationships/image" Target="/ppt/media/image3.png" Id="Re62f1d4f8c1543ca" /><rel:Relationship Type="http://schemas.openxmlformats.org/officeDocument/2006/relationships/notesSlide" Target="/ppt/notesSlides/notesSlide3.xml" Id="Rbfd16407bf8c4371" /><rel:Relationship Id="rIdVector1" Type="http://schemas.openxmlformats.org/officeDocument/2006/relationships/image" Target="../media/visual-c54b70de044377fbb1a3.svg" /></rel:Relationships>
</file>

<file path=ppt/slides/_rels/slide4.xml.rels><?xml version='1.0' encoding='utf-8'?>
<rel:Relationships xmlns:rel="http://schemas.openxmlformats.org/package/2006/relationships"><rel:Relationship Type="http://schemas.openxmlformats.org/officeDocument/2006/relationships/slideLayout" Target="/ppt/slideLayouts/slideLayout1.xml" Id="R7f6b429eed4143d3" /><rel:Relationship Type="http://schemas.openxmlformats.org/officeDocument/2006/relationships/image" Target="/ppt/media/image4.png" Id="Rbff7666fcd1047f8" /><rel:Relationship Type="http://schemas.openxmlformats.org/officeDocument/2006/relationships/notesSlide" Target="/ppt/notesSlides/notesSlide4.xml" Id="Rf069a7405d194484" /><rel:Relationship Id="rIdVector1" Type="http://schemas.openxmlformats.org/officeDocument/2006/relationships/image" Target="../media/visual-845eb59094bfc79c1440.svg" /></rel:Relationships>
</file>

<file path=ppt/slides/_rels/slide5.xml.rels><?xml version='1.0' encoding='utf-8'?>
<rel:Relationships xmlns:rel="http://schemas.openxmlformats.org/package/2006/relationships"><rel:Relationship Type="http://schemas.openxmlformats.org/officeDocument/2006/relationships/slideLayout" Target="/ppt/slideLayouts/slideLayout1.xml" Id="R9563483d0852472f" /><rel:Relationship Type="http://schemas.openxmlformats.org/officeDocument/2006/relationships/image" Target="/ppt/media/image5.png" Id="R72dc4df9a94b4033" /><rel:Relationship Type="http://schemas.openxmlformats.org/officeDocument/2006/relationships/notesSlide" Target="/ppt/notesSlides/notesSlide5.xml" Id="R81a52d70bf334086" /><rel:Relationship Id="rIdVector1" Type="http://schemas.openxmlformats.org/officeDocument/2006/relationships/image" Target="../media/visual-ea07b046145d578c49f9.svg" /></rel:Relationships>
</file>

<file path=ppt/slides/_rels/slide6.xml.rels><?xml version='1.0' encoding='utf-8'?>
<rel:Relationships xmlns:rel="http://schemas.openxmlformats.org/package/2006/relationships"><rel:Relationship Type="http://schemas.openxmlformats.org/officeDocument/2006/relationships/slideLayout" Target="/ppt/slideLayouts/slideLayout1.xml" Id="R078e2ac1b37745dc" /><rel:Relationship Type="http://schemas.openxmlformats.org/officeDocument/2006/relationships/image" Target="/ppt/media/image6.png" Id="R999edff7a804498c" /><rel:Relationship Type="http://schemas.openxmlformats.org/officeDocument/2006/relationships/notesSlide" Target="/ppt/notesSlides/notesSlide6.xml" Id="Rb5d381f9d8214fcc" /><rel:Relationship Id="rIdVector1" Type="http://schemas.openxmlformats.org/officeDocument/2006/relationships/image" Target="../media/visual-a4046750f5be5d24e64c.svg" /></rel:Relationships>
</file>

<file path=ppt/slides/_rels/slide7.xml.rels><?xml version='1.0' encoding='utf-8'?>
<rel:Relationships xmlns:rel="http://schemas.openxmlformats.org/package/2006/relationships"><rel:Relationship Type="http://schemas.openxmlformats.org/officeDocument/2006/relationships/slideLayout" Target="/ppt/slideLayouts/slideLayout1.xml" Id="R6550318f1fe74390" /><rel:Relationship Type="http://schemas.openxmlformats.org/officeDocument/2006/relationships/image" Target="/ppt/media/image7.png" Id="R99e09df38af045c3" /><rel:Relationship Type="http://schemas.openxmlformats.org/officeDocument/2006/relationships/notesSlide" Target="/ppt/notesSlides/notesSlide7.xml" Id="R314ac6fe6b16446d" /><rel:Relationship Id="rIdVector1" Type="http://schemas.openxmlformats.org/officeDocument/2006/relationships/image" Target="../media/visual-9f41b4cce61c3ebe6b10.svg" /></rel:Relationships>
</file>

<file path=ppt/slides/_rels/slide8.xml.rels><?xml version='1.0' encoding='utf-8'?>
<rel:Relationships xmlns:rel="http://schemas.openxmlformats.org/package/2006/relationships"><rel:Relationship Type="http://schemas.openxmlformats.org/officeDocument/2006/relationships/slideLayout" Target="/ppt/slideLayouts/slideLayout1.xml" Id="R747827b2da904b2e" /><rel:Relationship Type="http://schemas.openxmlformats.org/officeDocument/2006/relationships/image" Target="/ppt/media/image8.png" Id="R01cf7767f6054236" /><rel:Relationship Type="http://schemas.openxmlformats.org/officeDocument/2006/relationships/notesSlide" Target="/ppt/notesSlides/notesSlide8.xml" Id="R352d99bb34b74bb0" /><rel:Relationship Id="rIdVector1" Type="http://schemas.openxmlformats.org/officeDocument/2006/relationships/image" Target="../media/visual-66ab87fff58ff5bcf930.svg" /></rel:Relationships>
</file>

<file path=ppt/slides/_rels/slide9.xml.rels><?xml version='1.0' encoding='utf-8'?>
<rel:Relationships xmlns:rel="http://schemas.openxmlformats.org/package/2006/relationships"><rel:Relationship Type="http://schemas.openxmlformats.org/officeDocument/2006/relationships/slideLayout" Target="/ppt/slideLayouts/slideLayout1.xml" Id="R2714c16e81164370" /><rel:Relationship Type="http://schemas.openxmlformats.org/officeDocument/2006/relationships/image" Target="/ppt/media/image9.png" Id="Rba5c6e7482c64caf" /><rel:Relationship Type="http://schemas.openxmlformats.org/officeDocument/2006/relationships/notesSlide" Target="/ppt/notesSlides/notesSlide9.xml" Id="Rdb428a5b7fcb4ea0" /><rel:Relationship Id="rIdVector1" Type="http://schemas.openxmlformats.org/officeDocument/2006/relationships/image" Target="../media/visual-8a060ee1dcff9d4f8213.svg" /></rel: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6e226e939d4b1a" /><Relationship Type="http://schemas.openxmlformats.org/officeDocument/2006/relationships/notesSlide" Target="/ppt/notesSlides/notesSlide10.xml" Id="R05f43424cd44403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c9e0a6092a478e" /><Relationship Type="http://schemas.openxmlformats.org/officeDocument/2006/relationships/notesSlide" Target="/ppt/notesSlides/notesSlide11.xml" Id="R3267139d8cb0472a" /></Relationships>
</file>

<file path=ppt/slides/_rels/slide12.xml.rels><?xml version='1.0' encoding='utf-8'?>
<rel:Relationships xmlns:rel="http://schemas.openxmlformats.org/package/2006/relationships"><rel:Relationship Type="http://schemas.openxmlformats.org/officeDocument/2006/relationships/slideLayout" Target="/ppt/slideLayouts/slideLayout1.xml" Id="R9e7a07dc8aeb4cad" /><rel:Relationship Type="http://schemas.openxmlformats.org/officeDocument/2006/relationships/image" Target="/ppt/media/image10.png" Id="R1fd64f5372d54b49" /><rel:Relationship Type="http://schemas.openxmlformats.org/officeDocument/2006/relationships/notesSlide" Target="/ppt/notesSlides/notesSlide12.xml" Id="Re61882b1d81045ba" /><rel:Relationship Id="rIdVector1" Type="http://schemas.openxmlformats.org/officeDocument/2006/relationships/image" Target="../media/visual-af6110f1a824fd0e8c69.svg" /></rel:Relationships>
</file>

<file path=ppt/slides/_rels/slide13.xml.rels><?xml version='1.0' encoding='utf-8'?>
<rel:Relationships xmlns:rel="http://schemas.openxmlformats.org/package/2006/relationships"><rel:Relationship Type="http://schemas.openxmlformats.org/officeDocument/2006/relationships/slideLayout" Target="/ppt/slideLayouts/slideLayout1.xml" Id="Re9720820907e46e3" /><rel:Relationship Type="http://schemas.openxmlformats.org/officeDocument/2006/relationships/image" Target="/ppt/media/image11.png" Id="R891c146738414494" /><rel:Relationship Type="http://schemas.openxmlformats.org/officeDocument/2006/relationships/image" Target="/ppt/media/image12.png" Id="R3b962a4f01184f8d" /><rel:Relationship Type="http://schemas.openxmlformats.org/officeDocument/2006/relationships/notesSlide" Target="/ppt/notesSlides/notesSlide13.xml" Id="R1c7150ad5927463e" /><rel:Relationship Id="rIdVector1" Type="http://schemas.openxmlformats.org/officeDocument/2006/relationships/image" Target="../media/visual-fc9bf1546d3855312535.svg" /><rel:Relationship Id="rIdVector2" Type="http://schemas.openxmlformats.org/officeDocument/2006/relationships/image" Target="../media/visual-08fc381a186efe482a5f.svg" /></rel:Relationships>
</file>

<file path=ppt/slides/slide1.xml><?xml version="1.0" encoding="utf-8"?>
<p:sld xmlns:a="http://schemas.openxmlformats.org/drawingml/2006/main" xmlns:asvg="http://schemas.microsoft.com/office/drawing/2016/SVG/main" xmlns:ns2="http://schemas.microsoft.com/office/drawing/2014/main" xmlns:ns5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AF7E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6" name="cover-text-0">
            <a:extLst>
              <a:ext uri="{FF2B5EF4-FFF2-40B4-BE49-F238E27FC236}">
                <ns2:creationId id="{F764BFF8-EE70-4D9F-BE34-B7423D51DD51}"/>
              </a:ext>
            </a:extLst>
          </p:cNvPr>
          <p:cNvSpPr>
            <a:spLocks noGrp="1"/>
          </p:cNvSpPr>
          <p:nvPr/>
        </p:nvSpPr>
        <p:spPr>
          <a:xfrm>
            <a:off x="685800" y="895350"/>
            <a:ext cx="49530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1800" b="0">
                <a:solidFill>
                  <a:srgbClr val="28756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287568"/>
                </a:solidFill>
                <a:latin typeface="Microsoft JhengHei"/>
                <a:ea typeface="Microsoft JhengHei"/>
                <a:cs typeface="Microsoft JhengHei"/>
              </a:rPr>
              <a:t>主動式 AI 照護協作助手</a:t>
            </a:r>
          </a:p>
        </p:txBody>
      </p:sp>
      <p:sp>
        <p:nvSpPr>
          <p:cNvPr id="2" name="cover-text-1">
            <a:extLst>
              <a:ext uri="{FF2B5EF4-FFF2-40B4-BE49-F238E27FC236}">
                <ns2:creationId id="{EE1A31FE-3BFC-467B-84F8-39A93537EF1A}"/>
              </a:ext>
            </a:extLst>
          </p:cNvPr>
          <p:cNvSpPr>
            <a:spLocks noGrp="1"/>
          </p:cNvSpPr>
          <p:nvPr/>
        </p:nvSpPr>
        <p:spPr>
          <a:xfrm>
            <a:off x="647700" y="1638300"/>
            <a:ext cx="4953000" cy="1047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5850" b="1">
                <a:solidFill>
                  <a:srgbClr val="203E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5850" b="1">
                <a:solidFill>
                  <a:srgbClr val="203E3A"/>
                </a:solidFill>
                <a:latin typeface="Microsoft JhengHei"/>
                <a:ea typeface="Microsoft JhengHei"/>
                <a:cs typeface="Microsoft JhengHei"/>
              </a:rPr>
              <a:t>育有方</a:t>
            </a:r>
          </a:p>
        </p:txBody>
      </p:sp>
      <p:sp>
        <p:nvSpPr>
          <p:cNvPr id="3" name="cover-text-2">
            <a:extLst>
              <a:ext uri="{FF2B5EF4-FFF2-40B4-BE49-F238E27FC236}">
                <ns2:creationId id="{A1F772DD-56D1-48A5-8D5D-7D12E835BF31}"/>
              </a:ext>
            </a:extLst>
          </p:cNvPr>
          <p:cNvSpPr>
            <a:spLocks noGrp="1"/>
          </p:cNvSpPr>
          <p:nvPr/>
        </p:nvSpPr>
        <p:spPr>
          <a:xfrm>
            <a:off x="685800" y="2952750"/>
            <a:ext cx="5619750" cy="1371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2850" b="1">
                <a:solidFill>
                  <a:srgbClr val="203E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850" b="1">
                <a:solidFill>
                  <a:srgbClr val="203E3A"/>
                </a:solidFill>
                <a:latin typeface="Microsoft JhengHei"/>
                <a:ea typeface="Microsoft JhengHei"/>
                <a:cs typeface="Microsoft JhengHei"/>
              </a:rPr>
              <a:t>陪家長發現</a:t>
            </a:r>
          </a:p>
          <a:p>
            <a:pPr algn="l">
              <a:lnSpc>
                <a:spcPct val="118000"/>
              </a:lnSpc>
              <a:buNone/>
              <a:defRPr sz="2850" b="1">
                <a:solidFill>
                  <a:srgbClr val="203E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850" b="1">
                <a:solidFill>
                  <a:srgbClr val="203E3A"/>
                </a:solidFill>
                <a:latin typeface="Microsoft JhengHei"/>
                <a:ea typeface="Microsoft JhengHei"/>
                <a:cs typeface="Microsoft JhengHei"/>
              </a:rPr>
              <a:t>下一件值得處理的事</a:t>
            </a:r>
          </a:p>
        </p:txBody>
      </p:sp>
      <p:sp>
        <p:nvSpPr>
          <p:cNvPr id="4" name="cover-text-3">
            <a:extLst>
              <a:ext uri="{FF2B5EF4-FFF2-40B4-BE49-F238E27FC236}">
                <ns2:creationId id="{C346005E-B9D4-412E-A5F7-0F8E30008C40}"/>
              </a:ext>
            </a:extLst>
          </p:cNvPr>
          <p:cNvSpPr>
            <a:spLocks noGrp="1"/>
          </p:cNvSpPr>
          <p:nvPr/>
        </p:nvSpPr>
        <p:spPr>
          <a:xfrm>
            <a:off x="704850" y="5391150"/>
            <a:ext cx="57150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1725" b="0">
                <a:solidFill>
                  <a:srgbClr val="60756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60756E"/>
                </a:solidFill>
                <a:latin typeface="Microsoft JhengHei"/>
                <a:ea typeface="Microsoft JhengHei"/>
                <a:cs typeface="Microsoft JhengHei"/>
              </a:rPr>
              <a:t>香港家庭成年照顧者 · 0–10 歲</a:t>
            </a:r>
          </a:p>
        </p:txBody>
      </p:sp>
      <p:pic>
        <p:nvPicPr>
          <p:cNvPr id="10" name=""/>
          <p:cNvPicPr>
            <a:picLocks noChangeAspect="1"/>
          </p:cNvPicPr>
          <p:nvPr/>
        </p:nvPicPr>
        <p:blipFill>
          <a:blip r:embed="R930b353481f64517">
            <a:extLst>
              <a:ext uri="{96DAC541-7B7A-43D3-8B79-37D633B846F1}">
                <asvg:svgBlip r:embed="rIdVector1"/>
              </a:ext>
            </a:extLst>
          </a:blip>
          <a:stretch/>
        </p:blipFill>
        <p:spPr>
          <a:xfrm>
            <a:off x="6000750" y="1604962"/>
            <a:ext cx="5905500" cy="3543300"/>
          </a:xfrm>
          <a:prstGeom prst="rect">
            <a:avLst/>
          </a:prstGeom>
        </p:spPr>
      </p:pic>
    </p:spTree>
    <p:extLst>
      <p:ext uri="{BB962C8B-B14F-4D97-AF65-F5344CB8AC3E}">
        <ns5:creationId val="881025734"/>
      </p:ext>
    </p:extLst>
  </p:cSld>
</p:sld>
</file>

<file path=ppt/slides/slide2.xml><?xml version="1.0" encoding="utf-8"?>
<p:sld xmlns:a="http://schemas.openxmlformats.org/drawingml/2006/main" xmlns:asvg="http://schemas.microsoft.com/office/drawing/2016/SVG/main" xmlns:ns2="http://schemas.microsoft.com/office/drawing/2014/main" xmlns:ns5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AF7E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3" name="problem-text-4">
            <a:extLst>
              <a:ext uri="{FF2B5EF4-FFF2-40B4-BE49-F238E27FC236}">
                <ns2:creationId id="{74AEAFFA-153A-4169-B7C1-EF1CCE25EAB5}"/>
              </a:ext>
            </a:extLst>
          </p:cNvPr>
          <p:cNvSpPr>
            <a:spLocks noGrp="1"/>
          </p:cNvSpPr>
          <p:nvPr/>
        </p:nvSpPr>
        <p:spPr>
          <a:xfrm>
            <a:off x="685800" y="466725"/>
            <a:ext cx="108204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3300" b="1">
                <a:solidFill>
                  <a:srgbClr val="203E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203E3A"/>
                </a:solidFill>
                <a:latin typeface="Microsoft JhengHei"/>
                <a:ea typeface="Microsoft JhengHei"/>
                <a:cs typeface="Microsoft JhengHei"/>
              </a:rPr>
              <a:t>家長未必知道甚麼值得問</a:t>
            </a:r>
          </a:p>
        </p:txBody>
      </p:sp>
      <p:pic>
        <p:nvPicPr>
          <p:cNvPr id="4" name=""/>
          <p:cNvPicPr>
            <a:picLocks noChangeAspect="1"/>
          </p:cNvPicPr>
          <p:nvPr/>
        </p:nvPicPr>
        <p:blipFill>
          <a:blip r:embed="R83ba830f49794d23">
            <a:extLst>
              <a:ext uri="{96DAC541-7B7A-43D3-8B79-37D633B846F1}">
                <asvg:svgBlip r:embed="rIdVector1"/>
              </a:ext>
            </a:extLst>
          </a:blip>
          <a:stretch/>
        </p:blipFill>
        <p:spPr>
          <a:xfrm>
            <a:off x="1778000" y="1304925"/>
            <a:ext cx="8636000" cy="5181600"/>
          </a:xfrm>
          <a:prstGeom prst="rect">
            <a:avLst/>
          </a:prstGeom>
        </p:spPr>
      </p:pic>
    </p:spTree>
    <p:extLst>
      <p:ext uri="{BB962C8B-B14F-4D97-AF65-F5344CB8AC3E}">
        <ns5:creationId val="1118396319"/>
      </p:ext>
    </p:extLst>
  </p:cSld>
</p:sld>
</file>

<file path=ppt/slides/slide3.xml><?xml version="1.0" encoding="utf-8"?>
<p:sld xmlns:a="http://schemas.openxmlformats.org/drawingml/2006/main" xmlns:asvg="http://schemas.microsoft.com/office/drawing/2016/SVG/main" xmlns:ns2="http://schemas.microsoft.com/office/drawing/2014/main" xmlns:ns5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AF7E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21" name="audience-text-5">
            <a:extLst>
              <a:ext uri="{FF2B5EF4-FFF2-40B4-BE49-F238E27FC236}">
                <ns2:creationId id="{DD4DDD90-9325-435E-B9D5-6F6A161AC468}"/>
              </a:ext>
            </a:extLst>
          </p:cNvPr>
          <p:cNvSpPr>
            <a:spLocks noGrp="1"/>
          </p:cNvSpPr>
          <p:nvPr/>
        </p:nvSpPr>
        <p:spPr>
          <a:xfrm>
            <a:off x="685800" y="466725"/>
            <a:ext cx="108204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3300" b="1">
                <a:solidFill>
                  <a:srgbClr val="203E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203E3A"/>
                </a:solidFill>
                <a:latin typeface="Microsoft JhengHei"/>
                <a:ea typeface="Microsoft JhengHei"/>
                <a:cs typeface="Microsoft JhengHei"/>
              </a:rPr>
              <a:t>陪伴 0–10 歲的不同成長階段</a:t>
            </a:r>
          </a:p>
        </p:txBody>
      </p:sp>
      <p:sp>
        <p:nvSpPr>
          <p:cNvPr id="2" name="">
            <a:extLst>
              <a:ext uri="{FF2B5EF4-FFF2-40B4-BE49-F238E27FC236}">
                <ns2:creationId id="{83046113-CB2D-49C2-8259-61CBA0738A4C}"/>
              </a:ext>
            </a:extLst>
          </p:cNvPr>
          <p:cNvSpPr>
            <a:spLocks noGrp="1"/>
          </p:cNvSpPr>
          <p:nvPr/>
        </p:nvSpPr>
        <p:spPr>
          <a:xfrm>
            <a:off x="685800" y="1952625"/>
            <a:ext cx="2343150" cy="38100"/>
          </a:xfrm>
          <a:prstGeom prst="rect">
            <a:avLst/>
          </a:prstGeom>
          <a:solidFill>
            <a:srgbClr val="287568"/>
          </a:solidFill>
          <a:ln w="0">
            <a:noFill/>
          </a:ln>
        </p:spPr>
      </p:sp>
      <p:sp>
        <p:nvSpPr>
          <p:cNvPr id="3" name="audience-text-6">
            <a:extLst>
              <a:ext uri="{FF2B5EF4-FFF2-40B4-BE49-F238E27FC236}">
                <ns2:creationId id="{E2F2F7F4-E2BE-4071-B4BA-1B961C9E2991}"/>
              </a:ext>
            </a:extLst>
          </p:cNvPr>
          <p:cNvSpPr>
            <a:spLocks noGrp="1"/>
          </p:cNvSpPr>
          <p:nvPr/>
        </p:nvSpPr>
        <p:spPr>
          <a:xfrm>
            <a:off x="685800" y="2247900"/>
            <a:ext cx="17145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4050" b="1">
                <a:solidFill>
                  <a:srgbClr val="203E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4050" b="1">
                <a:solidFill>
                  <a:srgbClr val="203E3A"/>
                </a:solidFill>
                <a:latin typeface="Microsoft JhengHei"/>
                <a:ea typeface="Microsoft JhengHei"/>
                <a:cs typeface="Microsoft JhengHei"/>
              </a:rPr>
              <a:t>0–1</a:t>
            </a:r>
          </a:p>
        </p:txBody>
      </p:sp>
      <p:sp>
        <p:nvSpPr>
          <p:cNvPr id="4" name="audience-text-7">
            <a:extLst>
              <a:ext uri="{FF2B5EF4-FFF2-40B4-BE49-F238E27FC236}">
                <ns2:creationId id="{F7837FCE-16BE-4317-83D3-50415E409EDE}"/>
              </a:ext>
            </a:extLst>
          </p:cNvPr>
          <p:cNvSpPr>
            <a:spLocks noGrp="1"/>
          </p:cNvSpPr>
          <p:nvPr/>
        </p:nvSpPr>
        <p:spPr>
          <a:xfrm>
            <a:off x="2438400" y="2457450"/>
            <a:ext cx="5334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1800" b="0">
                <a:solidFill>
                  <a:srgbClr val="60756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60756E"/>
                </a:solidFill>
                <a:latin typeface="Microsoft JhengHei"/>
                <a:ea typeface="Microsoft JhengHei"/>
                <a:cs typeface="Microsoft JhengHei"/>
              </a:rPr>
              <a:t>歲</a:t>
            </a:r>
          </a:p>
        </p:txBody>
      </p:sp>
      <p:sp>
        <p:nvSpPr>
          <p:cNvPr id="5" name="audience-text-8">
            <a:extLst>
              <a:ext uri="{FF2B5EF4-FFF2-40B4-BE49-F238E27FC236}">
                <ns2:creationId id="{8DC1859F-D65A-45F4-B19D-753F31C5C140}"/>
              </a:ext>
            </a:extLst>
          </p:cNvPr>
          <p:cNvSpPr>
            <a:spLocks noGrp="1"/>
          </p:cNvSpPr>
          <p:nvPr/>
        </p:nvSpPr>
        <p:spPr>
          <a:xfrm>
            <a:off x="685800" y="3105150"/>
            <a:ext cx="24765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1875" b="0">
                <a:solidFill>
                  <a:srgbClr val="203E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203E3A"/>
                </a:solidFill>
                <a:latin typeface="Microsoft JhengHei"/>
                <a:ea typeface="Microsoft JhengHei"/>
                <a:cs typeface="Microsoft JhengHei"/>
              </a:rPr>
              <a:t>日常照顧記錄</a:t>
            </a:r>
          </a:p>
        </p:txBody>
      </p:sp>
      <p:sp>
        <p:nvSpPr>
          <p:cNvPr id="6" name="">
            <a:extLst>
              <a:ext uri="{FF2B5EF4-FFF2-40B4-BE49-F238E27FC236}">
                <ns2:creationId id="{6C76D188-ECDD-45F2-AFA5-292F6FD0AD4C}"/>
              </a:ext>
            </a:extLst>
          </p:cNvPr>
          <p:cNvSpPr>
            <a:spLocks noGrp="1"/>
          </p:cNvSpPr>
          <p:nvPr/>
        </p:nvSpPr>
        <p:spPr>
          <a:xfrm>
            <a:off x="3505200" y="1952625"/>
            <a:ext cx="2343150" cy="38100"/>
          </a:xfrm>
          <a:prstGeom prst="rect">
            <a:avLst/>
          </a:prstGeom>
          <a:solidFill>
            <a:srgbClr val="D99A3D"/>
          </a:solidFill>
          <a:ln w="0">
            <a:noFill/>
          </a:ln>
        </p:spPr>
      </p:sp>
      <p:sp>
        <p:nvSpPr>
          <p:cNvPr id="7" name="audience-text-9">
            <a:extLst>
              <a:ext uri="{FF2B5EF4-FFF2-40B4-BE49-F238E27FC236}">
                <ns2:creationId id="{93E4C939-6CF4-4175-AAC8-EE322A2CEA72}"/>
              </a:ext>
            </a:extLst>
          </p:cNvPr>
          <p:cNvSpPr>
            <a:spLocks noGrp="1"/>
          </p:cNvSpPr>
          <p:nvPr/>
        </p:nvSpPr>
        <p:spPr>
          <a:xfrm>
            <a:off x="3505200" y="2247900"/>
            <a:ext cx="17145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4050" b="1">
                <a:solidFill>
                  <a:srgbClr val="203E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4050" b="1">
                <a:solidFill>
                  <a:srgbClr val="203E3A"/>
                </a:solidFill>
                <a:latin typeface="Microsoft JhengHei"/>
                <a:ea typeface="Microsoft JhengHei"/>
                <a:cs typeface="Microsoft JhengHei"/>
              </a:rPr>
              <a:t>1–3</a:t>
            </a:r>
          </a:p>
        </p:txBody>
      </p:sp>
      <p:sp>
        <p:nvSpPr>
          <p:cNvPr id="8" name="audience-text-10">
            <a:extLst>
              <a:ext uri="{FF2B5EF4-FFF2-40B4-BE49-F238E27FC236}">
                <ns2:creationId id="{3FCBA682-90E7-41A0-A4A6-6B1C568760F6}"/>
              </a:ext>
            </a:extLst>
          </p:cNvPr>
          <p:cNvSpPr>
            <a:spLocks noGrp="1"/>
          </p:cNvSpPr>
          <p:nvPr/>
        </p:nvSpPr>
        <p:spPr>
          <a:xfrm>
            <a:off x="5257800" y="2457450"/>
            <a:ext cx="5334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1800" b="0">
                <a:solidFill>
                  <a:srgbClr val="60756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60756E"/>
                </a:solidFill>
                <a:latin typeface="Microsoft JhengHei"/>
                <a:ea typeface="Microsoft JhengHei"/>
                <a:cs typeface="Microsoft JhengHei"/>
              </a:rPr>
              <a:t>歲</a:t>
            </a:r>
          </a:p>
        </p:txBody>
      </p:sp>
      <p:sp>
        <p:nvSpPr>
          <p:cNvPr id="9" name="audience-text-11">
            <a:extLst>
              <a:ext uri="{FF2B5EF4-FFF2-40B4-BE49-F238E27FC236}">
                <ns2:creationId id="{02E12456-CB08-4D26-8E7A-A5A8F5147609}"/>
              </a:ext>
            </a:extLst>
          </p:cNvPr>
          <p:cNvSpPr>
            <a:spLocks noGrp="1"/>
          </p:cNvSpPr>
          <p:nvPr/>
        </p:nvSpPr>
        <p:spPr>
          <a:xfrm>
            <a:off x="3505200" y="3105150"/>
            <a:ext cx="24765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1875" b="0">
                <a:solidFill>
                  <a:srgbClr val="203E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203E3A"/>
                </a:solidFill>
                <a:latin typeface="Microsoft JhengHei"/>
                <a:ea typeface="Microsoft JhengHei"/>
                <a:cs typeface="Microsoft JhengHei"/>
              </a:rPr>
              <a:t>生活節奏與探索</a:t>
            </a:r>
          </a:p>
        </p:txBody>
      </p:sp>
      <p:sp>
        <p:nvSpPr>
          <p:cNvPr id="10" name="">
            <a:extLst>
              <a:ext uri="{FF2B5EF4-FFF2-40B4-BE49-F238E27FC236}">
                <ns2:creationId id="{89BCCA54-1BF0-407B-ABAD-FC2517583B12}"/>
              </a:ext>
            </a:extLst>
          </p:cNvPr>
          <p:cNvSpPr>
            <a:spLocks noGrp="1"/>
          </p:cNvSpPr>
          <p:nvPr/>
        </p:nvSpPr>
        <p:spPr>
          <a:xfrm>
            <a:off x="6324600" y="1952625"/>
            <a:ext cx="2343150" cy="38100"/>
          </a:xfrm>
          <a:prstGeom prst="rect">
            <a:avLst/>
          </a:prstGeom>
          <a:solidFill>
            <a:srgbClr val="287568"/>
          </a:solidFill>
          <a:ln w="0">
            <a:noFill/>
          </a:ln>
        </p:spPr>
      </p:sp>
      <p:sp>
        <p:nvSpPr>
          <p:cNvPr id="11" name="audience-text-12">
            <a:extLst>
              <a:ext uri="{FF2B5EF4-FFF2-40B4-BE49-F238E27FC236}">
                <ns2:creationId id="{DC0A5F99-4E8E-4E9E-9588-B72333DC9091}"/>
              </a:ext>
            </a:extLst>
          </p:cNvPr>
          <p:cNvSpPr>
            <a:spLocks noGrp="1"/>
          </p:cNvSpPr>
          <p:nvPr/>
        </p:nvSpPr>
        <p:spPr>
          <a:xfrm>
            <a:off x="6324600" y="2247900"/>
            <a:ext cx="17145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4050" b="1">
                <a:solidFill>
                  <a:srgbClr val="203E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4050" b="1">
                <a:solidFill>
                  <a:srgbClr val="203E3A"/>
                </a:solidFill>
                <a:latin typeface="Microsoft JhengHei"/>
                <a:ea typeface="Microsoft JhengHei"/>
                <a:cs typeface="Microsoft JhengHei"/>
              </a:rPr>
              <a:t>3–6</a:t>
            </a:r>
          </a:p>
        </p:txBody>
      </p:sp>
      <p:sp>
        <p:nvSpPr>
          <p:cNvPr id="12" name="audience-text-13">
            <a:extLst>
              <a:ext uri="{FF2B5EF4-FFF2-40B4-BE49-F238E27FC236}">
                <ns2:creationId id="{ADA2BB08-E630-42AD-8006-023AFCB9C08A}"/>
              </a:ext>
            </a:extLst>
          </p:cNvPr>
          <p:cNvSpPr>
            <a:spLocks noGrp="1"/>
          </p:cNvSpPr>
          <p:nvPr/>
        </p:nvSpPr>
        <p:spPr>
          <a:xfrm>
            <a:off x="8077200" y="2457450"/>
            <a:ext cx="5334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1800" b="0">
                <a:solidFill>
                  <a:srgbClr val="60756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60756E"/>
                </a:solidFill>
                <a:latin typeface="Microsoft JhengHei"/>
                <a:ea typeface="Microsoft JhengHei"/>
                <a:cs typeface="Microsoft JhengHei"/>
              </a:rPr>
              <a:t>歲</a:t>
            </a:r>
          </a:p>
        </p:txBody>
      </p:sp>
      <p:sp>
        <p:nvSpPr>
          <p:cNvPr id="13" name="audience-text-14">
            <a:extLst>
              <a:ext uri="{FF2B5EF4-FFF2-40B4-BE49-F238E27FC236}">
                <ns2:creationId id="{4E65165D-7F15-4F38-93FB-63684C70E0A4}"/>
              </a:ext>
            </a:extLst>
          </p:cNvPr>
          <p:cNvSpPr>
            <a:spLocks noGrp="1"/>
          </p:cNvSpPr>
          <p:nvPr/>
        </p:nvSpPr>
        <p:spPr>
          <a:xfrm>
            <a:off x="6324600" y="3105150"/>
            <a:ext cx="24765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1875" b="0">
                <a:solidFill>
                  <a:srgbClr val="203E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203E3A"/>
                </a:solidFill>
                <a:latin typeface="Microsoft JhengHei"/>
                <a:ea typeface="Microsoft JhengHei"/>
                <a:cs typeface="Microsoft JhengHei"/>
              </a:rPr>
              <a:t>成長與家庭協作</a:t>
            </a:r>
          </a:p>
        </p:txBody>
      </p:sp>
      <p:sp>
        <p:nvSpPr>
          <p:cNvPr id="14" name="">
            <a:extLst>
              <a:ext uri="{FF2B5EF4-FFF2-40B4-BE49-F238E27FC236}">
                <ns2:creationId id="{73E38A43-34DC-4E09-BD11-03DEB7098792}"/>
              </a:ext>
            </a:extLst>
          </p:cNvPr>
          <p:cNvSpPr>
            <a:spLocks noGrp="1"/>
          </p:cNvSpPr>
          <p:nvPr/>
        </p:nvSpPr>
        <p:spPr>
          <a:xfrm>
            <a:off x="9144000" y="1952625"/>
            <a:ext cx="2343150" cy="38100"/>
          </a:xfrm>
          <a:prstGeom prst="rect">
            <a:avLst/>
          </a:prstGeom>
          <a:solidFill>
            <a:srgbClr val="D99A3D"/>
          </a:solidFill>
          <a:ln w="0">
            <a:noFill/>
          </a:ln>
        </p:spPr>
      </p:sp>
      <p:sp>
        <p:nvSpPr>
          <p:cNvPr id="15" name="audience-text-15">
            <a:extLst>
              <a:ext uri="{FF2B5EF4-FFF2-40B4-BE49-F238E27FC236}">
                <ns2:creationId id="{F9BBFA83-4182-4331-AC72-059E1C22EE4A}"/>
              </a:ext>
            </a:extLst>
          </p:cNvPr>
          <p:cNvSpPr>
            <a:spLocks noGrp="1"/>
          </p:cNvSpPr>
          <p:nvPr/>
        </p:nvSpPr>
        <p:spPr>
          <a:xfrm>
            <a:off x="9144000" y="2247900"/>
            <a:ext cx="17145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4050" b="1">
                <a:solidFill>
                  <a:srgbClr val="203E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4050" b="1">
                <a:solidFill>
                  <a:srgbClr val="203E3A"/>
                </a:solidFill>
                <a:latin typeface="Microsoft JhengHei"/>
                <a:ea typeface="Microsoft JhengHei"/>
                <a:cs typeface="Microsoft JhengHei"/>
              </a:rPr>
              <a:t>6–10</a:t>
            </a:r>
          </a:p>
        </p:txBody>
      </p:sp>
      <p:sp>
        <p:nvSpPr>
          <p:cNvPr id="16" name="audience-text-16">
            <a:extLst>
              <a:ext uri="{FF2B5EF4-FFF2-40B4-BE49-F238E27FC236}">
                <ns2:creationId id="{EAC8D1AE-6366-4C64-BBAC-BB2FECB9EBC1}"/>
              </a:ext>
            </a:extLst>
          </p:cNvPr>
          <p:cNvSpPr>
            <a:spLocks noGrp="1"/>
          </p:cNvSpPr>
          <p:nvPr/>
        </p:nvSpPr>
        <p:spPr>
          <a:xfrm>
            <a:off x="10896600" y="2457450"/>
            <a:ext cx="5334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1800" b="0">
                <a:solidFill>
                  <a:srgbClr val="60756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60756E"/>
                </a:solidFill>
                <a:latin typeface="Microsoft JhengHei"/>
                <a:ea typeface="Microsoft JhengHei"/>
                <a:cs typeface="Microsoft JhengHei"/>
              </a:rPr>
              <a:t>歲</a:t>
            </a:r>
          </a:p>
        </p:txBody>
      </p:sp>
      <p:sp>
        <p:nvSpPr>
          <p:cNvPr id="17" name="audience-text-17">
            <a:extLst>
              <a:ext uri="{FF2B5EF4-FFF2-40B4-BE49-F238E27FC236}">
                <ns2:creationId id="{F5C908A2-D7BE-419A-83D9-7DA3E84B93E2}"/>
              </a:ext>
            </a:extLst>
          </p:cNvPr>
          <p:cNvSpPr>
            <a:spLocks noGrp="1"/>
          </p:cNvSpPr>
          <p:nvPr/>
        </p:nvSpPr>
        <p:spPr>
          <a:xfrm>
            <a:off x="9144000" y="3105150"/>
            <a:ext cx="24765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1875" b="0">
                <a:solidFill>
                  <a:srgbClr val="203E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203E3A"/>
                </a:solidFill>
                <a:latin typeface="Microsoft JhengHei"/>
                <a:ea typeface="Microsoft JhengHei"/>
                <a:cs typeface="Microsoft JhengHei"/>
              </a:rPr>
              <a:t>學校生活與交接</a:t>
            </a:r>
          </a:p>
        </p:txBody>
      </p:sp>
      <p:sp>
        <p:nvSpPr>
          <p:cNvPr id="18" name="audience-text-18">
            <a:extLst>
              <a:ext uri="{FF2B5EF4-FFF2-40B4-BE49-F238E27FC236}">
                <ns2:creationId id="{1D39F535-D2C0-4483-854A-EF6A0D632CA5}"/>
              </a:ext>
            </a:extLst>
          </p:cNvPr>
          <p:cNvSpPr>
            <a:spLocks noGrp="1"/>
          </p:cNvSpPr>
          <p:nvPr/>
        </p:nvSpPr>
        <p:spPr>
          <a:xfrm>
            <a:off x="704850" y="4191000"/>
            <a:ext cx="6286500" cy="1095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2625" b="1">
                <a:solidFill>
                  <a:srgbClr val="203E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625" b="1">
                <a:solidFill>
                  <a:srgbClr val="203E3A"/>
                </a:solidFill>
                <a:latin typeface="Microsoft JhengHei"/>
                <a:ea typeface="Microsoft JhengHei"/>
                <a:cs typeface="Microsoft JhengHei"/>
              </a:rPr>
              <a:t>孩子在成長，</a:t>
            </a:r>
          </a:p>
          <a:p>
            <a:pPr algn="l">
              <a:lnSpc>
                <a:spcPct val="118000"/>
              </a:lnSpc>
              <a:buNone/>
              <a:defRPr sz="2625" b="1">
                <a:solidFill>
                  <a:srgbClr val="203E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625" b="1">
                <a:solidFill>
                  <a:srgbClr val="203E3A"/>
                </a:solidFill>
                <a:latin typeface="Microsoft JhengHei"/>
                <a:ea typeface="Microsoft JhengHei"/>
                <a:cs typeface="Microsoft JhengHei"/>
              </a:rPr>
              <a:t>照顧方式也在改變。</a:t>
            </a:r>
          </a:p>
        </p:txBody>
      </p:sp>
      <p:sp>
        <p:nvSpPr>
          <p:cNvPr id="19" name="audience-text-19">
            <a:extLst>
              <a:ext uri="{FF2B5EF4-FFF2-40B4-BE49-F238E27FC236}">
                <ns2:creationId id="{B58F91FE-82D2-498F-8EC2-DF071580BD11}"/>
              </a:ext>
            </a:extLst>
          </p:cNvPr>
          <p:cNvSpPr>
            <a:spLocks noGrp="1"/>
          </p:cNvSpPr>
          <p:nvPr/>
        </p:nvSpPr>
        <p:spPr>
          <a:xfrm>
            <a:off x="714375" y="5638800"/>
            <a:ext cx="695325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1725" b="0">
                <a:solidFill>
                  <a:srgbClr val="60756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60756E"/>
                </a:solidFill>
                <a:latin typeface="Microsoft JhengHei"/>
                <a:ea typeface="Microsoft JhengHei"/>
                <a:cs typeface="Microsoft JhengHei"/>
              </a:rPr>
              <a:t>家長、家人及獲授權的成年照顧者</a:t>
            </a:r>
          </a:p>
        </p:txBody>
      </p:sp>
      <p:pic>
        <p:nvPicPr>
          <p:cNvPr id="40" name=""/>
          <p:cNvPicPr>
            <a:picLocks noChangeAspect="1"/>
          </p:cNvPicPr>
          <p:nvPr/>
        </p:nvPicPr>
        <p:blipFill>
          <a:blip r:embed="Re62f1d4f8c1543ca">
            <a:extLst>
              <a:ext uri="{96DAC541-7B7A-43D3-8B79-37D633B846F1}">
                <asvg:svgBlip r:embed="rIdVector1"/>
              </a:ext>
            </a:extLst>
          </a:blip>
          <a:stretch/>
        </p:blipFill>
        <p:spPr>
          <a:xfrm>
            <a:off x="7696200" y="3648075"/>
            <a:ext cx="3733800" cy="2800350"/>
          </a:xfrm>
          <a:prstGeom prst="rect">
            <a:avLst/>
          </a:prstGeom>
        </p:spPr>
      </p:pic>
    </p:spTree>
    <p:extLst>
      <p:ext uri="{BB962C8B-B14F-4D97-AF65-F5344CB8AC3E}">
        <ns5:creationId val="1832543029"/>
      </p:ext>
    </p:extLst>
  </p:cSld>
</p:sld>
</file>

<file path=ppt/slides/slide4.xml><?xml version="1.0" encoding="utf-8"?>
<p:sld xmlns:a="http://schemas.openxmlformats.org/drawingml/2006/main" xmlns:asvg="http://schemas.microsoft.com/office/drawing/2016/SVG/main" xmlns:ns2="http://schemas.microsoft.com/office/drawing/2014/main" xmlns:ns5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AF7E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4" name="agent-text-20">
            <a:extLst>
              <a:ext uri="{FF2B5EF4-FFF2-40B4-BE49-F238E27FC236}">
                <ns2:creationId id="{29E8E943-F549-46BF-A9A9-61FCB053BB64}"/>
              </a:ext>
            </a:extLst>
          </p:cNvPr>
          <p:cNvSpPr>
            <a:spLocks noGrp="1"/>
          </p:cNvSpPr>
          <p:nvPr/>
        </p:nvSpPr>
        <p:spPr>
          <a:xfrm>
            <a:off x="685800" y="466725"/>
            <a:ext cx="108204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3300" b="1">
                <a:solidFill>
                  <a:srgbClr val="203E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203E3A"/>
                </a:solidFill>
                <a:latin typeface="Microsoft JhengHei"/>
                <a:ea typeface="Microsoft JhengHei"/>
                <a:cs typeface="Microsoft JhengHei"/>
              </a:rPr>
              <a:t>主動協助的每一步都有邊界</a:t>
            </a:r>
          </a:p>
        </p:txBody>
      </p:sp>
      <p:sp>
        <p:nvSpPr>
          <p:cNvPr id="2" name="agent-text-21">
            <a:extLst>
              <a:ext uri="{FF2B5EF4-FFF2-40B4-BE49-F238E27FC236}">
                <ns2:creationId id="{C30C9712-FFD6-4340-B8B5-12FFB53F0023}"/>
              </a:ext>
            </a:extLst>
          </p:cNvPr>
          <p:cNvSpPr>
            <a:spLocks noGrp="1"/>
          </p:cNvSpPr>
          <p:nvPr/>
        </p:nvSpPr>
        <p:spPr>
          <a:xfrm>
            <a:off x="8239125" y="1076325"/>
            <a:ext cx="32385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8000"/>
              </a:lnSpc>
              <a:buNone/>
              <a:defRPr sz="1350" b="0">
                <a:solidFill>
                  <a:srgbClr val="60756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60756E"/>
                </a:solidFill>
                <a:latin typeface="Microsoft JhengHei"/>
                <a:ea typeface="Microsoft JhengHei"/>
                <a:cs typeface="Microsoft JhengHei"/>
              </a:rPr>
              <a:t>P2 規劃中</a:t>
            </a:r>
          </a:p>
        </p:txBody>
      </p:sp>
      <p:pic>
        <p:nvPicPr>
          <p:cNvPr id="6" name=""/>
          <p:cNvPicPr>
            <a:picLocks noChangeAspect="1"/>
          </p:cNvPicPr>
          <p:nvPr/>
        </p:nvPicPr>
        <p:blipFill>
          <a:blip r:embed="Rbff7666fcd1047f8">
            <a:extLst>
              <a:ext uri="{96DAC541-7B7A-43D3-8B79-37D633B846F1}">
                <asvg:svgBlip r:embed="rIdVector1"/>
              </a:ext>
            </a:extLst>
          </a:blip>
          <a:srcRect l="0" t="22222" r="0" b="0"/>
          <a:stretch/>
        </p:blipFill>
        <p:spPr>
          <a:xfrm>
            <a:off x="609600" y="1809750"/>
            <a:ext cx="10972800" cy="4267200"/>
          </a:xfrm>
          <a:prstGeom prst="rect">
            <a:avLst/>
          </a:prstGeom>
        </p:spPr>
      </p:pic>
    </p:spTree>
    <p:extLst>
      <p:ext uri="{BB962C8B-B14F-4D97-AF65-F5344CB8AC3E}">
        <ns5:creationId val="1426221300"/>
      </p:ext>
    </p:extLst>
  </p:cSld>
</p:sld>
</file>

<file path=ppt/slides/slide5.xml><?xml version="1.0" encoding="utf-8"?>
<p:sld xmlns:a="http://schemas.openxmlformats.org/drawingml/2006/main" xmlns:asvg="http://schemas.microsoft.com/office/drawing/2016/SVG/main" xmlns:ns2="http://schemas.microsoft.com/office/drawing/2014/main" xmlns:ns5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AF7E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4" name="journey-text-22">
            <a:extLst>
              <a:ext uri="{FF2B5EF4-FFF2-40B4-BE49-F238E27FC236}">
                <ns2:creationId id="{F6FCD2A6-11B4-4D64-AE50-3F8467B7BD30}"/>
              </a:ext>
            </a:extLst>
          </p:cNvPr>
          <p:cNvSpPr>
            <a:spLocks noGrp="1"/>
          </p:cNvSpPr>
          <p:nvPr/>
        </p:nvSpPr>
        <p:spPr>
          <a:xfrm>
            <a:off x="685800" y="466725"/>
            <a:ext cx="108204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3300" b="1">
                <a:solidFill>
                  <a:srgbClr val="203E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203E3A"/>
                </a:solidFill>
                <a:latin typeface="Microsoft JhengHei"/>
                <a:ea typeface="Microsoft JhengHei"/>
                <a:cs typeface="Microsoft JhengHei"/>
              </a:rPr>
              <a:t>由一句記錄，逐步連起日常照顧</a:t>
            </a:r>
          </a:p>
        </p:txBody>
      </p:sp>
      <p:sp>
        <p:nvSpPr>
          <p:cNvPr id="2" name="journey-text-23">
            <a:extLst>
              <a:ext uri="{FF2B5EF4-FFF2-40B4-BE49-F238E27FC236}">
                <ns2:creationId id="{2237CD42-EE6B-4156-9159-AF9A98304693}"/>
              </a:ext>
            </a:extLst>
          </p:cNvPr>
          <p:cNvSpPr>
            <a:spLocks noGrp="1"/>
          </p:cNvSpPr>
          <p:nvPr/>
        </p:nvSpPr>
        <p:spPr>
          <a:xfrm>
            <a:off x="8239125" y="1076325"/>
            <a:ext cx="32385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8000"/>
              </a:lnSpc>
              <a:buNone/>
              <a:defRPr sz="1350" b="0">
                <a:solidFill>
                  <a:srgbClr val="60756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60756E"/>
                </a:solidFill>
                <a:latin typeface="Microsoft JhengHei"/>
                <a:ea typeface="Microsoft JhengHei"/>
                <a:cs typeface="Microsoft JhengHei"/>
              </a:rPr>
              <a:t>P1–P4 分階段規劃</a:t>
            </a:r>
          </a:p>
        </p:txBody>
      </p:sp>
      <p:pic>
        <p:nvPicPr>
          <p:cNvPr id="6" name=""/>
          <p:cNvPicPr>
            <a:picLocks noChangeAspect="1"/>
          </p:cNvPicPr>
          <p:nvPr/>
        </p:nvPicPr>
        <p:blipFill>
          <a:blip r:embed="R72dc4df9a94b4033">
            <a:extLst>
              <a:ext uri="{96DAC541-7B7A-43D3-8B79-37D633B846F1}">
                <asvg:svgBlip r:embed="rIdVector1"/>
              </a:ext>
            </a:extLst>
          </a:blip>
          <a:srcRect l="0" t="22222" r="0" b="0"/>
          <a:stretch/>
        </p:blipFill>
        <p:spPr>
          <a:xfrm>
            <a:off x="609600" y="1809750"/>
            <a:ext cx="10972800" cy="4267200"/>
          </a:xfrm>
          <a:prstGeom prst="rect">
            <a:avLst/>
          </a:prstGeom>
        </p:spPr>
      </p:pic>
    </p:spTree>
    <p:extLst>
      <p:ext uri="{BB962C8B-B14F-4D97-AF65-F5344CB8AC3E}">
        <ns5:creationId val="1774194339"/>
      </p:ext>
    </p:extLst>
  </p:cSld>
</p:sld>
</file>

<file path=ppt/slides/slide6.xml><?xml version="1.0" encoding="utf-8"?>
<p:sld xmlns:a="http://schemas.openxmlformats.org/drawingml/2006/main" xmlns:asvg="http://schemas.microsoft.com/office/drawing/2016/SVG/main" xmlns:ns2="http://schemas.microsoft.com/office/drawing/2014/main" xmlns:ns5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AF7E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4" name="responsibilities-text-24">
            <a:extLst>
              <a:ext uri="{FF2B5EF4-FFF2-40B4-BE49-F238E27FC236}">
                <ns2:creationId id="{647A4FB9-2461-4D8B-BA3A-4B6A4FEA5E1A}"/>
              </a:ext>
            </a:extLst>
          </p:cNvPr>
          <p:cNvSpPr>
            <a:spLocks noGrp="1"/>
          </p:cNvSpPr>
          <p:nvPr/>
        </p:nvSpPr>
        <p:spPr>
          <a:xfrm>
            <a:off x="685800" y="466725"/>
            <a:ext cx="108204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3300" b="1">
                <a:solidFill>
                  <a:srgbClr val="203E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203E3A"/>
                </a:solidFill>
                <a:latin typeface="Microsoft JhengHei"/>
                <a:ea typeface="Microsoft JhengHei"/>
                <a:cs typeface="Microsoft JhengHei"/>
              </a:rPr>
              <a:t>AI 理解情境，程式負責執行控制</a:t>
            </a:r>
          </a:p>
        </p:txBody>
      </p:sp>
      <p:sp>
        <p:nvSpPr>
          <p:cNvPr id="2" name="responsibilities-text-25">
            <a:extLst>
              <a:ext uri="{FF2B5EF4-FFF2-40B4-BE49-F238E27FC236}">
                <ns2:creationId id="{28B00688-9FD6-40B8-BF5E-4D425B99379A}"/>
              </a:ext>
            </a:extLst>
          </p:cNvPr>
          <p:cNvSpPr>
            <a:spLocks noGrp="1"/>
          </p:cNvSpPr>
          <p:nvPr/>
        </p:nvSpPr>
        <p:spPr>
          <a:xfrm>
            <a:off x="8239125" y="1076325"/>
            <a:ext cx="32385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8000"/>
              </a:lnSpc>
              <a:buNone/>
              <a:defRPr sz="1350" b="0">
                <a:solidFill>
                  <a:srgbClr val="60756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60756E"/>
                </a:solidFill>
                <a:latin typeface="Microsoft JhengHei"/>
                <a:ea typeface="Microsoft JhengHei"/>
                <a:cs typeface="Microsoft JhengHei"/>
              </a:rPr>
              <a:t>P2 規劃中</a:t>
            </a:r>
          </a:p>
        </p:txBody>
      </p:sp>
      <p:pic>
        <p:nvPicPr>
          <p:cNvPr id="16" name=""/>
          <p:cNvPicPr>
            <a:picLocks noChangeAspect="1"/>
          </p:cNvPicPr>
          <p:nvPr/>
        </p:nvPicPr>
        <p:blipFill>
          <a:blip r:embed="R999edff7a804498c">
            <a:extLst>
              <a:ext uri="{96DAC541-7B7A-43D3-8B79-37D633B846F1}">
                <asvg:svgBlip r:embed="rIdVector1"/>
              </a:ext>
            </a:extLst>
          </a:blip>
          <a:stretch/>
        </p:blipFill>
        <p:spPr>
          <a:xfrm>
            <a:off x="346075" y="2400300"/>
            <a:ext cx="3022600" cy="2266950"/>
          </a:xfrm>
          <a:prstGeom prst="rect">
            <a:avLst/>
          </a:prstGeom>
        </p:spPr>
      </p:pic>
      <p:sp>
        <p:nvSpPr>
          <p:cNvPr id="4" name="responsibilities-text-26">
            <a:extLst>
              <a:ext uri="{FF2B5EF4-FFF2-40B4-BE49-F238E27FC236}">
                <ns2:creationId id="{C5F209E0-63EC-4425-9CC7-931F9C784C4C}"/>
              </a:ext>
            </a:extLst>
          </p:cNvPr>
          <p:cNvSpPr>
            <a:spLocks noGrp="1"/>
          </p:cNvSpPr>
          <p:nvPr/>
        </p:nvSpPr>
        <p:spPr>
          <a:xfrm>
            <a:off x="3638550" y="2076450"/>
            <a:ext cx="333375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2400" b="1">
                <a:solidFill>
                  <a:srgbClr val="28756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1">
                <a:solidFill>
                  <a:srgbClr val="287568"/>
                </a:solidFill>
                <a:latin typeface="Microsoft JhengHei"/>
                <a:ea typeface="Microsoft JhengHei"/>
                <a:cs typeface="Microsoft JhengHei"/>
              </a:rPr>
              <a:t>AI 擅長</a:t>
            </a:r>
          </a:p>
        </p:txBody>
      </p:sp>
      <p:sp>
        <p:nvSpPr>
          <p:cNvPr id="5" name="responsibilities-text-27">
            <a:extLst>
              <a:ext uri="{FF2B5EF4-FFF2-40B4-BE49-F238E27FC236}">
                <ns2:creationId id="{21B4009A-A825-4ECE-9A67-EB19C66F0BDD}"/>
              </a:ext>
            </a:extLst>
          </p:cNvPr>
          <p:cNvSpPr>
            <a:spLocks noGrp="1"/>
          </p:cNvSpPr>
          <p:nvPr/>
        </p:nvSpPr>
        <p:spPr>
          <a:xfrm>
            <a:off x="7667625" y="2076450"/>
            <a:ext cx="3857625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2400" b="1">
                <a:solidFill>
                  <a:srgbClr val="203E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1">
                <a:solidFill>
                  <a:srgbClr val="203E3A"/>
                </a:solidFill>
                <a:latin typeface="Microsoft JhengHei"/>
                <a:ea typeface="Microsoft JhengHei"/>
                <a:cs typeface="Microsoft JhengHei"/>
              </a:rPr>
              <a:t>確定性程式負責</a:t>
            </a:r>
          </a:p>
        </p:txBody>
      </p:sp>
      <p:sp>
        <p:nvSpPr>
          <p:cNvPr id="6" name="">
            <a:extLst>
              <a:ext uri="{FF2B5EF4-FFF2-40B4-BE49-F238E27FC236}">
                <ns2:creationId id="{5F91205E-1E45-4399-845B-B40535199E22}"/>
              </a:ext>
            </a:extLst>
          </p:cNvPr>
          <p:cNvSpPr>
            <a:spLocks noGrp="1"/>
          </p:cNvSpPr>
          <p:nvPr/>
        </p:nvSpPr>
        <p:spPr>
          <a:xfrm>
            <a:off x="7305675" y="2076450"/>
            <a:ext cx="19050" cy="2667000"/>
          </a:xfrm>
          <a:prstGeom prst="rect">
            <a:avLst/>
          </a:prstGeom>
          <a:solidFill>
            <a:srgbClr val="DDE8DB"/>
          </a:solidFill>
          <a:ln w="0">
            <a:noFill/>
          </a:ln>
        </p:spPr>
      </p:sp>
      <p:sp>
        <p:nvSpPr>
          <p:cNvPr id="7" name="responsibilities-text-28">
            <a:extLst>
              <a:ext uri="{FF2B5EF4-FFF2-40B4-BE49-F238E27FC236}">
                <ns2:creationId id="{F8C875D9-9502-479A-AE1C-1BB878027C20}"/>
              </a:ext>
            </a:extLst>
          </p:cNvPr>
          <p:cNvSpPr>
            <a:spLocks noGrp="1"/>
          </p:cNvSpPr>
          <p:nvPr/>
        </p:nvSpPr>
        <p:spPr>
          <a:xfrm>
            <a:off x="3638550" y="2819400"/>
            <a:ext cx="344805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2025" b="0">
                <a:solidFill>
                  <a:srgbClr val="203E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203E3A"/>
                </a:solidFill>
                <a:latin typeface="Microsoft JhengHei"/>
                <a:ea typeface="Microsoft JhengHei"/>
                <a:cs typeface="Microsoft JhengHei"/>
              </a:rPr>
              <a:t>理解自然語言</a:t>
            </a:r>
          </a:p>
        </p:txBody>
      </p:sp>
      <p:sp>
        <p:nvSpPr>
          <p:cNvPr id="8" name="responsibilities-text-29">
            <a:extLst>
              <a:ext uri="{FF2B5EF4-FFF2-40B4-BE49-F238E27FC236}">
                <ns2:creationId id="{899CDEB1-53C9-4998-8863-640F6DE07006}"/>
              </a:ext>
            </a:extLst>
          </p:cNvPr>
          <p:cNvSpPr>
            <a:spLocks noGrp="1"/>
          </p:cNvSpPr>
          <p:nvPr/>
        </p:nvSpPr>
        <p:spPr>
          <a:xfrm>
            <a:off x="3638550" y="3562350"/>
            <a:ext cx="344805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2025" b="0">
                <a:solidFill>
                  <a:srgbClr val="203E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203E3A"/>
                </a:solidFill>
                <a:latin typeface="Microsoft JhengHei"/>
                <a:ea typeface="Microsoft JhengHei"/>
                <a:cs typeface="Microsoft JhengHei"/>
              </a:rPr>
              <a:t>連結相關上下文</a:t>
            </a:r>
          </a:p>
        </p:txBody>
      </p:sp>
      <p:sp>
        <p:nvSpPr>
          <p:cNvPr id="9" name="responsibilities-text-30">
            <a:extLst>
              <a:ext uri="{FF2B5EF4-FFF2-40B4-BE49-F238E27FC236}">
                <ns2:creationId id="{2494E64E-C947-4705-81BC-0583EA1F915B}"/>
              </a:ext>
            </a:extLst>
          </p:cNvPr>
          <p:cNvSpPr>
            <a:spLocks noGrp="1"/>
          </p:cNvSpPr>
          <p:nvPr/>
        </p:nvSpPr>
        <p:spPr>
          <a:xfrm>
            <a:off x="3638550" y="4305300"/>
            <a:ext cx="344805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2025" b="0">
                <a:solidFill>
                  <a:srgbClr val="203E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203E3A"/>
                </a:solidFill>
                <a:latin typeface="Microsoft JhengHei"/>
                <a:ea typeface="Microsoft JhengHei"/>
                <a:cs typeface="Microsoft JhengHei"/>
              </a:rPr>
              <a:t>發現缺項與草擬下一步</a:t>
            </a:r>
          </a:p>
        </p:txBody>
      </p:sp>
      <p:sp>
        <p:nvSpPr>
          <p:cNvPr id="10" name="responsibilities-text-31">
            <a:extLst>
              <a:ext uri="{FF2B5EF4-FFF2-40B4-BE49-F238E27FC236}">
                <ns2:creationId id="{58BF22FA-D11D-4F63-8BC7-AA9FA22B7904}"/>
              </a:ext>
            </a:extLst>
          </p:cNvPr>
          <p:cNvSpPr>
            <a:spLocks noGrp="1"/>
          </p:cNvSpPr>
          <p:nvPr/>
        </p:nvSpPr>
        <p:spPr>
          <a:xfrm>
            <a:off x="7667625" y="2819400"/>
            <a:ext cx="379095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2025" b="0">
                <a:solidFill>
                  <a:srgbClr val="203E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203E3A"/>
                </a:solidFill>
                <a:latin typeface="Microsoft JhengHei"/>
                <a:ea typeface="Microsoft JhengHei"/>
                <a:cs typeface="Microsoft JhengHei"/>
              </a:rPr>
              <a:t>權限與授權</a:t>
            </a:r>
          </a:p>
        </p:txBody>
      </p:sp>
      <p:sp>
        <p:nvSpPr>
          <p:cNvPr id="11" name="responsibilities-text-32">
            <a:extLst>
              <a:ext uri="{FF2B5EF4-FFF2-40B4-BE49-F238E27FC236}">
                <ns2:creationId id="{01A44BD2-E388-415F-BEF0-296D3E2DEB07}"/>
              </a:ext>
            </a:extLst>
          </p:cNvPr>
          <p:cNvSpPr>
            <a:spLocks noGrp="1"/>
          </p:cNvSpPr>
          <p:nvPr/>
        </p:nvSpPr>
        <p:spPr>
          <a:xfrm>
            <a:off x="7667625" y="3562350"/>
            <a:ext cx="379095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2025" b="0">
                <a:solidFill>
                  <a:srgbClr val="203E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203E3A"/>
                </a:solidFill>
                <a:latin typeface="Microsoft JhengHei"/>
                <a:ea typeface="Microsoft JhengHei"/>
                <a:cs typeface="Microsoft JhengHei"/>
              </a:rPr>
              <a:t>數值、狀態及任務終態</a:t>
            </a:r>
          </a:p>
        </p:txBody>
      </p:sp>
      <p:sp>
        <p:nvSpPr>
          <p:cNvPr id="12" name="responsibilities-text-33">
            <a:extLst>
              <a:ext uri="{FF2B5EF4-FFF2-40B4-BE49-F238E27FC236}">
                <ns2:creationId id="{A4C9FA9F-AAD5-4547-ADEC-49390A395C7F}"/>
              </a:ext>
            </a:extLst>
          </p:cNvPr>
          <p:cNvSpPr>
            <a:spLocks noGrp="1"/>
          </p:cNvSpPr>
          <p:nvPr/>
        </p:nvSpPr>
        <p:spPr>
          <a:xfrm>
            <a:off x="7667625" y="4305300"/>
            <a:ext cx="379095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2025" b="0">
                <a:solidFill>
                  <a:srgbClr val="203E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203E3A"/>
                </a:solidFill>
                <a:latin typeface="Microsoft JhengHei"/>
                <a:ea typeface="Microsoft JhengHei"/>
                <a:cs typeface="Microsoft JhengHei"/>
              </a:rPr>
              <a:t>工具執行與持久保存</a:t>
            </a:r>
          </a:p>
        </p:txBody>
      </p:sp>
      <p:sp>
        <p:nvSpPr>
          <p:cNvPr id="13" name="responsibilities-text-34">
            <a:extLst>
              <a:ext uri="{FF2B5EF4-FFF2-40B4-BE49-F238E27FC236}">
                <ns2:creationId id="{DEE5FFC3-1D97-4181-ADB2-61698FAB0EA9}"/>
              </a:ext>
            </a:extLst>
          </p:cNvPr>
          <p:cNvSpPr>
            <a:spLocks noGrp="1"/>
          </p:cNvSpPr>
          <p:nvPr/>
        </p:nvSpPr>
        <p:spPr>
          <a:xfrm>
            <a:off x="723900" y="5724525"/>
            <a:ext cx="1074420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1800" b="0">
                <a:solidFill>
                  <a:srgbClr val="60756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60756E"/>
                </a:solidFill>
                <a:latin typeface="Microsoft JhengHei"/>
                <a:ea typeface="Microsoft JhengHei"/>
                <a:cs typeface="Microsoft JhengHei"/>
              </a:rPr>
              <a:t>模型的建議須經工具及權限校驗，不能直接修改權威資料。</a:t>
            </a:r>
          </a:p>
        </p:txBody>
      </p:sp>
    </p:spTree>
    <p:extLst>
      <p:ext uri="{BB962C8B-B14F-4D97-AF65-F5344CB8AC3E}">
        <ns5:creationId val="534300741"/>
      </p:ext>
    </p:extLst>
  </p:cSld>
</p:sld>
</file>

<file path=ppt/slides/slide7.xml><?xml version="1.0" encoding="utf-8"?>
<p:sld xmlns:a="http://schemas.openxmlformats.org/drawingml/2006/main" xmlns:asvg="http://schemas.microsoft.com/office/drawing/2016/SVG/main" xmlns:ns2="http://schemas.microsoft.com/office/drawing/2014/main" xmlns:ns5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AF7E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4" name="architecture-text-35">
            <a:extLst>
              <a:ext uri="{FF2B5EF4-FFF2-40B4-BE49-F238E27FC236}">
                <ns2:creationId id="{10B04F0B-431C-4BC8-8801-2464735685A1}"/>
              </a:ext>
            </a:extLst>
          </p:cNvPr>
          <p:cNvSpPr>
            <a:spLocks noGrp="1"/>
          </p:cNvSpPr>
          <p:nvPr/>
        </p:nvSpPr>
        <p:spPr>
          <a:xfrm>
            <a:off x="685800" y="466725"/>
            <a:ext cx="108204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3300" b="1">
                <a:solidFill>
                  <a:srgbClr val="203E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203E3A"/>
                </a:solidFill>
                <a:latin typeface="Microsoft JhengHei"/>
                <a:ea typeface="Microsoft JhengHei"/>
                <a:cs typeface="Microsoft JhengHei"/>
              </a:rPr>
              <a:t>資料與 Agent 都以 Server 為中心</a:t>
            </a:r>
          </a:p>
        </p:txBody>
      </p:sp>
      <p:sp>
        <p:nvSpPr>
          <p:cNvPr id="2" name="architecture-text-36">
            <a:extLst>
              <a:ext uri="{FF2B5EF4-FFF2-40B4-BE49-F238E27FC236}">
                <ns2:creationId id="{70E98CAB-3C33-4E31-BBD7-C8AC00175490}"/>
              </a:ext>
            </a:extLst>
          </p:cNvPr>
          <p:cNvSpPr>
            <a:spLocks noGrp="1"/>
          </p:cNvSpPr>
          <p:nvPr/>
        </p:nvSpPr>
        <p:spPr>
          <a:xfrm>
            <a:off x="8239125" y="1076325"/>
            <a:ext cx="32385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8000"/>
              </a:lnSpc>
              <a:buNone/>
              <a:defRPr sz="1350" b="0">
                <a:solidFill>
                  <a:srgbClr val="60756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60756E"/>
                </a:solidFill>
                <a:latin typeface="Microsoft JhengHei"/>
                <a:ea typeface="Microsoft JhengHei"/>
                <a:cs typeface="Microsoft JhengHei"/>
              </a:rPr>
              <a:t>P1–P4 分階段規劃</a:t>
            </a:r>
          </a:p>
        </p:txBody>
      </p:sp>
      <p:pic>
        <p:nvPicPr>
          <p:cNvPr id="6" name=""/>
          <p:cNvPicPr>
            <a:picLocks noChangeAspect="1"/>
          </p:cNvPicPr>
          <p:nvPr/>
        </p:nvPicPr>
        <p:blipFill>
          <a:blip r:embed="R99e09df38af045c3">
            <a:extLst>
              <a:ext uri="{96DAC541-7B7A-43D3-8B79-37D633B846F1}">
                <asvg:svgBlip r:embed="rIdVector1"/>
              </a:ext>
            </a:extLst>
          </a:blip>
          <a:srcRect l="0" t="22222" r="0" b="0"/>
          <a:stretch/>
        </p:blipFill>
        <p:spPr>
          <a:xfrm>
            <a:off x="609600" y="1809750"/>
            <a:ext cx="10972800" cy="4267200"/>
          </a:xfrm>
          <a:prstGeom prst="rect">
            <a:avLst/>
          </a:prstGeom>
        </p:spPr>
      </p:pic>
    </p:spTree>
    <p:extLst>
      <p:ext uri="{BB962C8B-B14F-4D97-AF65-F5344CB8AC3E}">
        <ns5:creationId val="1306982007"/>
      </p:ext>
    </p:extLst>
  </p:cSld>
</p:sld>
</file>

<file path=ppt/slides/slide8.xml><?xml version="1.0" encoding="utf-8"?>
<p:sld xmlns:a="http://schemas.openxmlformats.org/drawingml/2006/main" xmlns:asvg="http://schemas.microsoft.com/office/drawing/2016/SVG/main" xmlns:ns2="http://schemas.microsoft.com/office/drawing/2014/main" xmlns:ns5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AF7E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5" name="safety-text-37">
            <a:extLst>
              <a:ext uri="{FF2B5EF4-FFF2-40B4-BE49-F238E27FC236}">
                <ns2:creationId id="{E2B4465C-A952-4136-BF4A-8D0486B635CC}"/>
              </a:ext>
            </a:extLst>
          </p:cNvPr>
          <p:cNvSpPr>
            <a:spLocks noGrp="1"/>
          </p:cNvSpPr>
          <p:nvPr/>
        </p:nvSpPr>
        <p:spPr>
          <a:xfrm>
            <a:off x="685800" y="466725"/>
            <a:ext cx="108204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3300" b="1">
                <a:solidFill>
                  <a:srgbClr val="203E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203E3A"/>
                </a:solidFill>
                <a:latin typeface="Microsoft JhengHei"/>
                <a:ea typeface="Microsoft JhengHei"/>
                <a:cs typeface="Microsoft JhengHei"/>
              </a:rPr>
              <a:t>每個重要結果，都可以回查</a:t>
            </a:r>
          </a:p>
        </p:txBody>
      </p:sp>
      <p:sp>
        <p:nvSpPr>
          <p:cNvPr id="2" name="safety-text-38">
            <a:extLst>
              <a:ext uri="{FF2B5EF4-FFF2-40B4-BE49-F238E27FC236}">
                <ns2:creationId id="{346CA7A2-8AC9-4673-80CC-88F039E72613}"/>
              </a:ext>
            </a:extLst>
          </p:cNvPr>
          <p:cNvSpPr>
            <a:spLocks noGrp="1"/>
          </p:cNvSpPr>
          <p:nvPr/>
        </p:nvSpPr>
        <p:spPr>
          <a:xfrm>
            <a:off x="8239125" y="1076325"/>
            <a:ext cx="32385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8000"/>
              </a:lnSpc>
              <a:buNone/>
              <a:defRPr sz="1350" b="0">
                <a:solidFill>
                  <a:srgbClr val="60756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60756E"/>
                </a:solidFill>
                <a:latin typeface="Microsoft JhengHei"/>
                <a:ea typeface="Microsoft JhengHei"/>
                <a:cs typeface="Microsoft JhengHei"/>
              </a:rPr>
              <a:t>P1–P4 分階段規劃</a:t>
            </a:r>
          </a:p>
        </p:txBody>
      </p:sp>
      <p:pic>
        <p:nvPicPr>
          <p:cNvPr id="17" name=""/>
          <p:cNvPicPr>
            <a:picLocks noChangeAspect="1"/>
          </p:cNvPicPr>
          <p:nvPr/>
        </p:nvPicPr>
        <p:blipFill>
          <a:blip r:embed="R01cf7767f6054236">
            <a:extLst>
              <a:ext uri="{96DAC541-7B7A-43D3-8B79-37D633B846F1}">
                <asvg:svgBlip r:embed="rIdVector1"/>
              </a:ext>
            </a:extLst>
          </a:blip>
          <a:stretch/>
        </p:blipFill>
        <p:spPr>
          <a:xfrm>
            <a:off x="381000" y="1955006"/>
            <a:ext cx="4095750" cy="3071812"/>
          </a:xfrm>
          <a:prstGeom prst="rect">
            <a:avLst/>
          </a:prstGeom>
        </p:spPr>
      </p:pic>
      <p:sp>
        <p:nvSpPr>
          <p:cNvPr id="4" name="safety-text-39">
            <a:extLst>
              <a:ext uri="{FF2B5EF4-FFF2-40B4-BE49-F238E27FC236}">
                <ns2:creationId id="{E3653948-A670-4BFD-840C-00E98BA479EE}"/>
              </a:ext>
            </a:extLst>
          </p:cNvPr>
          <p:cNvSpPr>
            <a:spLocks noGrp="1"/>
          </p:cNvSpPr>
          <p:nvPr/>
        </p:nvSpPr>
        <p:spPr>
          <a:xfrm>
            <a:off x="4752975" y="1847850"/>
            <a:ext cx="57150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1950" b="1">
                <a:solidFill>
                  <a:srgbClr val="28756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1">
                <a:solidFill>
                  <a:srgbClr val="287568"/>
                </a:solidFill>
                <a:latin typeface="Microsoft JhengHei"/>
                <a:ea typeface="Microsoft JhengHei"/>
                <a:cs typeface="Microsoft JhengHei"/>
              </a:rPr>
              <a:t>01</a:t>
            </a:r>
          </a:p>
        </p:txBody>
      </p:sp>
      <p:sp>
        <p:nvSpPr>
          <p:cNvPr id="5" name="safety-text-40">
            <a:extLst>
              <a:ext uri="{FF2B5EF4-FFF2-40B4-BE49-F238E27FC236}">
                <ns2:creationId id="{2F91B576-E382-48E7-BF5D-FA3827FE30F8}"/>
              </a:ext>
            </a:extLst>
          </p:cNvPr>
          <p:cNvSpPr>
            <a:spLocks noGrp="1"/>
          </p:cNvSpPr>
          <p:nvPr/>
        </p:nvSpPr>
        <p:spPr>
          <a:xfrm>
            <a:off x="5467350" y="1847850"/>
            <a:ext cx="6029325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2025" b="0">
                <a:solidFill>
                  <a:srgbClr val="203E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203E3A"/>
                </a:solidFill>
                <a:latin typeface="Microsoft JhengHei"/>
                <a:ea typeface="Microsoft JhengHei"/>
                <a:cs typeface="Microsoft JhengHei"/>
              </a:rPr>
              <a:t>重要資料先補問或確認</a:t>
            </a:r>
          </a:p>
        </p:txBody>
      </p:sp>
      <p:sp>
        <p:nvSpPr>
          <p:cNvPr id="6" name="safety-text-41">
            <a:extLst>
              <a:ext uri="{FF2B5EF4-FFF2-40B4-BE49-F238E27FC236}">
                <ns2:creationId id="{76D92CFC-F567-44BF-905B-203C3DA7E8D3}"/>
              </a:ext>
            </a:extLst>
          </p:cNvPr>
          <p:cNvSpPr>
            <a:spLocks noGrp="1"/>
          </p:cNvSpPr>
          <p:nvPr/>
        </p:nvSpPr>
        <p:spPr>
          <a:xfrm>
            <a:off x="4752975" y="2590800"/>
            <a:ext cx="57150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1950" b="1">
                <a:solidFill>
                  <a:srgbClr val="28756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1">
                <a:solidFill>
                  <a:srgbClr val="287568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7" name="safety-text-42">
            <a:extLst>
              <a:ext uri="{FF2B5EF4-FFF2-40B4-BE49-F238E27FC236}">
                <ns2:creationId id="{9654EA31-12EE-4DFC-8A83-A17A2FF24554}"/>
              </a:ext>
            </a:extLst>
          </p:cNvPr>
          <p:cNvSpPr>
            <a:spLocks noGrp="1"/>
          </p:cNvSpPr>
          <p:nvPr/>
        </p:nvSpPr>
        <p:spPr>
          <a:xfrm>
            <a:off x="5467350" y="2590800"/>
            <a:ext cx="6029325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2025" b="0">
                <a:solidFill>
                  <a:srgbClr val="203E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203E3A"/>
                </a:solidFill>
                <a:latin typeface="Microsoft JhengHei"/>
                <a:ea typeface="Microsoft JhengHei"/>
                <a:cs typeface="Microsoft JhengHei"/>
              </a:rPr>
              <a:t>原始記錄及官方資料保留來源</a:t>
            </a:r>
          </a:p>
        </p:txBody>
      </p:sp>
      <p:sp>
        <p:nvSpPr>
          <p:cNvPr id="8" name="safety-text-43">
            <a:extLst>
              <a:ext uri="{FF2B5EF4-FFF2-40B4-BE49-F238E27FC236}">
                <ns2:creationId id="{E26DB908-D069-4277-99EE-D2E18E8E196E}"/>
              </a:ext>
            </a:extLst>
          </p:cNvPr>
          <p:cNvSpPr>
            <a:spLocks noGrp="1"/>
          </p:cNvSpPr>
          <p:nvPr/>
        </p:nvSpPr>
        <p:spPr>
          <a:xfrm>
            <a:off x="4752975" y="3333750"/>
            <a:ext cx="57150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1950" b="1">
                <a:solidFill>
                  <a:srgbClr val="28756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1">
                <a:solidFill>
                  <a:srgbClr val="287568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9" name="safety-text-44">
            <a:extLst>
              <a:ext uri="{FF2B5EF4-FFF2-40B4-BE49-F238E27FC236}">
                <ns2:creationId id="{00A150E6-FF92-4734-82C3-E5D0F467FF96}"/>
              </a:ext>
            </a:extLst>
          </p:cNvPr>
          <p:cNvSpPr>
            <a:spLocks noGrp="1"/>
          </p:cNvSpPr>
          <p:nvPr/>
        </p:nvSpPr>
        <p:spPr>
          <a:xfrm>
            <a:off x="5467350" y="3333750"/>
            <a:ext cx="6029325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2025" b="0">
                <a:solidFill>
                  <a:srgbClr val="203E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203E3A"/>
                </a:solidFill>
                <a:latin typeface="Microsoft JhengHei"/>
                <a:ea typeface="Microsoft JhengHei"/>
                <a:cs typeface="Microsoft JhengHei"/>
              </a:rPr>
              <a:t>執行前重查當前授權</a:t>
            </a:r>
          </a:p>
        </p:txBody>
      </p:sp>
      <p:sp>
        <p:nvSpPr>
          <p:cNvPr id="10" name="safety-text-45">
            <a:extLst>
              <a:ext uri="{FF2B5EF4-FFF2-40B4-BE49-F238E27FC236}">
                <ns2:creationId id="{4D04DD52-8DA8-4014-B634-C0DE9412BB4D}"/>
              </a:ext>
            </a:extLst>
          </p:cNvPr>
          <p:cNvSpPr>
            <a:spLocks noGrp="1"/>
          </p:cNvSpPr>
          <p:nvPr/>
        </p:nvSpPr>
        <p:spPr>
          <a:xfrm>
            <a:off x="4752975" y="4076700"/>
            <a:ext cx="57150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1950" b="1">
                <a:solidFill>
                  <a:srgbClr val="28756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1">
                <a:solidFill>
                  <a:srgbClr val="287568"/>
                </a:solidFill>
                <a:latin typeface="Microsoft JhengHei"/>
                <a:ea typeface="Microsoft JhengHei"/>
                <a:cs typeface="Microsoft JhengHei"/>
              </a:rPr>
              <a:t>04</a:t>
            </a:r>
          </a:p>
        </p:txBody>
      </p:sp>
      <p:sp>
        <p:nvSpPr>
          <p:cNvPr id="11" name="safety-text-46">
            <a:extLst>
              <a:ext uri="{FF2B5EF4-FFF2-40B4-BE49-F238E27FC236}">
                <ns2:creationId id="{DAC0D1AE-1659-4F77-95ED-D0B1B6FE3FAC}"/>
              </a:ext>
            </a:extLst>
          </p:cNvPr>
          <p:cNvSpPr>
            <a:spLocks noGrp="1"/>
          </p:cNvSpPr>
          <p:nvPr/>
        </p:nvSpPr>
        <p:spPr>
          <a:xfrm>
            <a:off x="5467350" y="4076700"/>
            <a:ext cx="6029325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2025" b="0">
                <a:solidFill>
                  <a:srgbClr val="203E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203E3A"/>
                </a:solidFill>
                <a:latin typeface="Microsoft JhengHei"/>
                <a:ea typeface="Microsoft JhengHei"/>
                <a:cs typeface="Microsoft JhengHei"/>
              </a:rPr>
              <a:t>Server 未確認，就不顯示成功</a:t>
            </a:r>
          </a:p>
        </p:txBody>
      </p:sp>
      <p:sp>
        <p:nvSpPr>
          <p:cNvPr id="12" name="safety-text-47">
            <a:extLst>
              <a:ext uri="{FF2B5EF4-FFF2-40B4-BE49-F238E27FC236}">
                <ns2:creationId id="{C9B9AF43-142B-420A-BBA6-EDEEA84BF713}"/>
              </a:ext>
            </a:extLst>
          </p:cNvPr>
          <p:cNvSpPr>
            <a:spLocks noGrp="1"/>
          </p:cNvSpPr>
          <p:nvPr/>
        </p:nvSpPr>
        <p:spPr>
          <a:xfrm>
            <a:off x="4752975" y="4819650"/>
            <a:ext cx="57150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1950" b="1">
                <a:solidFill>
                  <a:srgbClr val="28756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1">
                <a:solidFill>
                  <a:srgbClr val="287568"/>
                </a:solidFill>
                <a:latin typeface="Microsoft JhengHei"/>
                <a:ea typeface="Microsoft JhengHei"/>
                <a:cs typeface="Microsoft JhengHei"/>
              </a:rPr>
              <a:t>05</a:t>
            </a:r>
          </a:p>
        </p:txBody>
      </p:sp>
      <p:sp>
        <p:nvSpPr>
          <p:cNvPr id="13" name="safety-text-48">
            <a:extLst>
              <a:ext uri="{FF2B5EF4-FFF2-40B4-BE49-F238E27FC236}">
                <ns2:creationId id="{A29B3DD7-8D68-4723-8181-0E8B3AD6FAAE}"/>
              </a:ext>
            </a:extLst>
          </p:cNvPr>
          <p:cNvSpPr>
            <a:spLocks noGrp="1"/>
          </p:cNvSpPr>
          <p:nvPr/>
        </p:nvSpPr>
        <p:spPr>
          <a:xfrm>
            <a:off x="5467350" y="4819650"/>
            <a:ext cx="6029325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2025" b="0">
                <a:solidFill>
                  <a:srgbClr val="203E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203E3A"/>
                </a:solidFill>
                <a:latin typeface="Microsoft JhengHei"/>
                <a:ea typeface="Microsoft JhengHei"/>
                <a:cs typeface="Microsoft JhengHei"/>
              </a:rPr>
              <a:t>照片不作疾病診斷；不做藥物管理</a:t>
            </a:r>
          </a:p>
        </p:txBody>
      </p:sp>
      <p:sp>
        <p:nvSpPr>
          <p:cNvPr id="14" name="safety-text-49">
            <a:extLst>
              <a:ext uri="{FF2B5EF4-FFF2-40B4-BE49-F238E27FC236}">
                <ns2:creationId id="{C1C5D7B7-2758-4B7C-95AC-02429670C4E7}"/>
              </a:ext>
            </a:extLst>
          </p:cNvPr>
          <p:cNvSpPr>
            <a:spLocks noGrp="1"/>
          </p:cNvSpPr>
          <p:nvPr/>
        </p:nvSpPr>
        <p:spPr>
          <a:xfrm>
            <a:off x="733425" y="5953125"/>
            <a:ext cx="1070610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1725" b="0">
                <a:solidFill>
                  <a:srgbClr val="60756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60756E"/>
                </a:solidFill>
                <a:latin typeface="Microsoft JhengHei"/>
                <a:ea typeface="Microsoft JhengHei"/>
                <a:cs typeface="Microsoft JhengHei"/>
              </a:rPr>
              <a:t>通知已接受、已送達、已讀及事項完成，是不同狀態。</a:t>
            </a:r>
          </a:p>
        </p:txBody>
      </p:sp>
    </p:spTree>
    <p:extLst>
      <p:ext uri="{BB962C8B-B14F-4D97-AF65-F5344CB8AC3E}">
        <ns5:creationId val="1711005038"/>
      </p:ext>
    </p:extLst>
  </p:cSld>
</p:sld>
</file>

<file path=ppt/slides/slide9.xml><?xml version="1.0" encoding="utf-8"?>
<p:sld xmlns:a="http://schemas.openxmlformats.org/drawingml/2006/main" xmlns:asvg="http://schemas.microsoft.com/office/drawing/2016/SVG/main" xmlns:ns2="http://schemas.microsoft.com/office/drawing/2014/main" xmlns:ns5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AF7E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4" name="roadmap-text-50">
            <a:extLst>
              <a:ext uri="{FF2B5EF4-FFF2-40B4-BE49-F238E27FC236}">
                <ns2:creationId id="{ADFF3A19-CF73-4136-8D54-79E7F3868136}"/>
              </a:ext>
            </a:extLst>
          </p:cNvPr>
          <p:cNvSpPr>
            <a:spLocks noGrp="1"/>
          </p:cNvSpPr>
          <p:nvPr/>
        </p:nvSpPr>
        <p:spPr>
          <a:xfrm>
            <a:off x="685800" y="466725"/>
            <a:ext cx="108204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3300" b="1">
                <a:solidFill>
                  <a:srgbClr val="203E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203E3A"/>
                </a:solidFill>
                <a:latin typeface="Microsoft JhengHei"/>
                <a:ea typeface="Microsoft JhengHei"/>
                <a:cs typeface="Microsoft JhengHei"/>
              </a:rPr>
              <a:t>先形成閉環，再逐階段完善</a:t>
            </a:r>
          </a:p>
        </p:txBody>
      </p:sp>
      <p:sp>
        <p:nvSpPr>
          <p:cNvPr id="2" name="roadmap-text-51">
            <a:extLst>
              <a:ext uri="{FF2B5EF4-FFF2-40B4-BE49-F238E27FC236}">
                <ns2:creationId id="{9FD82CB4-2F8F-4282-BC2E-C812AFDA94A9}"/>
              </a:ext>
            </a:extLst>
          </p:cNvPr>
          <p:cNvSpPr>
            <a:spLocks noGrp="1"/>
          </p:cNvSpPr>
          <p:nvPr/>
        </p:nvSpPr>
        <p:spPr>
          <a:xfrm>
            <a:off x="8239125" y="1076325"/>
            <a:ext cx="32385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8000"/>
              </a:lnSpc>
              <a:buNone/>
              <a:defRPr sz="1350" b="0">
                <a:solidFill>
                  <a:srgbClr val="60756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60756E"/>
                </a:solidFill>
                <a:latin typeface="Microsoft JhengHei"/>
                <a:ea typeface="Microsoft JhengHei"/>
                <a:cs typeface="Microsoft JhengHei"/>
              </a:rPr>
              <a:t>P1–P5 分階段規劃</a:t>
            </a:r>
          </a:p>
        </p:txBody>
      </p:sp>
      <p:pic>
        <p:nvPicPr>
          <p:cNvPr id="6" name=""/>
          <p:cNvPicPr>
            <a:picLocks noChangeAspect="1"/>
          </p:cNvPicPr>
          <p:nvPr/>
        </p:nvPicPr>
        <p:blipFill>
          <a:blip r:embed="Rba5c6e7482c64caf">
            <a:extLst>
              <a:ext uri="{96DAC541-7B7A-43D3-8B79-37D633B846F1}">
                <asvg:svgBlip r:embed="rIdVector1"/>
              </a:ext>
            </a:extLst>
          </a:blip>
          <a:srcRect l="0" t="22222" r="0" b="0"/>
          <a:stretch/>
        </p:blipFill>
        <p:spPr>
          <a:xfrm>
            <a:off x="609600" y="1809750"/>
            <a:ext cx="10972800" cy="4267200"/>
          </a:xfrm>
          <a:prstGeom prst="rect">
            <a:avLst/>
          </a:prstGeom>
        </p:spPr>
      </p:pic>
    </p:spTree>
    <p:extLst>
      <p:ext uri="{BB962C8B-B14F-4D97-AF65-F5344CB8AC3E}">
        <ns5:creationId val="184864935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A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tatus-text-52">
            <a:extLst xmlns:a="http://schemas.openxmlformats.org/drawingml/2006/main">
              <a:ext uri="{FF2B5EF4-FFF2-40B4-BE49-F238E27FC236}">
                <a16:creationId xmlns:a16="http://schemas.microsoft.com/office/drawing/2014/main" id="{BEF3B07A-5F2C-4279-A240-10CBC26C7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672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3300" b="1">
                <a:solidFill>
                  <a:srgbClr val="203E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203E3A"/>
                </a:solidFill>
                <a:latin typeface="Microsoft JhengHei"/>
                <a:ea typeface="Microsoft JhengHei"/>
                <a:cs typeface="Microsoft JhengHei"/>
              </a:rPr>
              <a:t>當前進度</a:t>
            </a:r>
          </a:p>
        </p:txBody>
      </p:sp>
      <p:sp>
        <p:nvSpPr>
          <p:cNvPr id="2" name="status-text-53">
            <a:extLst xmlns:a="http://schemas.openxmlformats.org/drawingml/2006/main">
              <a:ext uri="{FF2B5EF4-FFF2-40B4-BE49-F238E27FC236}">
                <a16:creationId xmlns:a16="http://schemas.microsoft.com/office/drawing/2014/main" id="{F1C87F0D-B9DC-40F9-BE41-383CE19FF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71625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3000" b="1">
                <a:solidFill>
                  <a:srgbClr val="203E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00" b="1">
                <a:solidFill>
                  <a:srgbClr val="203E3A"/>
                </a:solidFill>
                <a:latin typeface="Microsoft JhengHei"/>
                <a:ea typeface="Microsoft JhengHei"/>
                <a:cs typeface="Microsoft JhengHei"/>
              </a:rPr>
              <a:t>登入、孩子與文字記錄已接通</a:t>
            </a:r>
          </a:p>
        </p:txBody>
      </p:sp>
      <p:sp>
        <p:nvSpPr>
          <p:cNvPr id="3" name="status-text-54">
            <a:extLst xmlns:a="http://schemas.openxmlformats.org/drawingml/2006/main">
              <a:ext uri="{FF2B5EF4-FFF2-40B4-BE49-F238E27FC236}">
                <a16:creationId xmlns:a16="http://schemas.microsoft.com/office/drawing/2014/main" id="{D85369D9-5E83-455F-B542-4C18AE42F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95525"/>
            <a:ext cx="1076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75" b="0">
                <a:solidFill>
                  <a:srgbClr val="60756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60756E"/>
                </a:solidFill>
                <a:latin typeface="Microsoft JhengHei"/>
                <a:ea typeface="Microsoft JhengHei"/>
                <a:cs typeface="Microsoft JhengHei"/>
              </a:rPr>
              <a:t>P1 暫停待續　S03 已驗收合併，P1 仍未完成。</a:t>
            </a:r>
          </a:p>
        </p:txBody>
      </p:sp>
      <p:sp>
        <p:nvSpPr>
          <p:cNvPr id="4" name="status-text-55">
            <a:extLst xmlns:a="http://schemas.openxmlformats.org/drawingml/2006/main">
              <a:ext uri="{FF2B5EF4-FFF2-40B4-BE49-F238E27FC236}">
                <a16:creationId xmlns:a16="http://schemas.microsoft.com/office/drawing/2014/main" id="{CFD1822D-5AAB-4927-BAF7-F0EEE375C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067050"/>
            <a:ext cx="4857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100" b="1">
                <a:solidFill>
                  <a:srgbClr val="28756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287568"/>
                </a:solidFill>
                <a:latin typeface="Microsoft JhengHei"/>
                <a:ea typeface="Microsoft JhengHei"/>
                <a:cs typeface="Microsoft JhengHei"/>
              </a:rPr>
              <a:t>已實現</a:t>
            </a:r>
          </a:p>
        </p:txBody>
      </p:sp>
      <p:sp>
        <p:nvSpPr>
          <p:cNvPr id="5" name="status-text-56">
            <a:extLst xmlns:a="http://schemas.openxmlformats.org/drawingml/2006/main">
              <a:ext uri="{FF2B5EF4-FFF2-40B4-BE49-F238E27FC236}">
                <a16:creationId xmlns:a16="http://schemas.microsoft.com/office/drawing/2014/main" id="{4C195639-7E02-4F6C-95A8-9C1E28DC3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657600"/>
            <a:ext cx="5105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75" b="0">
                <a:solidFill>
                  <a:srgbClr val="203E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203E3A"/>
                </a:solidFill>
                <a:latin typeface="Microsoft JhengHei"/>
                <a:ea typeface="Microsoft JhengHei"/>
                <a:cs typeface="Microsoft JhengHei"/>
              </a:rPr>
              <a:t>Web 註冊／登入及帳號隔離</a:t>
            </a:r>
          </a:p>
        </p:txBody>
      </p:sp>
      <p:sp>
        <p:nvSpPr>
          <p:cNvPr id="6" name="status-text-57">
            <a:extLst xmlns:a="http://schemas.openxmlformats.org/drawingml/2006/main">
              <a:ext uri="{FF2B5EF4-FFF2-40B4-BE49-F238E27FC236}">
                <a16:creationId xmlns:a16="http://schemas.microsoft.com/office/drawing/2014/main" id="{FA0D1D21-AE52-40FB-A7CB-25617F519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229100"/>
            <a:ext cx="5105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75" b="0">
                <a:solidFill>
                  <a:srgbClr val="203E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203E3A"/>
                </a:solidFill>
                <a:latin typeface="Microsoft JhengHei"/>
                <a:ea typeface="Microsoft JhengHei"/>
                <a:cs typeface="Microsoft JhengHei"/>
              </a:rPr>
              <a:t>建立／切換孩子、確認保存文字記錄</a:t>
            </a:r>
          </a:p>
        </p:txBody>
      </p:sp>
      <p:sp>
        <p:nvSpPr>
          <p:cNvPr id="7" name="status-text-58">
            <a:extLst xmlns:a="http://schemas.openxmlformats.org/drawingml/2006/main">
              <a:ext uri="{FF2B5EF4-FFF2-40B4-BE49-F238E27FC236}">
                <a16:creationId xmlns:a16="http://schemas.microsoft.com/office/drawing/2014/main" id="{D8F94BF9-F650-458B-840D-8F752530F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800600"/>
            <a:ext cx="5105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75" b="0">
                <a:solidFill>
                  <a:srgbClr val="203E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203E3A"/>
                </a:solidFill>
                <a:latin typeface="Microsoft JhengHei"/>
                <a:ea typeface="Microsoft JhengHei"/>
                <a:cs typeface="Microsoft JhengHei"/>
              </a:rPr>
              <a:t>PostgreSQL 保存，重開後可恢復</a:t>
            </a:r>
          </a:p>
        </p:txBody>
      </p:sp>
      <p:sp>
        <p:nvSpPr>
          <p:cNvPr id="8" name="status-text-59">
            <a:extLst xmlns:a="http://schemas.openxmlformats.org/drawingml/2006/main">
              <a:ext uri="{FF2B5EF4-FFF2-40B4-BE49-F238E27FC236}">
                <a16:creationId xmlns:a16="http://schemas.microsoft.com/office/drawing/2014/main" id="{6FEED186-FEF1-4035-8E14-CA6B89FD6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067050"/>
            <a:ext cx="50958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100" b="1">
                <a:solidFill>
                  <a:srgbClr val="203E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203E3A"/>
                </a:solidFill>
                <a:latin typeface="Microsoft JhengHei"/>
                <a:ea typeface="Microsoft JhengHei"/>
                <a:cs typeface="Microsoft JhengHei"/>
              </a:rPr>
              <a:t>P1 尚待接通與驗收</a:t>
            </a:r>
          </a:p>
        </p:txBody>
      </p:sp>
      <p:sp>
        <p:nvSpPr>
          <p:cNvPr id="9" name="status-text-60">
            <a:extLst xmlns:a="http://schemas.openxmlformats.org/drawingml/2006/main">
              <a:ext uri="{FF2B5EF4-FFF2-40B4-BE49-F238E27FC236}">
                <a16:creationId xmlns:a16="http://schemas.microsoft.com/office/drawing/2014/main" id="{467BA8D6-3512-4A19-BB3E-78C8955BB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657600"/>
            <a:ext cx="4953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75" b="0">
                <a:solidFill>
                  <a:srgbClr val="203E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203E3A"/>
                </a:solidFill>
                <a:latin typeface="Microsoft JhengHei"/>
                <a:ea typeface="Microsoft JhengHei"/>
                <a:cs typeface="Microsoft JhengHei"/>
              </a:rPr>
              <a:t>安全 AI API、聊天與真 Gemini</a:t>
            </a:r>
          </a:p>
        </p:txBody>
      </p:sp>
      <p:sp>
        <p:nvSpPr>
          <p:cNvPr id="10" name="status-text-61">
            <a:extLst xmlns:a="http://schemas.openxmlformats.org/drawingml/2006/main">
              <a:ext uri="{FF2B5EF4-FFF2-40B4-BE49-F238E27FC236}">
                <a16:creationId xmlns:a16="http://schemas.microsoft.com/office/drawing/2014/main" id="{DA5B79D2-D32D-4AF6-8261-8BDCB58E0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229100"/>
            <a:ext cx="4953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75" b="0">
                <a:solidFill>
                  <a:srgbClr val="203E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203E3A"/>
                </a:solidFill>
                <a:latin typeface="Microsoft JhengHei"/>
                <a:ea typeface="Microsoft JhengHei"/>
                <a:cs typeface="Microsoft JhengHei"/>
              </a:rPr>
              <a:t>儲存加密及最小備份還原</a:t>
            </a:r>
          </a:p>
        </p:txBody>
      </p:sp>
      <p:sp>
        <p:nvSpPr>
          <p:cNvPr id="11" name="status-text-62">
            <a:extLst xmlns:a="http://schemas.openxmlformats.org/drawingml/2006/main">
              <a:ext uri="{FF2B5EF4-FFF2-40B4-BE49-F238E27FC236}">
                <a16:creationId xmlns:a16="http://schemas.microsoft.com/office/drawing/2014/main" id="{A7EEB45F-A673-423D-B9E1-D4E17D286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800600"/>
            <a:ext cx="4953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75" b="0">
                <a:solidFill>
                  <a:srgbClr val="203E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203E3A"/>
                </a:solidFill>
                <a:latin typeface="Microsoft JhengHei"/>
                <a:ea typeface="Microsoft JhengHei"/>
                <a:cs typeface="Microsoft JhengHei"/>
              </a:rPr>
              <a:t>部署與組員獨立試玩 URL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275B11E-50EA-4C0F-A3F7-FFA824190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391150"/>
            <a:ext cx="10744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8DB"/>
          </a:solidFill>
          <a:ln xmlns:a="http://schemas.openxmlformats.org/drawingml/2006/main" w="0">
            <a:noFill/>
          </a:ln>
        </p:spPr>
      </p:sp>
      <p:sp>
        <p:nvSpPr>
          <p:cNvPr id="13" name="status-text-63">
            <a:extLst xmlns:a="http://schemas.openxmlformats.org/drawingml/2006/main">
              <a:ext uri="{FF2B5EF4-FFF2-40B4-BE49-F238E27FC236}">
                <a16:creationId xmlns:a16="http://schemas.microsoft.com/office/drawing/2014/main" id="{7F3CD20D-88AB-427F-B32A-BBC4A98E9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29275"/>
            <a:ext cx="107442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60756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60756E"/>
                </a:solidFill>
                <a:latin typeface="Microsoft JhengHei"/>
                <a:ea typeface="Microsoft JhengHei"/>
                <a:cs typeface="Microsoft JhengHei"/>
              </a:rPr>
              <a:t>已有驗證證據：64 項單元、16 項 HTTP、12 項 Web E2E 通過；typecheck 及 Web export 通過</a:t>
            </a:r>
          </a:p>
        </p:txBody>
      </p:sp>
      <p:sp>
        <p:nvSpPr>
          <p:cNvPr id="14" name="status-text-64">
            <a:extLst xmlns:a="http://schemas.openxmlformats.org/drawingml/2006/main">
              <a:ext uri="{FF2B5EF4-FFF2-40B4-BE49-F238E27FC236}">
                <a16:creationId xmlns:a16="http://schemas.microsoft.com/office/drawing/2014/main" id="{2789E430-B3D1-46CA-8C0A-B51154D40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24600"/>
            <a:ext cx="10744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60756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60756E"/>
                </a:solidFill>
                <a:latin typeface="Microsoft JhengHei"/>
                <a:ea typeface="Microsoft JhengHei"/>
                <a:cs typeface="Microsoft JhengHei"/>
              </a:rPr>
              <a:t>2026-09-22　基線 39eb5aa　Demo 連結待提供</a:t>
            </a:r>
          </a:p>
        </p:txBody>
      </p:sp>
    </p:spTree>
    <p:extLst>
      <p:ext uri="{BB962C8B-B14F-4D97-AF65-F5344CB8AC3E}">
        <p14:creationId xmlns:p14="http://schemas.microsoft.com/office/powerpoint/2010/main" val="82975499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A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demo-text-65">
            <a:extLst xmlns:a="http://schemas.openxmlformats.org/drawingml/2006/main">
              <a:ext uri="{FF2B5EF4-FFF2-40B4-BE49-F238E27FC236}">
                <a16:creationId xmlns:a16="http://schemas.microsoft.com/office/drawing/2014/main" id="{D065778C-636A-4589-A771-FB4EEC3B2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672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3300" b="1">
                <a:solidFill>
                  <a:srgbClr val="203E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203E3A"/>
                </a:solidFill>
                <a:latin typeface="Microsoft JhengHei"/>
                <a:ea typeface="Microsoft JhengHei"/>
                <a:cs typeface="Microsoft JhengHei"/>
              </a:rPr>
              <a:t>Demo 流程預留</a:t>
            </a:r>
          </a:p>
        </p:txBody>
      </p:sp>
      <p:sp>
        <p:nvSpPr>
          <p:cNvPr id="2" name="demo-text-66">
            <a:extLst xmlns:a="http://schemas.openxmlformats.org/drawingml/2006/main">
              <a:ext uri="{FF2B5EF4-FFF2-40B4-BE49-F238E27FC236}">
                <a16:creationId xmlns:a16="http://schemas.microsoft.com/office/drawing/2014/main" id="{B51F258F-6742-4EF2-9773-5A9A440FA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257300"/>
            <a:ext cx="1076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725" b="0">
                <a:solidFill>
                  <a:srgbClr val="60756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60756E"/>
                </a:solidFill>
                <a:latin typeface="Microsoft JhengHei"/>
                <a:ea typeface="Microsoft JhengHei"/>
                <a:cs typeface="Microsoft JhengHei"/>
              </a:rPr>
              <a:t>概念流程，非運行截圖；日後按實際驗證結果替換。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F8ADD1-C1CF-4BB8-8AD0-382C1098A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00250"/>
            <a:ext cx="3267075" cy="1419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DE8DB"/>
            </a:solidFill>
          </a:ln>
        </p:spPr>
      </p:sp>
      <p:sp>
        <p:nvSpPr>
          <p:cNvPr id="4" name="demo-text-67">
            <a:extLst xmlns:a="http://schemas.openxmlformats.org/drawingml/2006/main">
              <a:ext uri="{FF2B5EF4-FFF2-40B4-BE49-F238E27FC236}">
                <a16:creationId xmlns:a16="http://schemas.microsoft.com/office/drawing/2014/main" id="{F0665CC6-1BFE-4C17-8718-4C4A953C4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904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3000" b="1">
                <a:solidFill>
                  <a:srgbClr val="28756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00" b="1">
                <a:solidFill>
                  <a:srgbClr val="287568"/>
                </a:solidFill>
                <a:latin typeface="Microsoft JhengHei"/>
                <a:ea typeface="Microsoft JhengHei"/>
                <a:cs typeface="Microsoft JhengHei"/>
              </a:rPr>
              <a:t>01</a:t>
            </a:r>
          </a:p>
        </p:txBody>
      </p:sp>
      <p:sp>
        <p:nvSpPr>
          <p:cNvPr id="5" name="demo-text-68">
            <a:extLst xmlns:a="http://schemas.openxmlformats.org/drawingml/2006/main">
              <a:ext uri="{FF2B5EF4-FFF2-40B4-BE49-F238E27FC236}">
                <a16:creationId xmlns:a16="http://schemas.microsoft.com/office/drawing/2014/main" id="{13AE8220-38AE-4A83-8321-0D466C315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952750"/>
            <a:ext cx="27622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75" b="0">
                <a:solidFill>
                  <a:srgbClr val="60756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0756E"/>
                </a:solidFill>
                <a:latin typeface="Microsoft JhengHei"/>
                <a:ea typeface="Microsoft JhengHei"/>
                <a:cs typeface="Microsoft JhengHei"/>
              </a:rPr>
              <a:t>截圖預留位置</a:t>
            </a:r>
          </a:p>
        </p:txBody>
      </p:sp>
      <p:sp>
        <p:nvSpPr>
          <p:cNvPr id="6" name="demo-text-69">
            <a:extLst xmlns:a="http://schemas.openxmlformats.org/drawingml/2006/main">
              <a:ext uri="{FF2B5EF4-FFF2-40B4-BE49-F238E27FC236}">
                <a16:creationId xmlns:a16="http://schemas.microsoft.com/office/drawing/2014/main" id="{8F09F6B2-3FE7-461E-9271-BBED5E418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71875"/>
            <a:ext cx="34099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75" b="0">
                <a:solidFill>
                  <a:srgbClr val="203E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203E3A"/>
                </a:solidFill>
                <a:latin typeface="Microsoft JhengHei"/>
                <a:ea typeface="Microsoft JhengHei"/>
                <a:cs typeface="Microsoft JhengHei"/>
              </a:rPr>
              <a:t>P1  登入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4EC4F1-B7B3-4CB2-A554-0450B4F1B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2000250"/>
            <a:ext cx="3267075" cy="1419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DE8DB"/>
            </a:solidFill>
          </a:ln>
        </p:spPr>
      </p:sp>
      <p:sp>
        <p:nvSpPr>
          <p:cNvPr id="8" name="demo-text-70">
            <a:extLst xmlns:a="http://schemas.openxmlformats.org/drawingml/2006/main">
              <a:ext uri="{FF2B5EF4-FFF2-40B4-BE49-F238E27FC236}">
                <a16:creationId xmlns:a16="http://schemas.microsoft.com/office/drawing/2014/main" id="{E018B0B3-AEF3-449D-AC79-59C2D4595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190750"/>
            <a:ext cx="904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3000" b="1">
                <a:solidFill>
                  <a:srgbClr val="28756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00" b="1">
                <a:solidFill>
                  <a:srgbClr val="287568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9" name="demo-text-71">
            <a:extLst xmlns:a="http://schemas.openxmlformats.org/drawingml/2006/main">
              <a:ext uri="{FF2B5EF4-FFF2-40B4-BE49-F238E27FC236}">
                <a16:creationId xmlns:a16="http://schemas.microsoft.com/office/drawing/2014/main" id="{A3F5AC81-695B-4A54-B073-0AE68BA8F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2952750"/>
            <a:ext cx="27622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75" b="0">
                <a:solidFill>
                  <a:srgbClr val="60756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0756E"/>
                </a:solidFill>
                <a:latin typeface="Microsoft JhengHei"/>
                <a:ea typeface="Microsoft JhengHei"/>
                <a:cs typeface="Microsoft JhengHei"/>
              </a:rPr>
              <a:t>截圖預留位置</a:t>
            </a:r>
          </a:p>
        </p:txBody>
      </p:sp>
      <p:sp>
        <p:nvSpPr>
          <p:cNvPr id="10" name="demo-text-72">
            <a:extLst xmlns:a="http://schemas.openxmlformats.org/drawingml/2006/main">
              <a:ext uri="{FF2B5EF4-FFF2-40B4-BE49-F238E27FC236}">
                <a16:creationId xmlns:a16="http://schemas.microsoft.com/office/drawing/2014/main" id="{EF25A38C-4922-4EF6-9FC7-2C355879B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3571875"/>
            <a:ext cx="34099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75" b="0">
                <a:solidFill>
                  <a:srgbClr val="203E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203E3A"/>
                </a:solidFill>
                <a:latin typeface="Microsoft JhengHei"/>
                <a:ea typeface="Microsoft JhengHei"/>
                <a:cs typeface="Microsoft JhengHei"/>
              </a:rPr>
              <a:t>P1  建立孩子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9EFCAE-D716-4F47-93DD-F4A375765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000250"/>
            <a:ext cx="3267075" cy="1419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DE8DB"/>
            </a:solidFill>
          </a:ln>
        </p:spPr>
      </p:sp>
      <p:sp>
        <p:nvSpPr>
          <p:cNvPr id="12" name="demo-text-73">
            <a:extLst xmlns:a="http://schemas.openxmlformats.org/drawingml/2006/main">
              <a:ext uri="{FF2B5EF4-FFF2-40B4-BE49-F238E27FC236}">
                <a16:creationId xmlns:a16="http://schemas.microsoft.com/office/drawing/2014/main" id="{B67E0692-9842-4525-BBB4-CEAC80774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190750"/>
            <a:ext cx="904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3000" b="1">
                <a:solidFill>
                  <a:srgbClr val="28756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00" b="1">
                <a:solidFill>
                  <a:srgbClr val="287568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13" name="demo-text-74">
            <a:extLst xmlns:a="http://schemas.openxmlformats.org/drawingml/2006/main">
              <a:ext uri="{FF2B5EF4-FFF2-40B4-BE49-F238E27FC236}">
                <a16:creationId xmlns:a16="http://schemas.microsoft.com/office/drawing/2014/main" id="{D31B8C47-EE0F-4407-AADD-01C0F7D10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952750"/>
            <a:ext cx="27622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75" b="0">
                <a:solidFill>
                  <a:srgbClr val="60756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0756E"/>
                </a:solidFill>
                <a:latin typeface="Microsoft JhengHei"/>
                <a:ea typeface="Microsoft JhengHei"/>
                <a:cs typeface="Microsoft JhengHei"/>
              </a:rPr>
              <a:t>截圖預留位置</a:t>
            </a:r>
          </a:p>
        </p:txBody>
      </p:sp>
      <p:sp>
        <p:nvSpPr>
          <p:cNvPr id="14" name="demo-text-75">
            <a:extLst xmlns:a="http://schemas.openxmlformats.org/drawingml/2006/main">
              <a:ext uri="{FF2B5EF4-FFF2-40B4-BE49-F238E27FC236}">
                <a16:creationId xmlns:a16="http://schemas.microsoft.com/office/drawing/2014/main" id="{78AE2840-C34C-40AE-947F-F57A84B48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571875"/>
            <a:ext cx="34099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75" b="0">
                <a:solidFill>
                  <a:srgbClr val="203E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203E3A"/>
                </a:solidFill>
                <a:latin typeface="Microsoft JhengHei"/>
                <a:ea typeface="Microsoft JhengHei"/>
                <a:cs typeface="Microsoft JhengHei"/>
              </a:rPr>
              <a:t>P1  文字記錄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44D2DB0-374D-4B52-8D64-6592EE693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48150"/>
            <a:ext cx="3267075" cy="1419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DE8DB"/>
            </a:solidFill>
          </a:ln>
        </p:spPr>
      </p:sp>
      <p:sp>
        <p:nvSpPr>
          <p:cNvPr id="16" name="demo-text-76">
            <a:extLst xmlns:a="http://schemas.openxmlformats.org/drawingml/2006/main">
              <a:ext uri="{FF2B5EF4-FFF2-40B4-BE49-F238E27FC236}">
                <a16:creationId xmlns:a16="http://schemas.microsoft.com/office/drawing/2014/main" id="{5B72FF7E-2000-4ADA-AEB8-D3ADE47F3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38650"/>
            <a:ext cx="904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3000" b="1">
                <a:solidFill>
                  <a:srgbClr val="28756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00" b="1">
                <a:solidFill>
                  <a:srgbClr val="287568"/>
                </a:solidFill>
                <a:latin typeface="Microsoft JhengHei"/>
                <a:ea typeface="Microsoft JhengHei"/>
                <a:cs typeface="Microsoft JhengHei"/>
              </a:rPr>
              <a:t>04</a:t>
            </a:r>
          </a:p>
        </p:txBody>
      </p:sp>
      <p:sp>
        <p:nvSpPr>
          <p:cNvPr id="17" name="demo-text-77">
            <a:extLst xmlns:a="http://schemas.openxmlformats.org/drawingml/2006/main">
              <a:ext uri="{FF2B5EF4-FFF2-40B4-BE49-F238E27FC236}">
                <a16:creationId xmlns:a16="http://schemas.microsoft.com/office/drawing/2014/main" id="{CDAE201D-B0C0-4EA7-89D9-A664655AE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200650"/>
            <a:ext cx="27622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75" b="0">
                <a:solidFill>
                  <a:srgbClr val="60756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0756E"/>
                </a:solidFill>
                <a:latin typeface="Microsoft JhengHei"/>
                <a:ea typeface="Microsoft JhengHei"/>
                <a:cs typeface="Microsoft JhengHei"/>
              </a:rPr>
              <a:t>截圖預留位置</a:t>
            </a:r>
          </a:p>
        </p:txBody>
      </p:sp>
      <p:sp>
        <p:nvSpPr>
          <p:cNvPr id="18" name="demo-text-78">
            <a:extLst xmlns:a="http://schemas.openxmlformats.org/drawingml/2006/main">
              <a:ext uri="{FF2B5EF4-FFF2-40B4-BE49-F238E27FC236}">
                <a16:creationId xmlns:a16="http://schemas.microsoft.com/office/drawing/2014/main" id="{58F10AB6-0BF7-47AF-A5BA-10A4871FF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19775"/>
            <a:ext cx="34099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75" b="0">
                <a:solidFill>
                  <a:srgbClr val="203E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203E3A"/>
                </a:solidFill>
                <a:latin typeface="Microsoft JhengHei"/>
                <a:ea typeface="Microsoft JhengHei"/>
                <a:cs typeface="Microsoft JhengHei"/>
              </a:rPr>
              <a:t>P1  原始聊天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B90BC44-C0E9-4DE8-83AD-9E0B0646B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4248150"/>
            <a:ext cx="3267075" cy="1419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DE8DB"/>
            </a:solidFill>
          </a:ln>
        </p:spPr>
      </p:sp>
      <p:sp>
        <p:nvSpPr>
          <p:cNvPr id="20" name="demo-text-79">
            <a:extLst xmlns:a="http://schemas.openxmlformats.org/drawingml/2006/main">
              <a:ext uri="{FF2B5EF4-FFF2-40B4-BE49-F238E27FC236}">
                <a16:creationId xmlns:a16="http://schemas.microsoft.com/office/drawing/2014/main" id="{F18BA452-F95C-4373-982D-A3C4E53FA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4438650"/>
            <a:ext cx="904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3000" b="1">
                <a:solidFill>
                  <a:srgbClr val="28756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00" b="1">
                <a:solidFill>
                  <a:srgbClr val="287568"/>
                </a:solidFill>
                <a:latin typeface="Microsoft JhengHei"/>
                <a:ea typeface="Microsoft JhengHei"/>
                <a:cs typeface="Microsoft JhengHei"/>
              </a:rPr>
              <a:t>05</a:t>
            </a:r>
          </a:p>
        </p:txBody>
      </p:sp>
      <p:sp>
        <p:nvSpPr>
          <p:cNvPr id="21" name="demo-text-80">
            <a:extLst xmlns:a="http://schemas.openxmlformats.org/drawingml/2006/main">
              <a:ext uri="{FF2B5EF4-FFF2-40B4-BE49-F238E27FC236}">
                <a16:creationId xmlns:a16="http://schemas.microsoft.com/office/drawing/2014/main" id="{33BE2781-B0A7-470A-BA2E-FAEAD8D75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5200650"/>
            <a:ext cx="27622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75" b="0">
                <a:solidFill>
                  <a:srgbClr val="60756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0756E"/>
                </a:solidFill>
                <a:latin typeface="Microsoft JhengHei"/>
                <a:ea typeface="Microsoft JhengHei"/>
                <a:cs typeface="Microsoft JhengHei"/>
              </a:rPr>
              <a:t>截圖預留位置</a:t>
            </a:r>
          </a:p>
        </p:txBody>
      </p:sp>
      <p:sp>
        <p:nvSpPr>
          <p:cNvPr id="22" name="demo-text-81">
            <a:extLst xmlns:a="http://schemas.openxmlformats.org/drawingml/2006/main">
              <a:ext uri="{FF2B5EF4-FFF2-40B4-BE49-F238E27FC236}">
                <a16:creationId xmlns:a16="http://schemas.microsoft.com/office/drawing/2014/main" id="{587C6E4E-E381-4A2E-8545-3E285206E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5819775"/>
            <a:ext cx="34099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75" b="0">
                <a:solidFill>
                  <a:srgbClr val="203E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203E3A"/>
                </a:solidFill>
                <a:latin typeface="Microsoft JhengHei"/>
                <a:ea typeface="Microsoft JhengHei"/>
                <a:cs typeface="Microsoft JhengHei"/>
              </a:rPr>
              <a:t>P1  重開後核對保存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D509680-2309-4289-8DCF-E8A8882F2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248150"/>
            <a:ext cx="3267075" cy="1419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DE8DB"/>
            </a:solidFill>
          </a:ln>
        </p:spPr>
      </p:sp>
      <p:sp>
        <p:nvSpPr>
          <p:cNvPr id="24" name="demo-text-82">
            <a:extLst xmlns:a="http://schemas.openxmlformats.org/drawingml/2006/main">
              <a:ext uri="{FF2B5EF4-FFF2-40B4-BE49-F238E27FC236}">
                <a16:creationId xmlns:a16="http://schemas.microsoft.com/office/drawing/2014/main" id="{76438C3D-7723-4D3E-8CA3-CA5A3C0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438650"/>
            <a:ext cx="904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3000" b="1">
                <a:solidFill>
                  <a:srgbClr val="28756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00" b="1">
                <a:solidFill>
                  <a:srgbClr val="287568"/>
                </a:solidFill>
                <a:latin typeface="Microsoft JhengHei"/>
                <a:ea typeface="Microsoft JhengHei"/>
                <a:cs typeface="Microsoft JhengHei"/>
              </a:rPr>
              <a:t>06</a:t>
            </a:r>
          </a:p>
        </p:txBody>
      </p:sp>
      <p:sp>
        <p:nvSpPr>
          <p:cNvPr id="25" name="demo-text-83">
            <a:extLst xmlns:a="http://schemas.openxmlformats.org/drawingml/2006/main">
              <a:ext uri="{FF2B5EF4-FFF2-40B4-BE49-F238E27FC236}">
                <a16:creationId xmlns:a16="http://schemas.microsoft.com/office/drawing/2014/main" id="{0199C0A6-E1E1-4A13-9877-7E12540BB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5200650"/>
            <a:ext cx="27622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75" b="0">
                <a:solidFill>
                  <a:srgbClr val="60756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60756E"/>
                </a:solidFill>
                <a:latin typeface="Microsoft JhengHei"/>
                <a:ea typeface="Microsoft JhengHei"/>
                <a:cs typeface="Microsoft JhengHei"/>
              </a:rPr>
              <a:t>截圖預留位置</a:t>
            </a:r>
          </a:p>
        </p:txBody>
      </p:sp>
      <p:sp>
        <p:nvSpPr>
          <p:cNvPr id="26" name="demo-text-84">
            <a:extLst xmlns:a="http://schemas.openxmlformats.org/drawingml/2006/main">
              <a:ext uri="{FF2B5EF4-FFF2-40B4-BE49-F238E27FC236}">
                <a16:creationId xmlns:a16="http://schemas.microsoft.com/office/drawing/2014/main" id="{8FEBA7B0-0E69-4683-8F6A-E4E3C9762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5819775"/>
            <a:ext cx="34099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75" b="0">
                <a:solidFill>
                  <a:srgbClr val="203E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203E3A"/>
                </a:solidFill>
                <a:latin typeface="Microsoft JhengHei"/>
                <a:ea typeface="Microsoft JhengHei"/>
                <a:cs typeface="Microsoft JhengHei"/>
              </a:rPr>
              <a:t>P2  主動 Agent</a:t>
            </a:r>
          </a:p>
        </p:txBody>
      </p:sp>
    </p:spTree>
    <p:extLst>
      <p:ext uri="{BB962C8B-B14F-4D97-AF65-F5344CB8AC3E}">
        <p14:creationId xmlns:p14="http://schemas.microsoft.com/office/powerpoint/2010/main" val="423688843"/>
      </p:ext>
    </p:extLst>
  </p:cSld>
</p:sld>
</file>

<file path=ppt/slides/slide12.xml><?xml version="1.0" encoding="utf-8"?>
<p:sld xmlns:a="http://schemas.openxmlformats.org/drawingml/2006/main" xmlns:asvg="http://schemas.microsoft.com/office/drawing/2016/SVG/main" xmlns:ns2="http://schemas.microsoft.com/office/drawing/2014/main" xmlns:ns5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AF7E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5" name="growth-text-85">
            <a:extLst>
              <a:ext uri="{FF2B5EF4-FFF2-40B4-BE49-F238E27FC236}">
                <ns2:creationId id="{98410C43-5E27-4D40-A691-2194B8014DB3}"/>
              </a:ext>
            </a:extLst>
          </p:cNvPr>
          <p:cNvSpPr>
            <a:spLocks noGrp="1"/>
          </p:cNvSpPr>
          <p:nvPr/>
        </p:nvSpPr>
        <p:spPr>
          <a:xfrm>
            <a:off x="685800" y="466725"/>
            <a:ext cx="108204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3300" b="1">
                <a:solidFill>
                  <a:srgbClr val="203E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203E3A"/>
                </a:solidFill>
                <a:latin typeface="Microsoft JhengHei"/>
                <a:ea typeface="Microsoft JhengHei"/>
                <a:cs typeface="Microsoft JhengHei"/>
              </a:rPr>
              <a:t>逐步完善能力，維持清楚的領域邊界</a:t>
            </a:r>
          </a:p>
        </p:txBody>
      </p:sp>
      <p:sp>
        <p:nvSpPr>
          <p:cNvPr id="2" name="growth-text-86">
            <a:extLst>
              <a:ext uri="{FF2B5EF4-FFF2-40B4-BE49-F238E27FC236}">
                <ns2:creationId id="{3004921A-BE5B-4A4C-889E-DD5344A8A7A7}"/>
              </a:ext>
            </a:extLst>
          </p:cNvPr>
          <p:cNvSpPr>
            <a:spLocks noGrp="1"/>
          </p:cNvSpPr>
          <p:nvPr/>
        </p:nvSpPr>
        <p:spPr>
          <a:xfrm>
            <a:off x="8239125" y="1076325"/>
            <a:ext cx="32385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8000"/>
              </a:lnSpc>
              <a:buNone/>
              <a:defRPr sz="1350" b="0">
                <a:solidFill>
                  <a:srgbClr val="60756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60756E"/>
                </a:solidFill>
                <a:latin typeface="Microsoft JhengHei"/>
                <a:ea typeface="Microsoft JhengHei"/>
                <a:cs typeface="Microsoft JhengHei"/>
              </a:rPr>
              <a:t>P2–P4 分階段規劃</a:t>
            </a:r>
          </a:p>
        </p:txBody>
      </p:sp>
      <p:sp>
        <p:nvSpPr>
          <p:cNvPr id="3" name="">
            <a:extLst>
              <a:ext uri="{FF2B5EF4-FFF2-40B4-BE49-F238E27FC236}">
                <ns2:creationId id="{ACE86955-DDD8-41B6-A71B-AAE6E3B01EFC}"/>
              </a:ext>
            </a:extLst>
          </p:cNvPr>
          <p:cNvSpPr>
            <a:spLocks noGrp="1"/>
          </p:cNvSpPr>
          <p:nvPr/>
        </p:nvSpPr>
        <p:spPr>
          <a:xfrm>
            <a:off x="723900" y="2057400"/>
            <a:ext cx="2286000" cy="28575"/>
          </a:xfrm>
          <a:prstGeom prst="rect">
            <a:avLst/>
          </a:prstGeom>
          <a:solidFill>
            <a:srgbClr val="287568"/>
          </a:solidFill>
          <a:ln w="0">
            <a:noFill/>
          </a:ln>
        </p:spPr>
      </p:sp>
      <p:sp>
        <p:nvSpPr>
          <p:cNvPr id="4" name="growth-text-87">
            <a:extLst>
              <a:ext uri="{FF2B5EF4-FFF2-40B4-BE49-F238E27FC236}">
                <ns2:creationId id="{542E6A5F-966A-403A-9E0F-293D87309117}"/>
              </a:ext>
            </a:extLst>
          </p:cNvPr>
          <p:cNvSpPr>
            <a:spLocks noGrp="1"/>
          </p:cNvSpPr>
          <p:nvPr/>
        </p:nvSpPr>
        <p:spPr>
          <a:xfrm>
            <a:off x="723900" y="2352675"/>
            <a:ext cx="2543175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2550" b="1">
                <a:solidFill>
                  <a:srgbClr val="203E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203E3A"/>
                </a:solidFill>
                <a:latin typeface="Microsoft JhengHei"/>
                <a:ea typeface="Microsoft JhengHei"/>
                <a:cs typeface="Microsoft JhengHei"/>
              </a:rPr>
              <a:t>長期記憶</a:t>
            </a:r>
          </a:p>
        </p:txBody>
      </p:sp>
      <p:sp>
        <p:nvSpPr>
          <p:cNvPr id="5" name="">
            <a:extLst>
              <a:ext uri="{FF2B5EF4-FFF2-40B4-BE49-F238E27FC236}">
                <ns2:creationId id="{5BEF7BFA-F35D-4D04-94B4-E2E9C7A81D5B}"/>
              </a:ext>
            </a:extLst>
          </p:cNvPr>
          <p:cNvSpPr>
            <a:spLocks noGrp="1"/>
          </p:cNvSpPr>
          <p:nvPr/>
        </p:nvSpPr>
        <p:spPr>
          <a:xfrm>
            <a:off x="3486150" y="2057400"/>
            <a:ext cx="2286000" cy="28575"/>
          </a:xfrm>
          <a:prstGeom prst="rect">
            <a:avLst/>
          </a:prstGeom>
          <a:solidFill>
            <a:srgbClr val="287568"/>
          </a:solidFill>
          <a:ln w="0">
            <a:noFill/>
          </a:ln>
        </p:spPr>
      </p:sp>
      <p:sp>
        <p:nvSpPr>
          <p:cNvPr id="6" name="growth-text-88">
            <a:extLst>
              <a:ext uri="{FF2B5EF4-FFF2-40B4-BE49-F238E27FC236}">
                <ns2:creationId id="{22E7465C-A620-4C06-B919-C9E45ECE2474}"/>
              </a:ext>
            </a:extLst>
          </p:cNvPr>
          <p:cNvSpPr>
            <a:spLocks noGrp="1"/>
          </p:cNvSpPr>
          <p:nvPr/>
        </p:nvSpPr>
        <p:spPr>
          <a:xfrm>
            <a:off x="3486150" y="2352675"/>
            <a:ext cx="2543175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2550" b="1">
                <a:solidFill>
                  <a:srgbClr val="203E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203E3A"/>
                </a:solidFill>
                <a:latin typeface="Microsoft JhengHei"/>
                <a:ea typeface="Microsoft JhengHei"/>
                <a:cs typeface="Microsoft JhengHei"/>
              </a:rPr>
              <a:t>任務與工具</a:t>
            </a:r>
          </a:p>
        </p:txBody>
      </p:sp>
      <p:sp>
        <p:nvSpPr>
          <p:cNvPr id="7" name="">
            <a:extLst>
              <a:ext uri="{FF2B5EF4-FFF2-40B4-BE49-F238E27FC236}">
                <ns2:creationId id="{60DA4854-AD11-446A-81DC-CA1600B2FF6A}"/>
              </a:ext>
            </a:extLst>
          </p:cNvPr>
          <p:cNvSpPr>
            <a:spLocks noGrp="1"/>
          </p:cNvSpPr>
          <p:nvPr/>
        </p:nvSpPr>
        <p:spPr>
          <a:xfrm>
            <a:off x="6248400" y="2057400"/>
            <a:ext cx="2286000" cy="28575"/>
          </a:xfrm>
          <a:prstGeom prst="rect">
            <a:avLst/>
          </a:prstGeom>
          <a:solidFill>
            <a:srgbClr val="287568"/>
          </a:solidFill>
          <a:ln w="0">
            <a:noFill/>
          </a:ln>
        </p:spPr>
      </p:sp>
      <p:sp>
        <p:nvSpPr>
          <p:cNvPr id="8" name="growth-text-89">
            <a:extLst>
              <a:ext uri="{FF2B5EF4-FFF2-40B4-BE49-F238E27FC236}">
                <ns2:creationId id="{358A72F0-F1E3-40C6-8DE0-6980102D4C80}"/>
              </a:ext>
            </a:extLst>
          </p:cNvPr>
          <p:cNvSpPr>
            <a:spLocks noGrp="1"/>
          </p:cNvSpPr>
          <p:nvPr/>
        </p:nvSpPr>
        <p:spPr>
          <a:xfrm>
            <a:off x="6248400" y="2352675"/>
            <a:ext cx="2543175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2550" b="1">
                <a:solidFill>
                  <a:srgbClr val="203E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203E3A"/>
                </a:solidFill>
                <a:latin typeface="Microsoft JhengHei"/>
                <a:ea typeface="Microsoft JhengHei"/>
                <a:cs typeface="Microsoft JhengHei"/>
              </a:rPr>
              <a:t>知識來源</a:t>
            </a:r>
          </a:p>
        </p:txBody>
      </p:sp>
      <p:sp>
        <p:nvSpPr>
          <p:cNvPr id="9" name="">
            <a:extLst>
              <a:ext uri="{FF2B5EF4-FFF2-40B4-BE49-F238E27FC236}">
                <ns2:creationId id="{D85FE313-6E9A-4047-9E6E-63C6847A68E1}"/>
              </a:ext>
            </a:extLst>
          </p:cNvPr>
          <p:cNvSpPr>
            <a:spLocks noGrp="1"/>
          </p:cNvSpPr>
          <p:nvPr/>
        </p:nvSpPr>
        <p:spPr>
          <a:xfrm>
            <a:off x="9010650" y="2057400"/>
            <a:ext cx="2286000" cy="28575"/>
          </a:xfrm>
          <a:prstGeom prst="rect">
            <a:avLst/>
          </a:prstGeom>
          <a:solidFill>
            <a:srgbClr val="287568"/>
          </a:solidFill>
          <a:ln w="0">
            <a:noFill/>
          </a:ln>
        </p:spPr>
      </p:sp>
      <p:sp>
        <p:nvSpPr>
          <p:cNvPr id="10" name="growth-text-90">
            <a:extLst>
              <a:ext uri="{FF2B5EF4-FFF2-40B4-BE49-F238E27FC236}">
                <ns2:creationId id="{38A5B848-BA8C-48C1-A508-50DA235A14E4}"/>
              </a:ext>
            </a:extLst>
          </p:cNvPr>
          <p:cNvSpPr>
            <a:spLocks noGrp="1"/>
          </p:cNvSpPr>
          <p:nvPr/>
        </p:nvSpPr>
        <p:spPr>
          <a:xfrm>
            <a:off x="9010650" y="2352675"/>
            <a:ext cx="2543175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2550" b="1">
                <a:solidFill>
                  <a:srgbClr val="203E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203E3A"/>
                </a:solidFill>
                <a:latin typeface="Microsoft JhengHei"/>
                <a:ea typeface="Microsoft JhengHei"/>
                <a:cs typeface="Microsoft JhengHei"/>
              </a:rPr>
              <a:t>授權通知</a:t>
            </a:r>
          </a:p>
        </p:txBody>
      </p:sp>
      <p:sp>
        <p:nvSpPr>
          <p:cNvPr id="11" name="growth-text-91">
            <a:extLst>
              <a:ext uri="{FF2B5EF4-FFF2-40B4-BE49-F238E27FC236}">
                <ns2:creationId id="{C4624941-FFE8-44C9-AF3B-AF7EA6C460B8}"/>
              </a:ext>
            </a:extLst>
          </p:cNvPr>
          <p:cNvSpPr>
            <a:spLocks noGrp="1"/>
          </p:cNvSpPr>
          <p:nvPr/>
        </p:nvSpPr>
        <p:spPr>
          <a:xfrm>
            <a:off x="723900" y="3781425"/>
            <a:ext cx="78867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2850" b="1">
                <a:solidFill>
                  <a:srgbClr val="203E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850" b="1">
                <a:solidFill>
                  <a:srgbClr val="203E3A"/>
                </a:solidFill>
                <a:latin typeface="Microsoft JhengHei"/>
                <a:ea typeface="Microsoft JhengHei"/>
                <a:cs typeface="Microsoft JhengHei"/>
              </a:rPr>
              <a:t>現在只實作 childcare-hk</a:t>
            </a:r>
          </a:p>
        </p:txBody>
      </p:sp>
      <p:sp>
        <p:nvSpPr>
          <p:cNvPr id="12" name="growth-text-92">
            <a:extLst>
              <a:ext uri="{FF2B5EF4-FFF2-40B4-BE49-F238E27FC236}">
                <ns2:creationId id="{821F287C-7C7E-426E-A6B0-7CE660C11402}"/>
              </a:ext>
            </a:extLst>
          </p:cNvPr>
          <p:cNvSpPr>
            <a:spLocks noGrp="1"/>
          </p:cNvSpPr>
          <p:nvPr/>
        </p:nvSpPr>
        <p:spPr>
          <a:xfrm>
            <a:off x="733425" y="4657725"/>
            <a:ext cx="8048625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2025" b="0">
                <a:solidFill>
                  <a:srgbClr val="203E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203E3A"/>
                </a:solidFill>
                <a:latin typeface="Microsoft JhengHei"/>
                <a:ea typeface="Microsoft JhengHei"/>
                <a:cs typeface="Microsoft JhengHei"/>
              </a:rPr>
              <a:t>育兒知識、prompt 及領域規則分開維護，</a:t>
            </a:r>
          </a:p>
          <a:p>
            <a:pPr algn="l">
              <a:lnSpc>
                <a:spcPct val="118000"/>
              </a:lnSpc>
              <a:buNone/>
              <a:defRPr sz="2025" b="0">
                <a:solidFill>
                  <a:srgbClr val="203E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203E3A"/>
                </a:solidFill>
                <a:latin typeface="Microsoft JhengHei"/>
                <a:ea typeface="Microsoft JhengHei"/>
                <a:cs typeface="Microsoft JhengHei"/>
              </a:rPr>
              <a:t>按實際流程建立必要邊界。</a:t>
            </a:r>
          </a:p>
        </p:txBody>
      </p:sp>
      <p:sp>
        <p:nvSpPr>
          <p:cNvPr id="13" name="growth-text-93">
            <a:extLst>
              <a:ext uri="{FF2B5EF4-FFF2-40B4-BE49-F238E27FC236}">
                <ns2:creationId id="{83DE1026-AA4C-4EA6-81DA-8C04BE34B930}"/>
              </a:ext>
            </a:extLst>
          </p:cNvPr>
          <p:cNvSpPr>
            <a:spLocks noGrp="1"/>
          </p:cNvSpPr>
          <p:nvPr/>
        </p:nvSpPr>
        <p:spPr>
          <a:xfrm>
            <a:off x="733425" y="5962650"/>
            <a:ext cx="9210675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1725" b="0">
                <a:solidFill>
                  <a:srgbClr val="60756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60756E"/>
                </a:solidFill>
                <a:latin typeface="Microsoft JhengHei"/>
                <a:ea typeface="Microsoft JhengHei"/>
                <a:cs typeface="Microsoft JhengHei"/>
              </a:rPr>
              <a:t>不預建通用插件平台或第二個領域。</a:t>
            </a:r>
          </a:p>
        </p:txBody>
      </p:sp>
      <p:pic>
        <p:nvPicPr>
          <p:cNvPr id="28" name=""/>
          <p:cNvPicPr>
            <a:picLocks noChangeAspect="1"/>
          </p:cNvPicPr>
          <p:nvPr/>
        </p:nvPicPr>
        <p:blipFill>
          <a:blip r:embed="R1fd64f5372d54b49">
            <a:extLst>
              <a:ext uri="{96DAC541-7B7A-43D3-8B79-37D633B846F1}">
                <asvg:svgBlip r:embed="rIdVector1"/>
              </a:ext>
            </a:extLst>
          </a:blip>
          <a:stretch/>
        </p:blipFill>
        <p:spPr>
          <a:xfrm>
            <a:off x="8896350" y="3495675"/>
            <a:ext cx="2819400" cy="2114550"/>
          </a:xfrm>
          <a:prstGeom prst="rect">
            <a:avLst/>
          </a:prstGeom>
        </p:spPr>
      </p:pic>
    </p:spTree>
    <p:extLst>
      <p:ext uri="{BB962C8B-B14F-4D97-AF65-F5344CB8AC3E}">
        <ns5:creationId val="289557362"/>
      </p:ext>
    </p:extLst>
  </p:cSld>
</p:sld>
</file>

<file path=ppt/slides/slide13.xml><?xml version="1.0" encoding="utf-8"?>
<p:sld xmlns:a="http://schemas.openxmlformats.org/drawingml/2006/main" xmlns:asvg="http://schemas.microsoft.com/office/drawing/2016/SVG/main" xmlns:ns4="http://schemas.microsoft.com/office/drawing/2014/main" xmlns:ns5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AF7EF"/>
        </a:solidFill>
      </p:bgPr>
    </p:bg>
    <p:spTree>
      <p:nvGrpSpPr>
        <p:cNvPr id="1" name=""/>
        <p:cNvGrpSpPr/>
        <p:nvPr/>
      </p:nvGrpSpPr>
      <p:grpSpPr>
        <a:xfrm/>
      </p:grpSpPr>
      <p:pic>
        <p:nvPicPr>
          <p:cNvPr id="7" name=""/>
          <p:cNvPicPr>
            <a:picLocks noChangeAspect="1"/>
          </p:cNvPicPr>
          <p:nvPr/>
        </p:nvPicPr>
        <p:blipFill>
          <a:blip r:embed="R891c146738414494">
            <a:extLst>
              <a:ext uri="{96DAC541-7B7A-43D3-8B79-37D633B846F1}">
                <asvg:svgBlip r:embed="rIdVector1"/>
              </a:ext>
            </a:extLst>
          </a:blip>
          <a:stretch/>
        </p:blipFill>
        <p:spPr>
          <a:xfrm>
            <a:off x="704850" y="866775"/>
            <a:ext cx="914400" cy="914400"/>
          </a:xfrm>
          <a:prstGeom prst="rect">
            <a:avLst/>
          </a:prstGeom>
        </p:spPr>
      </p:pic>
      <p:sp>
        <p:nvSpPr>
          <p:cNvPr id="2" name="closing-text-94">
            <a:extLst>
              <a:ext uri="{FF2B5EF4-FFF2-40B4-BE49-F238E27FC236}">
                <ns4:creationId id="{0327CB50-2E16-4036-90C1-56CC53E09F36}"/>
              </a:ext>
            </a:extLst>
          </p:cNvPr>
          <p:cNvSpPr>
            <a:spLocks noGrp="1"/>
          </p:cNvSpPr>
          <p:nvPr/>
        </p:nvSpPr>
        <p:spPr>
          <a:xfrm>
            <a:off x="1905000" y="1076325"/>
            <a:ext cx="41910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3750" b="1">
                <a:solidFill>
                  <a:srgbClr val="203E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750" b="1">
                <a:solidFill>
                  <a:srgbClr val="203E3A"/>
                </a:solidFill>
                <a:latin typeface="Microsoft JhengHei"/>
                <a:ea typeface="Microsoft JhengHei"/>
                <a:cs typeface="Microsoft JhengHei"/>
              </a:rPr>
              <a:t>育有方</a:t>
            </a:r>
          </a:p>
        </p:txBody>
      </p:sp>
      <p:sp>
        <p:nvSpPr>
          <p:cNvPr id="3" name="closing-text-95">
            <a:extLst>
              <a:ext uri="{FF2B5EF4-FFF2-40B4-BE49-F238E27FC236}">
                <ns4:creationId id="{8518768C-5148-451A-AD91-0ACAB37AE0CD}"/>
              </a:ext>
            </a:extLst>
          </p:cNvPr>
          <p:cNvSpPr>
            <a:spLocks noGrp="1"/>
          </p:cNvSpPr>
          <p:nvPr/>
        </p:nvSpPr>
        <p:spPr>
          <a:xfrm>
            <a:off x="714375" y="2505075"/>
            <a:ext cx="10763250" cy="1476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3300" b="1">
                <a:solidFill>
                  <a:srgbClr val="203E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203E3A"/>
                </a:solidFill>
                <a:latin typeface="Microsoft JhengHei"/>
                <a:ea typeface="Microsoft JhengHei"/>
                <a:cs typeface="Microsoft JhengHei"/>
              </a:rPr>
              <a:t>在家長還不知道要問甚麼之前，</a:t>
            </a:r>
          </a:p>
          <a:p>
            <a:pPr algn="l">
              <a:lnSpc>
                <a:spcPct val="118000"/>
              </a:lnSpc>
              <a:buNone/>
              <a:defRPr sz="3300" b="1">
                <a:solidFill>
                  <a:srgbClr val="203E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203E3A"/>
                </a:solidFill>
                <a:latin typeface="Microsoft JhengHei"/>
                <a:ea typeface="Microsoft JhengHei"/>
                <a:cs typeface="Microsoft JhengHei"/>
              </a:rPr>
              <a:t>一起發現下一件值得處理的事。</a:t>
            </a:r>
          </a:p>
        </p:txBody>
      </p:sp>
      <p:sp>
        <p:nvSpPr>
          <p:cNvPr id="4" name="closing-text-96">
            <a:extLst>
              <a:ext uri="{FF2B5EF4-FFF2-40B4-BE49-F238E27FC236}">
                <ns4:creationId id="{0D9A2A8C-0C0D-43CA-89A4-1D0094AED1E4}"/>
              </a:ext>
            </a:extLst>
          </p:cNvPr>
          <p:cNvSpPr>
            <a:spLocks noGrp="1"/>
          </p:cNvSpPr>
          <p:nvPr/>
        </p:nvSpPr>
        <p:spPr>
          <a:xfrm>
            <a:off x="742950" y="4591050"/>
            <a:ext cx="638175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2175" b="0">
                <a:solidFill>
                  <a:srgbClr val="28756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0">
                <a:solidFill>
                  <a:srgbClr val="287568"/>
                </a:solidFill>
                <a:latin typeface="Microsoft JhengHei"/>
                <a:ea typeface="Microsoft JhengHei"/>
                <a:cs typeface="Microsoft JhengHei"/>
              </a:rPr>
              <a:t>值得記 · 值得問 · 值得跟進</a:t>
            </a:r>
          </a:p>
        </p:txBody>
      </p:sp>
      <p:sp>
        <p:nvSpPr>
          <p:cNvPr id="5" name="closing-text-97">
            <a:extLst>
              <a:ext uri="{FF2B5EF4-FFF2-40B4-BE49-F238E27FC236}">
                <ns4:creationId id="{336A220A-8EBC-4EDA-B525-CFEC45079DA2}"/>
              </a:ext>
            </a:extLst>
          </p:cNvPr>
          <p:cNvSpPr>
            <a:spLocks noGrp="1"/>
          </p:cNvSpPr>
          <p:nvPr/>
        </p:nvSpPr>
        <p:spPr>
          <a:xfrm>
            <a:off x="752475" y="5810250"/>
            <a:ext cx="8620125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1800" b="0">
                <a:solidFill>
                  <a:srgbClr val="60756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60756E"/>
                </a:solidFill>
                <a:latin typeface="Microsoft JhengHei"/>
                <a:ea typeface="Microsoft JhengHei"/>
                <a:cs typeface="Microsoft JhengHei"/>
              </a:rPr>
              <a:t>Demo 連結待提供</a:t>
            </a:r>
          </a:p>
        </p:txBody>
      </p:sp>
      <p:pic>
        <p:nvPicPr>
          <p:cNvPr id="12" name=""/>
          <p:cNvPicPr>
            <a:picLocks noChangeAspect="1"/>
          </p:cNvPicPr>
          <p:nvPr/>
        </p:nvPicPr>
        <p:blipFill>
          <a:blip r:embed="R3b962a4f01184f8d">
            <a:extLst>
              <a:ext uri="{96DAC541-7B7A-43D3-8B79-37D633B846F1}">
                <asvg:svgBlip r:embed="rIdVector2"/>
              </a:ext>
            </a:extLst>
          </a:blip>
          <a:stretch/>
        </p:blipFill>
        <p:spPr>
          <a:xfrm>
            <a:off x="8813800" y="4552950"/>
            <a:ext cx="2746375" cy="1647825"/>
          </a:xfrm>
          <a:prstGeom prst="rect">
            <a:avLst/>
          </a:prstGeom>
        </p:spPr>
      </p:pic>
    </p:spTree>
    <p:extLst>
      <p:ext uri="{BB962C8B-B14F-4D97-AF65-F5344CB8AC3E}">
        <ns5:creationId val="42616118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2026-10-01T14:29:30.4520000Z</dcterms:created>
  <dcterms:modified xsi:type="dcterms:W3CDTF">2026-10-01T14:29:30.4520000Z</dcterms:modified>
</coreProperties>
</file>